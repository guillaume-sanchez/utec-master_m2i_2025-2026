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660A4-442D-458D-B4A1-5F93022DB577}" v="1" dt="2026-03-30T07:24:26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IDA Jules" userId="d4d4b79e-ea28-4f3b-8c5f-aaddd6f5ce4b" providerId="ADAL" clId="{813E1588-0141-4CD0-9743-AE7720E08575}"/>
    <pc:docChg chg="custSel modSld">
      <pc:chgData name="LARIDA Jules" userId="d4d4b79e-ea28-4f3b-8c5f-aaddd6f5ce4b" providerId="ADAL" clId="{813E1588-0141-4CD0-9743-AE7720E08575}" dt="2026-03-30T07:25:27.049" v="73" actId="478"/>
      <pc:docMkLst>
        <pc:docMk/>
      </pc:docMkLst>
      <pc:sldChg chg="addSp delSp modSp mod">
        <pc:chgData name="LARIDA Jules" userId="d4d4b79e-ea28-4f3b-8c5f-aaddd6f5ce4b" providerId="ADAL" clId="{813E1588-0141-4CD0-9743-AE7720E08575}" dt="2026-03-30T07:25:27.049" v="73" actId="478"/>
        <pc:sldMkLst>
          <pc:docMk/>
          <pc:sldMk cId="0" sldId="256"/>
        </pc:sldMkLst>
        <pc:spChg chg="add mod">
          <ac:chgData name="LARIDA Jules" userId="d4d4b79e-ea28-4f3b-8c5f-aaddd6f5ce4b" providerId="ADAL" clId="{813E1588-0141-4CD0-9743-AE7720E08575}" dt="2026-03-30T07:25:16.228" v="72" actId="20577"/>
          <ac:spMkLst>
            <pc:docMk/>
            <pc:sldMk cId="0" sldId="256"/>
            <ac:spMk id="8" creationId="{6443FEDC-C9E1-F188-51B1-A0E45FF49BDC}"/>
          </ac:spMkLst>
        </pc:spChg>
        <pc:picChg chg="mod">
          <ac:chgData name="LARIDA Jules" userId="d4d4b79e-ea28-4f3b-8c5f-aaddd6f5ce4b" providerId="ADAL" clId="{813E1588-0141-4CD0-9743-AE7720E08575}" dt="2026-03-30T07:24:29.054" v="1" actId="1076"/>
          <ac:picMkLst>
            <pc:docMk/>
            <pc:sldMk cId="0" sldId="256"/>
            <ac:picMk id="2" creationId="{00000000-0000-0000-0000-000000000000}"/>
          </ac:picMkLst>
        </pc:picChg>
        <pc:picChg chg="del">
          <ac:chgData name="LARIDA Jules" userId="d4d4b79e-ea28-4f3b-8c5f-aaddd6f5ce4b" providerId="ADAL" clId="{813E1588-0141-4CD0-9743-AE7720E08575}" dt="2026-03-30T07:25:27.049" v="73" actId="478"/>
          <ac:picMkLst>
            <pc:docMk/>
            <pc:sldMk cId="0" sldId="256"/>
            <ac:picMk id="6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image" Target="../media/image33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11" Type="http://schemas.openxmlformats.org/officeDocument/2006/relationships/image" Target="../media/image93.png"/><Relationship Id="rId5" Type="http://schemas.openxmlformats.org/officeDocument/2006/relationships/image" Target="../media/image88.png"/><Relationship Id="rId10" Type="http://schemas.openxmlformats.org/officeDocument/2006/relationships/image" Target="../media/image92.png"/><Relationship Id="rId4" Type="http://schemas.openxmlformats.org/officeDocument/2006/relationships/image" Target="../media/image87.png"/><Relationship Id="rId9" Type="http://schemas.openxmlformats.org/officeDocument/2006/relationships/image" Target="../media/image8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7" Type="http://schemas.openxmlformats.org/officeDocument/2006/relationships/image" Target="../media/image131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144.png"/><Relationship Id="rId7" Type="http://schemas.openxmlformats.org/officeDocument/2006/relationships/image" Target="../media/image14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10" Type="http://schemas.openxmlformats.org/officeDocument/2006/relationships/image" Target="../media/image151.png"/><Relationship Id="rId4" Type="http://schemas.openxmlformats.org/officeDocument/2006/relationships/image" Target="../media/image145.png"/><Relationship Id="rId9" Type="http://schemas.openxmlformats.org/officeDocument/2006/relationships/image" Target="../media/image15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image" Target="../media/image162.png"/><Relationship Id="rId3" Type="http://schemas.openxmlformats.org/officeDocument/2006/relationships/image" Target="../media/image152.png"/><Relationship Id="rId7" Type="http://schemas.openxmlformats.org/officeDocument/2006/relationships/image" Target="../media/image156.png"/><Relationship Id="rId12" Type="http://schemas.openxmlformats.org/officeDocument/2006/relationships/image" Target="../media/image16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5.png"/><Relationship Id="rId11" Type="http://schemas.openxmlformats.org/officeDocument/2006/relationships/image" Target="../media/image160.png"/><Relationship Id="rId5" Type="http://schemas.openxmlformats.org/officeDocument/2006/relationships/image" Target="../media/image154.png"/><Relationship Id="rId10" Type="http://schemas.openxmlformats.org/officeDocument/2006/relationships/image" Target="../media/image159.png"/><Relationship Id="rId4" Type="http://schemas.openxmlformats.org/officeDocument/2006/relationships/image" Target="../media/image153.png"/><Relationship Id="rId9" Type="http://schemas.openxmlformats.org/officeDocument/2006/relationships/image" Target="../media/image15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image" Target="../media/image163.png"/><Relationship Id="rId7" Type="http://schemas.openxmlformats.org/officeDocument/2006/relationships/image" Target="../media/image16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6.png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3" Type="http://schemas.openxmlformats.org/officeDocument/2006/relationships/image" Target="../media/image169.png"/><Relationship Id="rId7" Type="http://schemas.openxmlformats.org/officeDocument/2006/relationships/image" Target="../media/image17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2.png"/><Relationship Id="rId11" Type="http://schemas.openxmlformats.org/officeDocument/2006/relationships/image" Target="../media/image177.png"/><Relationship Id="rId5" Type="http://schemas.openxmlformats.org/officeDocument/2006/relationships/image" Target="../media/image171.png"/><Relationship Id="rId10" Type="http://schemas.openxmlformats.org/officeDocument/2006/relationships/image" Target="../media/image176.png"/><Relationship Id="rId4" Type="http://schemas.openxmlformats.org/officeDocument/2006/relationships/image" Target="../media/image170.png"/><Relationship Id="rId9" Type="http://schemas.openxmlformats.org/officeDocument/2006/relationships/image" Target="../media/image17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13" Type="http://schemas.openxmlformats.org/officeDocument/2006/relationships/image" Target="../media/image188.png"/><Relationship Id="rId18" Type="http://schemas.openxmlformats.org/officeDocument/2006/relationships/image" Target="../media/image193.png"/><Relationship Id="rId3" Type="http://schemas.openxmlformats.org/officeDocument/2006/relationships/image" Target="../media/image178.png"/><Relationship Id="rId21" Type="http://schemas.openxmlformats.org/officeDocument/2006/relationships/image" Target="../media/image196.png"/><Relationship Id="rId7" Type="http://schemas.openxmlformats.org/officeDocument/2006/relationships/image" Target="../media/image182.png"/><Relationship Id="rId12" Type="http://schemas.openxmlformats.org/officeDocument/2006/relationships/image" Target="../media/image187.png"/><Relationship Id="rId17" Type="http://schemas.openxmlformats.org/officeDocument/2006/relationships/image" Target="../media/image192.png"/><Relationship Id="rId2" Type="http://schemas.openxmlformats.org/officeDocument/2006/relationships/image" Target="../media/image33.png"/><Relationship Id="rId16" Type="http://schemas.openxmlformats.org/officeDocument/2006/relationships/image" Target="../media/image191.png"/><Relationship Id="rId20" Type="http://schemas.openxmlformats.org/officeDocument/2006/relationships/image" Target="../media/image1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.png"/><Relationship Id="rId11" Type="http://schemas.openxmlformats.org/officeDocument/2006/relationships/image" Target="../media/image186.png"/><Relationship Id="rId5" Type="http://schemas.openxmlformats.org/officeDocument/2006/relationships/image" Target="../media/image180.png"/><Relationship Id="rId15" Type="http://schemas.openxmlformats.org/officeDocument/2006/relationships/image" Target="../media/image190.png"/><Relationship Id="rId10" Type="http://schemas.openxmlformats.org/officeDocument/2006/relationships/image" Target="../media/image185.png"/><Relationship Id="rId19" Type="http://schemas.openxmlformats.org/officeDocument/2006/relationships/image" Target="../media/image194.png"/><Relationship Id="rId4" Type="http://schemas.openxmlformats.org/officeDocument/2006/relationships/image" Target="../media/image179.png"/><Relationship Id="rId9" Type="http://schemas.openxmlformats.org/officeDocument/2006/relationships/image" Target="../media/image184.png"/><Relationship Id="rId14" Type="http://schemas.openxmlformats.org/officeDocument/2006/relationships/image" Target="../media/image18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3" Type="http://schemas.openxmlformats.org/officeDocument/2006/relationships/image" Target="../media/image197.png"/><Relationship Id="rId7" Type="http://schemas.openxmlformats.org/officeDocument/2006/relationships/image" Target="../media/image20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0.png"/><Relationship Id="rId5" Type="http://schemas.openxmlformats.org/officeDocument/2006/relationships/image" Target="../media/image199.png"/><Relationship Id="rId4" Type="http://schemas.openxmlformats.org/officeDocument/2006/relationships/image" Target="../media/image198.png"/><Relationship Id="rId9" Type="http://schemas.openxmlformats.org/officeDocument/2006/relationships/image" Target="../media/image20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e.kahoot.it/my-library/kahoots/3bd2f01e-c6c5-4543-96cb-3313d49e3f5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0_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7276" y="-285750"/>
            <a:ext cx="12192000" cy="7429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2319337"/>
            <a:ext cx="11544300" cy="1628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750" b="1" dirty="0">
                <a:solidFill>
                  <a:srgbClr val="FFFFFF"/>
                </a:solidFill>
                <a:latin typeface="Segoe UI"/>
              </a:rPr>
              <a:t>SMSI &amp;</a:t>
            </a:r>
          </a:p>
          <a:p>
            <a:pPr algn="l">
              <a:lnSpc>
                <a:spcPct val="90000"/>
              </a:lnSpc>
            </a:pPr>
            <a:r>
              <a:rPr sz="6750" b="1" dirty="0">
                <a:solidFill>
                  <a:srgbClr val="FFFFFF"/>
                </a:solidFill>
                <a:latin typeface="Segoe UI"/>
              </a:rPr>
              <a:t>ISO 27001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4176712"/>
            <a:ext cx="57721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800" i="1" dirty="0">
                <a:solidFill>
                  <a:srgbClr val="FFFFFF"/>
                </a:solidFill>
                <a:latin typeface="Georgia"/>
              </a:rPr>
              <a:t>Concepts du </a:t>
            </a:r>
            <a:r>
              <a:rPr sz="1800" i="1" dirty="0" err="1">
                <a:solidFill>
                  <a:srgbClr val="FFFFFF"/>
                </a:solidFill>
                <a:latin typeface="Georgia"/>
              </a:rPr>
              <a:t>système</a:t>
            </a:r>
            <a:r>
              <a:rPr sz="1800" i="1" dirty="0">
                <a:solidFill>
                  <a:srgbClr val="FFFFFF"/>
                </a:solidFill>
                <a:latin typeface="Georgia"/>
              </a:rPr>
              <a:t> de management, PDCA, </a:t>
            </a:r>
            <a:r>
              <a:rPr sz="1800" i="1" dirty="0" err="1">
                <a:solidFill>
                  <a:srgbClr val="FFFFFF"/>
                </a:solidFill>
                <a:latin typeface="Georgia"/>
              </a:rPr>
              <a:t>critères</a:t>
            </a:r>
            <a:r>
              <a:rPr sz="1800" i="1" dirty="0">
                <a:solidFill>
                  <a:srgbClr val="FFFFFF"/>
                </a:solidFill>
                <a:latin typeface="Georgia"/>
              </a:rPr>
              <a:t> DICP, ISO 27001/27002, </a:t>
            </a:r>
            <a:r>
              <a:rPr sz="1800" i="1" dirty="0" err="1">
                <a:solidFill>
                  <a:srgbClr val="FFFFFF"/>
                </a:solidFill>
                <a:latin typeface="Georgia"/>
              </a:rPr>
              <a:t>risques</a:t>
            </a:r>
            <a:r>
              <a:rPr sz="1800" i="1" dirty="0">
                <a:solidFill>
                  <a:srgbClr val="FFFFFF"/>
                </a:solidFill>
                <a:latin typeface="Georgia"/>
              </a:rPr>
              <a:t> &amp; audit</a:t>
            </a:r>
          </a:p>
        </p:txBody>
      </p:sp>
      <p:pic>
        <p:nvPicPr>
          <p:cNvPr id="5" name="Picture 4" descr="temp_slide_0_el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625" y="1809750"/>
            <a:ext cx="3619500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53550" y="5448300"/>
            <a:ext cx="18859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9000"/>
              </a:lnSpc>
            </a:pPr>
            <a:r>
              <a:rPr sz="1500" i="1">
                <a:solidFill>
                  <a:srgbClr val="FFFFFF"/>
                </a:solidFill>
                <a:latin typeface="Georgia"/>
              </a:rPr>
              <a:t>2026-02-25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443FEDC-C9E1-F188-51B1-A0E45FF49BDC}"/>
              </a:ext>
            </a:extLst>
          </p:cNvPr>
          <p:cNvSpPr txBox="1"/>
          <p:nvPr/>
        </p:nvSpPr>
        <p:spPr>
          <a:xfrm>
            <a:off x="666750" y="1495425"/>
            <a:ext cx="5772150" cy="722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lang="fr-FR" sz="1800" i="1" dirty="0">
                <a:solidFill>
                  <a:srgbClr val="FFFFFF"/>
                </a:solidFill>
                <a:latin typeface="Georgia"/>
              </a:rPr>
              <a:t>Avec MVAKANGA Anthony, WDOWIAK Mathis et LARIDA Jules </a:t>
            </a:r>
            <a:endParaRPr sz="1800" i="1" dirty="0">
              <a:solidFill>
                <a:srgbClr val="FFFFFF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44275" y="295275"/>
            <a:ext cx="5524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333"/>
              </a:lnSpc>
            </a:pPr>
            <a:r>
              <a:rPr sz="1800" b="1">
                <a:solidFill>
                  <a:srgbClr val="2C2C2C"/>
                </a:solidFill>
                <a:latin typeface="Segoe U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3000375"/>
            <a:ext cx="6096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5400" b="1" i="1">
                <a:solidFill>
                  <a:srgbClr val="2C2C2C"/>
                </a:solidFill>
                <a:latin typeface="Georgia"/>
              </a:rPr>
              <a:t>Sommaire</a:t>
            </a:r>
          </a:p>
        </p:txBody>
      </p:sp>
      <p:pic>
        <p:nvPicPr>
          <p:cNvPr id="4" name="Picture 3" descr="temp_icon_slide_0_e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775" y="1878806"/>
            <a:ext cx="323850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00600" y="1793081"/>
            <a:ext cx="2857500" cy="471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875"/>
              </a:lnSpc>
            </a:pPr>
            <a:r>
              <a:rPr sz="1350" b="1">
                <a:solidFill>
                  <a:srgbClr val="2C2C2C"/>
                </a:solidFill>
                <a:latin typeface="Segoe UI"/>
              </a:rPr>
              <a:t>Fondamentaux du système de management (ISO 9000)</a:t>
            </a:r>
          </a:p>
        </p:txBody>
      </p:sp>
      <p:pic>
        <p:nvPicPr>
          <p:cNvPr id="6" name="Picture 5" descr="temp_icon_slide_0_el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675" y="1878806"/>
            <a:ext cx="323850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0" y="1793081"/>
            <a:ext cx="2857500" cy="471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875"/>
              </a:lnSpc>
            </a:pPr>
            <a:r>
              <a:rPr sz="1350" b="1">
                <a:solidFill>
                  <a:srgbClr val="2C2C2C"/>
                </a:solidFill>
                <a:latin typeface="Segoe UI"/>
              </a:rPr>
              <a:t>Propriétés clés d’un système de management efficace</a:t>
            </a:r>
          </a:p>
        </p:txBody>
      </p:sp>
      <p:pic>
        <p:nvPicPr>
          <p:cNvPr id="8" name="Picture 7" descr="temp_icon_slide_0_el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725" y="2655093"/>
            <a:ext cx="36195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00600" y="2569368"/>
            <a:ext cx="2857500" cy="707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875"/>
              </a:lnSpc>
            </a:pPr>
            <a:r>
              <a:rPr sz="1350" b="1">
                <a:solidFill>
                  <a:srgbClr val="2C2C2C"/>
                </a:solidFill>
                <a:latin typeface="Segoe UI"/>
              </a:rPr>
              <a:t>Principes de management ISO 9000 (focus : leadership &amp; décisions factuelles)</a:t>
            </a:r>
          </a:p>
        </p:txBody>
      </p:sp>
      <p:pic>
        <p:nvPicPr>
          <p:cNvPr id="10" name="Picture 9" descr="temp_icon_slide_0_el_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655093"/>
            <a:ext cx="285750" cy="285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72500" y="2569368"/>
            <a:ext cx="2857500" cy="471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875"/>
              </a:lnSpc>
            </a:pPr>
            <a:r>
              <a:rPr sz="1350" b="1">
                <a:solidFill>
                  <a:srgbClr val="2C2C2C"/>
                </a:solidFill>
                <a:latin typeface="Segoe UI"/>
              </a:rPr>
              <a:t>Amélioration continue avec le PDCA (roue de Deming)</a:t>
            </a:r>
          </a:p>
        </p:txBody>
      </p:sp>
      <p:pic>
        <p:nvPicPr>
          <p:cNvPr id="12" name="Picture 11" descr="temp_icon_slide_0_el_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5775" y="3667125"/>
            <a:ext cx="323850" cy="285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00600" y="3581400"/>
            <a:ext cx="2857500" cy="471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875"/>
              </a:lnSpc>
            </a:pPr>
            <a:r>
              <a:rPr sz="1350" b="1">
                <a:solidFill>
                  <a:srgbClr val="2C2C2C"/>
                </a:solidFill>
                <a:latin typeface="Segoe UI"/>
              </a:rPr>
              <a:t>Périmètre du SMSI : l’information sous toutes ses formes</a:t>
            </a:r>
          </a:p>
        </p:txBody>
      </p:sp>
      <p:pic>
        <p:nvPicPr>
          <p:cNvPr id="14" name="Picture 13" descr="temp_icon_slide_0_el_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6725" y="3667125"/>
            <a:ext cx="285750" cy="2857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72500" y="3581400"/>
            <a:ext cx="5124450" cy="235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875"/>
              </a:lnSpc>
            </a:pPr>
            <a:r>
              <a:rPr sz="1350" b="1">
                <a:solidFill>
                  <a:srgbClr val="2C2C2C"/>
                </a:solidFill>
                <a:latin typeface="Segoe UI"/>
              </a:rPr>
              <a:t>Critères de sécurité : DICP/DICA</a:t>
            </a:r>
          </a:p>
        </p:txBody>
      </p:sp>
      <p:pic>
        <p:nvPicPr>
          <p:cNvPr id="16" name="Picture 15" descr="temp_icon_slide_0_el_1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8162" y="4443412"/>
            <a:ext cx="219075" cy="2857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00600" y="4357687"/>
            <a:ext cx="2857500" cy="471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875"/>
              </a:lnSpc>
            </a:pPr>
            <a:r>
              <a:rPr sz="1350" b="1">
                <a:solidFill>
                  <a:srgbClr val="2C2C2C"/>
                </a:solidFill>
                <a:latin typeface="Segoe UI"/>
              </a:rPr>
              <a:t>ISO 27001 vs ISO 27002 et certification</a:t>
            </a:r>
          </a:p>
        </p:txBody>
      </p:sp>
      <p:pic>
        <p:nvPicPr>
          <p:cNvPr id="18" name="Picture 17" descr="temp_icon_slide_0_el_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0062" y="4443412"/>
            <a:ext cx="219075" cy="2857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72500" y="4357687"/>
            <a:ext cx="2857500" cy="707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875"/>
              </a:lnSpc>
            </a:pPr>
            <a:r>
              <a:rPr sz="1350" b="1">
                <a:solidFill>
                  <a:srgbClr val="2C2C2C"/>
                </a:solidFill>
                <a:latin typeface="Segoe UI"/>
              </a:rPr>
              <a:t>Mise en œuvre : contexte, planification, risques, DdA/SoA, audit interne &amp; revue de direction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0_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-285750"/>
            <a:ext cx="6000750" cy="6286500"/>
          </a:xfrm>
          <a:prstGeom prst="rect">
            <a:avLst/>
          </a:prstGeom>
        </p:spPr>
      </p:pic>
      <p:pic>
        <p:nvPicPr>
          <p:cNvPr id="3" name="Picture 2" descr="temp_slide_0_el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125" y="95250"/>
            <a:ext cx="1800225" cy="895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391900" y="409575"/>
            <a:ext cx="457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 b="1">
                <a:solidFill>
                  <a:srgbClr val="333333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71500"/>
            <a:ext cx="857250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4500" b="1">
                <a:solidFill>
                  <a:srgbClr val="000000"/>
                </a:solidFill>
                <a:latin typeface="Segoe UI"/>
              </a:rPr>
              <a:t>Qu’est-ce qu’un </a:t>
            </a:r>
            <a:r>
              <a:rPr sz="4500" b="1" i="1">
                <a:solidFill>
                  <a:srgbClr val="2388FF"/>
                </a:solidFill>
                <a:latin typeface="Georgia"/>
              </a:rPr>
              <a:t>système de management</a:t>
            </a:r>
            <a:r>
              <a:rPr sz="4500" b="1">
                <a:solidFill>
                  <a:srgbClr val="000000"/>
                </a:solidFill>
                <a:latin typeface="Segoe UI"/>
              </a:rPr>
              <a:t> ?</a:t>
            </a:r>
          </a:p>
        </p:txBody>
      </p:sp>
      <p:pic>
        <p:nvPicPr>
          <p:cNvPr id="6" name="Picture 5" descr="temp_slide_0_el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390775"/>
            <a:ext cx="1333500" cy="1333500"/>
          </a:xfrm>
          <a:prstGeom prst="rect">
            <a:avLst/>
          </a:prstGeom>
        </p:spPr>
      </p:pic>
      <p:pic>
        <p:nvPicPr>
          <p:cNvPr id="7" name="Picture 6" descr="temp_icon_slide_0_el_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" y="2914650"/>
            <a:ext cx="247650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2638425"/>
            <a:ext cx="17868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333"/>
              </a:lnSpc>
            </a:pPr>
            <a:r>
              <a:rPr sz="1800" b="1" i="1">
                <a:solidFill>
                  <a:srgbClr val="2388FF"/>
                </a:solidFill>
                <a:latin typeface="Georgia"/>
              </a:rPr>
              <a:t>Définition (ISO 9000)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57525"/>
            <a:ext cx="8934450" cy="928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2250">
                <a:solidFill>
                  <a:srgbClr val="333333"/>
                </a:solidFill>
                <a:latin typeface="Segoe UI"/>
              </a:rPr>
              <a:t>Système permettant d’établir une </a:t>
            </a:r>
            <a:r>
              <a:rPr sz="2250" b="1">
                <a:solidFill>
                  <a:srgbClr val="000000"/>
                </a:solidFill>
                <a:latin typeface="Segoe UI"/>
              </a:rPr>
              <a:t>politique</a:t>
            </a:r>
            <a:r>
              <a:rPr sz="2250">
                <a:solidFill>
                  <a:srgbClr val="333333"/>
                </a:solidFill>
                <a:latin typeface="Segoe UI"/>
              </a:rPr>
              <a:t>, de fixer des </a:t>
            </a:r>
            <a:r>
              <a:rPr sz="2250" b="1">
                <a:solidFill>
                  <a:srgbClr val="000000"/>
                </a:solidFill>
                <a:latin typeface="Segoe UI"/>
              </a:rPr>
              <a:t>objectifs</a:t>
            </a:r>
            <a:r>
              <a:rPr sz="2250">
                <a:solidFill>
                  <a:srgbClr val="333333"/>
                </a:solidFill>
                <a:latin typeface="Segoe UI"/>
              </a:rPr>
              <a:t> et de définir les </a:t>
            </a:r>
            <a:r>
              <a:rPr sz="2250" b="1">
                <a:solidFill>
                  <a:srgbClr val="000000"/>
                </a:solidFill>
                <a:latin typeface="Segoe UI"/>
              </a:rPr>
              <a:t>processus</a:t>
            </a:r>
            <a:r>
              <a:rPr sz="2250">
                <a:solidFill>
                  <a:srgbClr val="333333"/>
                </a:solidFill>
                <a:latin typeface="Segoe UI"/>
              </a:rPr>
              <a:t> pour atteindre ces objectifs.</a:t>
            </a:r>
          </a:p>
        </p:txBody>
      </p:sp>
      <p:pic>
        <p:nvPicPr>
          <p:cNvPr id="10" name="Picture 9" descr="temp_slide_0_el_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4348162"/>
            <a:ext cx="10039350" cy="47625"/>
          </a:xfrm>
          <a:prstGeom prst="rect">
            <a:avLst/>
          </a:prstGeom>
        </p:spPr>
      </p:pic>
      <p:pic>
        <p:nvPicPr>
          <p:cNvPr id="11" name="Picture 10" descr="temp_slide_0_el_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510087"/>
            <a:ext cx="1333500" cy="1333500"/>
          </a:xfrm>
          <a:prstGeom prst="rect">
            <a:avLst/>
          </a:prstGeom>
        </p:spPr>
      </p:pic>
      <p:pic>
        <p:nvPicPr>
          <p:cNvPr id="12" name="Picture 11" descr="temp_icon_slide_0_el_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" y="5033962"/>
            <a:ext cx="361950" cy="285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0" y="4757737"/>
            <a:ext cx="17868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333"/>
              </a:lnSpc>
            </a:pPr>
            <a:r>
              <a:rPr sz="1800" b="1" i="1">
                <a:solidFill>
                  <a:srgbClr val="0FB981"/>
                </a:solidFill>
                <a:latin typeface="Georgia"/>
              </a:rPr>
              <a:t>Pas seulement technique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176837"/>
            <a:ext cx="8934450" cy="928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2250">
                <a:solidFill>
                  <a:srgbClr val="333333"/>
                </a:solidFill>
                <a:latin typeface="Segoe UI"/>
              </a:rPr>
              <a:t>Des </a:t>
            </a:r>
            <a:r>
              <a:rPr sz="2250" b="1">
                <a:solidFill>
                  <a:srgbClr val="000000"/>
                </a:solidFill>
                <a:latin typeface="Segoe UI"/>
              </a:rPr>
              <a:t>mesures organisationnelles</a:t>
            </a:r>
            <a:r>
              <a:rPr sz="2250">
                <a:solidFill>
                  <a:srgbClr val="333333"/>
                </a:solidFill>
                <a:latin typeface="Segoe UI"/>
              </a:rPr>
              <a:t> pour maintenir et améliorer les résultats.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0_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-285750"/>
            <a:ext cx="6000750" cy="6286500"/>
          </a:xfrm>
          <a:prstGeom prst="rect">
            <a:avLst/>
          </a:prstGeom>
        </p:spPr>
      </p:pic>
      <p:pic>
        <p:nvPicPr>
          <p:cNvPr id="3" name="Picture 2" descr="temp_slide_0_el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4075" y="95250"/>
            <a:ext cx="1800225" cy="895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372850" y="409575"/>
            <a:ext cx="4953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 b="1">
                <a:solidFill>
                  <a:srgbClr val="333333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71500"/>
            <a:ext cx="1714500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4500" b="1">
                <a:solidFill>
                  <a:srgbClr val="000000"/>
                </a:solidFill>
                <a:latin typeface="Segoe UI"/>
              </a:rPr>
              <a:t>De la </a:t>
            </a:r>
            <a:r>
              <a:rPr sz="4500" b="1" i="1">
                <a:solidFill>
                  <a:srgbClr val="0FB981"/>
                </a:solidFill>
                <a:latin typeface="Georgia"/>
              </a:rPr>
              <a:t>politique</a:t>
            </a:r>
            <a:r>
              <a:rPr sz="4500" b="1">
                <a:solidFill>
                  <a:srgbClr val="000000"/>
                </a:solidFill>
                <a:latin typeface="Segoe UI"/>
              </a:rPr>
              <a:t> aux </a:t>
            </a:r>
            <a:r>
              <a:rPr sz="4500" b="1" i="1">
                <a:solidFill>
                  <a:srgbClr val="0FB981"/>
                </a:solidFill>
                <a:latin typeface="Georgia"/>
              </a:rPr>
              <a:t>processus</a:t>
            </a:r>
          </a:p>
        </p:txBody>
      </p:sp>
      <p:pic>
        <p:nvPicPr>
          <p:cNvPr id="6" name="Picture 5" descr="temp_slide_0_el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71687"/>
            <a:ext cx="3740199" cy="3810000"/>
          </a:xfrm>
          <a:prstGeom prst="rect">
            <a:avLst/>
          </a:prstGeom>
        </p:spPr>
      </p:pic>
      <p:pic>
        <p:nvPicPr>
          <p:cNvPr id="7" name="Picture 6" descr="temp_slide_0_el_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4775" y="2386012"/>
            <a:ext cx="1333500" cy="1333500"/>
          </a:xfrm>
          <a:prstGeom prst="rect">
            <a:avLst/>
          </a:prstGeom>
        </p:spPr>
      </p:pic>
      <p:pic>
        <p:nvPicPr>
          <p:cNvPr id="8" name="Picture 7" descr="temp_icon_slide_0_el_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9600" y="2909887"/>
            <a:ext cx="32385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17600" y="3662362"/>
            <a:ext cx="18478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333"/>
              </a:lnSpc>
            </a:pPr>
            <a:r>
              <a:rPr sz="1800" b="1" i="1">
                <a:solidFill>
                  <a:srgbClr val="000000"/>
                </a:solidFill>
                <a:latin typeface="Georgia"/>
              </a:rPr>
              <a:t>Politique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5450" y="4119562"/>
            <a:ext cx="4933950" cy="2786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8125"/>
              </a:lnSpc>
            </a:pPr>
            <a:r>
              <a:rPr sz="1350">
                <a:solidFill>
                  <a:srgbClr val="666666"/>
                </a:solidFill>
                <a:latin typeface="Segoe UI"/>
              </a:rPr>
              <a:t>Ce à quoi l’organisation s’engage</a:t>
            </a:r>
          </a:p>
        </p:txBody>
      </p:sp>
      <p:pic>
        <p:nvPicPr>
          <p:cNvPr id="11" name="Picture 10" descr="temp_slide_0_el_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3474" y="2233612"/>
            <a:ext cx="876300" cy="876300"/>
          </a:xfrm>
          <a:prstGeom prst="rect">
            <a:avLst/>
          </a:prstGeom>
        </p:spPr>
      </p:pic>
      <p:pic>
        <p:nvPicPr>
          <p:cNvPr id="12" name="Picture 11" descr="temp_icon_slide_0_el_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8349" y="3819525"/>
            <a:ext cx="180975" cy="285750"/>
          </a:xfrm>
          <a:prstGeom prst="rect">
            <a:avLst/>
          </a:prstGeom>
        </p:spPr>
      </p:pic>
      <p:pic>
        <p:nvPicPr>
          <p:cNvPr id="13" name="Picture 12" descr="temp_slide_0_el_1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5974" y="2071687"/>
            <a:ext cx="3740199" cy="3810000"/>
          </a:xfrm>
          <a:prstGeom prst="rect">
            <a:avLst/>
          </a:prstGeom>
        </p:spPr>
      </p:pic>
      <p:pic>
        <p:nvPicPr>
          <p:cNvPr id="14" name="Picture 13" descr="temp_slide_0_el_1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0" y="2386012"/>
            <a:ext cx="1333500" cy="1333500"/>
          </a:xfrm>
          <a:prstGeom prst="rect">
            <a:avLst/>
          </a:prstGeom>
        </p:spPr>
      </p:pic>
      <p:pic>
        <p:nvPicPr>
          <p:cNvPr id="15" name="Picture 14" descr="temp_icon_slide_0_el_1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3125" y="2909887"/>
            <a:ext cx="285750" cy="2857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81600" y="3662362"/>
            <a:ext cx="1828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333"/>
              </a:lnSpc>
            </a:pPr>
            <a:r>
              <a:rPr sz="1800" b="1" i="1">
                <a:solidFill>
                  <a:srgbClr val="000000"/>
                </a:solidFill>
                <a:latin typeface="Georgia"/>
              </a:rPr>
              <a:t>Objectifs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49" y="4119562"/>
            <a:ext cx="2540049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8125"/>
              </a:lnSpc>
            </a:pPr>
            <a:r>
              <a:rPr sz="1350">
                <a:solidFill>
                  <a:srgbClr val="666666"/>
                </a:solidFill>
                <a:latin typeface="Segoe UI"/>
              </a:rPr>
              <a:t>Ce que l’organisation vise à atteindre</a:t>
            </a:r>
          </a:p>
        </p:txBody>
      </p:sp>
      <p:pic>
        <p:nvPicPr>
          <p:cNvPr id="18" name="Picture 17" descr="temp_slide_0_el_1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27949" y="2233612"/>
            <a:ext cx="876300" cy="876300"/>
          </a:xfrm>
          <a:prstGeom prst="rect">
            <a:avLst/>
          </a:prstGeom>
        </p:spPr>
      </p:pic>
      <p:pic>
        <p:nvPicPr>
          <p:cNvPr id="19" name="Picture 18" descr="temp_icon_slide_0_el_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2824" y="3819525"/>
            <a:ext cx="180975" cy="285750"/>
          </a:xfrm>
          <a:prstGeom prst="rect">
            <a:avLst/>
          </a:prstGeom>
        </p:spPr>
      </p:pic>
      <p:pic>
        <p:nvPicPr>
          <p:cNvPr id="20" name="Picture 19" descr="temp_slide_0_el_1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80449" y="2071687"/>
            <a:ext cx="3740199" cy="3810000"/>
          </a:xfrm>
          <a:prstGeom prst="rect">
            <a:avLst/>
          </a:prstGeom>
        </p:spPr>
      </p:pic>
      <p:pic>
        <p:nvPicPr>
          <p:cNvPr id="21" name="Picture 20" descr="temp_slide_0_el_1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83724" y="2386012"/>
            <a:ext cx="1333500" cy="1333500"/>
          </a:xfrm>
          <a:prstGeom prst="rect">
            <a:avLst/>
          </a:prstGeom>
        </p:spPr>
      </p:pic>
      <p:pic>
        <p:nvPicPr>
          <p:cNvPr id="22" name="Picture 21" descr="temp_icon_slide_0_el_2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69499" y="2909887"/>
            <a:ext cx="361950" cy="2857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69400" y="3662362"/>
            <a:ext cx="19621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333"/>
              </a:lnSpc>
            </a:pPr>
            <a:r>
              <a:rPr sz="1800" b="1" i="1">
                <a:solidFill>
                  <a:srgbClr val="000000"/>
                </a:solidFill>
                <a:latin typeface="Georgia"/>
              </a:rPr>
              <a:t>Processus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0524" y="4119562"/>
            <a:ext cx="2540049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8125"/>
              </a:lnSpc>
            </a:pPr>
            <a:r>
              <a:rPr sz="1350">
                <a:solidFill>
                  <a:srgbClr val="666666"/>
                </a:solidFill>
                <a:latin typeface="Segoe UI"/>
              </a:rPr>
              <a:t>Comment les objectifs sont atteints via des activités définies</a:t>
            </a:r>
          </a:p>
        </p:txBody>
      </p:sp>
      <p:pic>
        <p:nvPicPr>
          <p:cNvPr id="25" name="Picture 24" descr="temp_slide_0_el_2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82423" y="2233612"/>
            <a:ext cx="876300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bg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emp_slide_0_el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-285750"/>
            <a:ext cx="6000750" cy="6286500"/>
          </a:xfrm>
          <a:prstGeom prst="rect">
            <a:avLst/>
          </a:prstGeom>
        </p:spPr>
      </p:pic>
      <p:pic>
        <p:nvPicPr>
          <p:cNvPr id="4" name="Picture 3" descr="temp_slide_0_el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95250"/>
            <a:ext cx="2457450" cy="895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01839" y="409575"/>
            <a:ext cx="457200" cy="249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 b="1" dirty="0">
                <a:solidFill>
                  <a:srgbClr val="333333"/>
                </a:solidFill>
                <a:latin typeface="Segoe UI"/>
              </a:rPr>
              <a:t>0</a:t>
            </a:r>
            <a:r>
              <a:rPr lang="fr-FR" sz="1500" b="1" dirty="0">
                <a:solidFill>
                  <a:srgbClr val="333333"/>
                </a:solidFill>
                <a:latin typeface="Segoe UI"/>
              </a:rPr>
              <a:t>5</a:t>
            </a:r>
            <a:endParaRPr sz="1500" b="1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3778" y="536713"/>
            <a:ext cx="171450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>
                <a:solidFill>
                  <a:srgbClr val="000000"/>
                </a:solidFill>
                <a:latin typeface="Segoe UI"/>
              </a:rPr>
              <a:t>Propriétés clés </a:t>
            </a:r>
            <a:r>
              <a:rPr sz="3600" b="1" i="1">
                <a:solidFill>
                  <a:srgbClr val="2388FF"/>
                </a:solidFill>
                <a:latin typeface="Georgia"/>
              </a:rPr>
              <a:t>(2/2)</a:t>
            </a:r>
          </a:p>
        </p:txBody>
      </p:sp>
      <p:pic>
        <p:nvPicPr>
          <p:cNvPr id="7" name="Picture 6" descr="temp_slide_0_el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2043112"/>
            <a:ext cx="5029200" cy="38100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105150" y="2819400"/>
            <a:ext cx="914400" cy="914400"/>
          </a:xfrm>
          <a:prstGeom prst="ellipse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emp_icon_slide_0_el_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7087" y="3105150"/>
            <a:ext cx="390525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05050" y="3962400"/>
            <a:ext cx="2514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2250" b="1" i="1">
                <a:solidFill>
                  <a:srgbClr val="000000"/>
                </a:solidFill>
                <a:latin typeface="Georgia"/>
              </a:rPr>
              <a:t>Formalisé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24025" y="4457700"/>
            <a:ext cx="36766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8125"/>
              </a:lnSpc>
            </a:pPr>
            <a:r>
              <a:rPr sz="1500">
                <a:solidFill>
                  <a:srgbClr val="666666"/>
                </a:solidFill>
                <a:latin typeface="Segoe UI"/>
              </a:rPr>
              <a:t>Politiques et procédures écrites et diffusées</a:t>
            </a:r>
          </a:p>
        </p:txBody>
      </p:sp>
      <p:pic>
        <p:nvPicPr>
          <p:cNvPr id="12" name="Picture 11" descr="temp_slide_0_el_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5050" y="2043112"/>
            <a:ext cx="5029200" cy="381000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8172450" y="2819400"/>
            <a:ext cx="914400" cy="914400"/>
          </a:xfrm>
          <a:prstGeom prst="ellipse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temp_icon_slide_0_el_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1062" y="3105150"/>
            <a:ext cx="257175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91400" y="3962400"/>
            <a:ext cx="2476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2250" b="1" i="1">
                <a:solidFill>
                  <a:srgbClr val="000000"/>
                </a:solidFill>
                <a:latin typeface="Georgia"/>
              </a:rPr>
              <a:t>Auditable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25" y="4457700"/>
            <a:ext cx="36766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8125"/>
              </a:lnSpc>
            </a:pPr>
            <a:r>
              <a:rPr sz="1500">
                <a:solidFill>
                  <a:srgbClr val="666666"/>
                </a:solidFill>
                <a:latin typeface="Segoe UI"/>
              </a:rPr>
              <a:t>Processus évaluables et vérifiables via des audits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bg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emp_slide_0_el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-285750"/>
            <a:ext cx="6000750" cy="6286500"/>
          </a:xfrm>
          <a:prstGeom prst="rect">
            <a:avLst/>
          </a:prstGeom>
        </p:spPr>
      </p:pic>
      <p:pic>
        <p:nvPicPr>
          <p:cNvPr id="4" name="Picture 3" descr="temp_slide_0_el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7450" y="95250"/>
            <a:ext cx="1485900" cy="895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91900" y="409575"/>
            <a:ext cx="457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 b="1">
                <a:solidFill>
                  <a:srgbClr val="333333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71450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 i="1">
                <a:solidFill>
                  <a:srgbClr val="2388FF"/>
                </a:solidFill>
                <a:latin typeface="Georgia"/>
              </a:rPr>
              <a:t>Les 8 principes</a:t>
            </a:r>
            <a:r>
              <a:rPr sz="3600" b="1">
                <a:solidFill>
                  <a:srgbClr val="000000"/>
                </a:solidFill>
                <a:latin typeface="Segoe UI"/>
              </a:rPr>
              <a:t> ISO 9000 (contexte)</a:t>
            </a:r>
          </a:p>
        </p:txBody>
      </p:sp>
      <p:pic>
        <p:nvPicPr>
          <p:cNvPr id="7" name="Picture 6" descr="temp_slide_0_el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359818"/>
            <a:ext cx="4594919" cy="22955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4900" y="2950368"/>
            <a:ext cx="3375719" cy="111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800">
                <a:solidFill>
                  <a:srgbClr val="333333"/>
                </a:solidFill>
                <a:latin typeface="Segoe UI"/>
              </a:rPr>
              <a:t>Le management repose sur </a:t>
            </a:r>
            <a:r>
              <a:rPr sz="1800" b="1">
                <a:solidFill>
                  <a:srgbClr val="2388FF"/>
                </a:solidFill>
                <a:latin typeface="Segoe UI"/>
              </a:rPr>
              <a:t>8 principes fondamentaux</a:t>
            </a:r>
            <a:r>
              <a:rPr sz="1800">
                <a:solidFill>
                  <a:srgbClr val="333333"/>
                </a:solidFill>
                <a:latin typeface="Segoe UI"/>
              </a:rPr>
              <a:t> (ISO 9000).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74393"/>
            <a:ext cx="7742038" cy="309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500">
                <a:solidFill>
                  <a:srgbClr val="666666"/>
                </a:solidFill>
                <a:latin typeface="Segoe UI"/>
              </a:rPr>
              <a:t>Deux principes mis en avant ici 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136356"/>
            <a:ext cx="609600" cy="38100"/>
          </a:xfrm>
          <a:prstGeom prst="roundRect">
            <a:avLst>
              <a:gd name="adj" fmla="val 100000"/>
            </a:avLst>
          </a:prstGeom>
          <a:solidFill>
            <a:srgbClr val="2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emp_slide_0_el_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9269" y="2119312"/>
            <a:ext cx="6606480" cy="196215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5709344" y="2719387"/>
            <a:ext cx="762000" cy="762000"/>
          </a:xfrm>
          <a:prstGeom prst="ellipse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temp_icon_slide_0_el_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7944" y="2928937"/>
            <a:ext cx="304800" cy="342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76144" y="2776537"/>
            <a:ext cx="867906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50" b="1" i="1">
                <a:solidFill>
                  <a:srgbClr val="000000"/>
                </a:solidFill>
                <a:latin typeface="Georgia"/>
              </a:rPr>
              <a:t>Leadership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6144" y="3195637"/>
            <a:ext cx="86790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666666"/>
                </a:solidFill>
                <a:latin typeface="Segoe UI"/>
              </a:rPr>
              <a:t>Créer un environnement propice à l'implication du personnel.</a:t>
            </a:r>
          </a:p>
        </p:txBody>
      </p:sp>
      <p:pic>
        <p:nvPicPr>
          <p:cNvPr id="16" name="Picture 15" descr="temp_slide_0_el_1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9269" y="3738562"/>
            <a:ext cx="6606480" cy="196215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709344" y="4338637"/>
            <a:ext cx="762000" cy="762000"/>
          </a:xfrm>
          <a:prstGeom prst="ellipse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temp_icon_slide_0_el_1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5082" y="4548187"/>
            <a:ext cx="390525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76144" y="4376737"/>
            <a:ext cx="867906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50" b="1" i="1">
                <a:solidFill>
                  <a:srgbClr val="000000"/>
                </a:solidFill>
                <a:latin typeface="Georgia"/>
              </a:rPr>
              <a:t>Approche factuelle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6144" y="4795837"/>
            <a:ext cx="867906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222"/>
              </a:lnSpc>
            </a:pPr>
            <a:r>
              <a:rPr sz="1350">
                <a:solidFill>
                  <a:srgbClr val="333333"/>
                </a:solidFill>
                <a:latin typeface="Segoe UI"/>
              </a:rPr>
              <a:t>pour la prise de décision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0_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71550"/>
            <a:ext cx="4438650" cy="5334000"/>
          </a:xfrm>
          <a:prstGeom prst="rect">
            <a:avLst/>
          </a:prstGeom>
        </p:spPr>
      </p:pic>
      <p:pic>
        <p:nvPicPr>
          <p:cNvPr id="3" name="Picture 2" descr="temp_slide_0_el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850" y="3448050"/>
            <a:ext cx="3486150" cy="4381500"/>
          </a:xfrm>
          <a:prstGeom prst="rect">
            <a:avLst/>
          </a:prstGeom>
        </p:spPr>
      </p:pic>
      <p:pic>
        <p:nvPicPr>
          <p:cNvPr id="4" name="Picture 3" descr="temp_slide_0_el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7450" y="95250"/>
            <a:ext cx="1485900" cy="895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91900" y="409575"/>
            <a:ext cx="457200" cy="249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 b="1" dirty="0">
                <a:solidFill>
                  <a:srgbClr val="333333"/>
                </a:solidFill>
                <a:latin typeface="Segoe UI"/>
              </a:rPr>
              <a:t>0</a:t>
            </a:r>
            <a:r>
              <a:rPr lang="fr-FR" sz="1500" b="1" dirty="0">
                <a:solidFill>
                  <a:srgbClr val="333333"/>
                </a:solidFill>
                <a:latin typeface="Segoe UI"/>
              </a:rPr>
              <a:t>7</a:t>
            </a:r>
            <a:endParaRPr sz="1500" b="1" dirty="0">
              <a:solidFill>
                <a:srgbClr val="333333"/>
              </a:solidFill>
              <a:latin typeface="Segoe UI"/>
            </a:endParaRPr>
          </a:p>
        </p:txBody>
      </p:sp>
      <p:pic>
        <p:nvPicPr>
          <p:cNvPr id="6" name="Picture 5" descr="temp_slide_0_el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3050" y="1126331"/>
            <a:ext cx="1485900" cy="1485900"/>
          </a:xfrm>
          <a:prstGeom prst="rect">
            <a:avLst/>
          </a:prstGeom>
        </p:spPr>
      </p:pic>
      <p:pic>
        <p:nvPicPr>
          <p:cNvPr id="7" name="Picture 6" descr="temp_icon_slide_0_el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1687" y="1697831"/>
            <a:ext cx="428625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95650" y="2631281"/>
            <a:ext cx="56007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4500" b="1" i="1">
                <a:solidFill>
                  <a:srgbClr val="000000"/>
                </a:solidFill>
                <a:latin typeface="Georgia"/>
              </a:rPr>
              <a:t>Leadership</a:t>
            </a:r>
          </a:p>
        </p:txBody>
      </p:sp>
      <p:pic>
        <p:nvPicPr>
          <p:cNvPr id="9" name="Picture 8" descr="temp_slide_0_el_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0" y="3298031"/>
            <a:ext cx="9144000" cy="2433637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1666875" y="3364706"/>
            <a:ext cx="457200" cy="457200"/>
          </a:xfrm>
          <a:prstGeom prst="ellipse">
            <a:avLst/>
          </a:prstGeom>
          <a:solidFill>
            <a:srgbClr val="2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emp_icon_slide_0_el_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9750" y="3498056"/>
            <a:ext cx="17145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76475" y="4050506"/>
            <a:ext cx="7639050" cy="928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8125"/>
              </a:lnSpc>
            </a:pPr>
            <a:r>
              <a:rPr sz="2250">
                <a:solidFill>
                  <a:srgbClr val="333333"/>
                </a:solidFill>
                <a:latin typeface="Segoe UI"/>
              </a:rPr>
              <a:t>Les dirigeants créent un </a:t>
            </a:r>
            <a:r>
              <a:rPr sz="2250" b="1" i="1">
                <a:solidFill>
                  <a:srgbClr val="2388FF"/>
                </a:solidFill>
                <a:latin typeface="Georgia"/>
              </a:rPr>
              <a:t>environnement interne</a:t>
            </a:r>
            <a:r>
              <a:rPr sz="2250">
                <a:solidFill>
                  <a:srgbClr val="333333"/>
                </a:solidFill>
                <a:latin typeface="Segoe UI"/>
              </a:rPr>
              <a:t> où les personnes peuvent s’impliquer pleinement.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bg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emp_slide_0_el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-1238250"/>
            <a:ext cx="6000750" cy="7239000"/>
          </a:xfrm>
          <a:prstGeom prst="rect">
            <a:avLst/>
          </a:prstGeom>
        </p:spPr>
      </p:pic>
      <p:pic>
        <p:nvPicPr>
          <p:cNvPr id="4" name="Picture 3" descr="temp_slide_0_el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91000"/>
            <a:ext cx="2667000" cy="3429000"/>
          </a:xfrm>
          <a:prstGeom prst="rect">
            <a:avLst/>
          </a:prstGeom>
        </p:spPr>
      </p:pic>
      <p:pic>
        <p:nvPicPr>
          <p:cNvPr id="5" name="Picture 4" descr="temp_slide_0_el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6025" y="95250"/>
            <a:ext cx="1485900" cy="895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20475" y="409575"/>
            <a:ext cx="457200" cy="249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lang="fr-FR" sz="1500" b="1" dirty="0">
                <a:solidFill>
                  <a:srgbClr val="333333"/>
                </a:solidFill>
                <a:latin typeface="Segoe UI"/>
              </a:rPr>
              <a:t>8</a:t>
            </a:r>
            <a:endParaRPr sz="1500" b="1" dirty="0">
              <a:solidFill>
                <a:srgbClr val="333333"/>
              </a:solidFill>
              <a:latin typeface="Segoe UI"/>
            </a:endParaRPr>
          </a:p>
        </p:txBody>
      </p:sp>
      <p:pic>
        <p:nvPicPr>
          <p:cNvPr id="7" name="Picture 6" descr="temp_slide_0_el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9748" y="741079"/>
            <a:ext cx="1532502" cy="1532502"/>
          </a:xfrm>
          <a:prstGeom prst="rect">
            <a:avLst/>
          </a:prstGeom>
        </p:spPr>
      </p:pic>
      <p:pic>
        <p:nvPicPr>
          <p:cNvPr id="8" name="Picture 7" descr="temp_icon_slide_0_el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5812" y="1327143"/>
            <a:ext cx="360375" cy="3603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5325" y="2345531"/>
            <a:ext cx="108013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250"/>
              </a:lnSpc>
            </a:pPr>
            <a:r>
              <a:rPr sz="3600" b="1" i="1">
                <a:solidFill>
                  <a:srgbClr val="000000"/>
                </a:solidFill>
                <a:latin typeface="Georgia"/>
              </a:rPr>
              <a:t>Approche factuelle pour la</a:t>
            </a:r>
          </a:p>
          <a:p>
            <a:pPr algn="ctr">
              <a:lnSpc>
                <a:spcPct val="106250"/>
              </a:lnSpc>
            </a:pPr>
            <a:r>
              <a:rPr sz="3600" b="1" i="1">
                <a:solidFill>
                  <a:srgbClr val="000000"/>
                </a:solidFill>
                <a:latin typeface="Georgia"/>
              </a:rPr>
              <a:t>prise de décision</a:t>
            </a:r>
          </a:p>
        </p:txBody>
      </p:sp>
      <p:pic>
        <p:nvPicPr>
          <p:cNvPr id="10" name="Picture 9" descr="temp_slide_0_el_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0" y="3659981"/>
            <a:ext cx="9144000" cy="243363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324975" y="3802856"/>
            <a:ext cx="590550" cy="95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401175" y="3802856"/>
            <a:ext cx="95250" cy="95250"/>
          </a:xfrm>
          <a:prstGeom prst="ellipse">
            <a:avLst/>
          </a:prstGeom>
          <a:solidFill>
            <a:srgbClr val="2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temp_slide_0_el_1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3575" y="3783806"/>
            <a:ext cx="133350" cy="133350"/>
          </a:xfrm>
          <a:prstGeom prst="rect">
            <a:avLst/>
          </a:prstGeom>
        </p:spPr>
      </p:pic>
      <p:pic>
        <p:nvPicPr>
          <p:cNvPr id="14" name="Picture 13" descr="temp_slide_0_el_1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5025" y="3783806"/>
            <a:ext cx="133350" cy="133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76475" y="4412456"/>
            <a:ext cx="7639050" cy="928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8125"/>
              </a:lnSpc>
            </a:pPr>
            <a:r>
              <a:rPr sz="2250">
                <a:solidFill>
                  <a:srgbClr val="333333"/>
                </a:solidFill>
                <a:latin typeface="Segoe UI"/>
              </a:rPr>
              <a:t>Les décisions efficaces se fondent sur l’analyse de </a:t>
            </a:r>
            <a:r>
              <a:rPr sz="2250" b="1" i="1">
                <a:solidFill>
                  <a:srgbClr val="2388FF"/>
                </a:solidFill>
                <a:latin typeface="Georgia"/>
              </a:rPr>
              <a:t>données</a:t>
            </a:r>
            <a:r>
              <a:rPr sz="2250">
                <a:solidFill>
                  <a:srgbClr val="333333"/>
                </a:solidFill>
                <a:latin typeface="Segoe UI"/>
              </a:rPr>
              <a:t> et d’</a:t>
            </a:r>
            <a:r>
              <a:rPr sz="2250" b="1" i="1">
                <a:solidFill>
                  <a:srgbClr val="2388FF"/>
                </a:solidFill>
                <a:latin typeface="Georgia"/>
              </a:rPr>
              <a:t>informations réelles</a:t>
            </a:r>
            <a:r>
              <a:rPr sz="225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bg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emp_slide_0_el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-285750"/>
            <a:ext cx="6000750" cy="6286500"/>
          </a:xfrm>
          <a:prstGeom prst="rect">
            <a:avLst/>
          </a:prstGeom>
        </p:spPr>
      </p:pic>
      <p:pic>
        <p:nvPicPr>
          <p:cNvPr id="4" name="Picture 3" descr="temp_slide_0_el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95250"/>
            <a:ext cx="2266950" cy="895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68100" y="409575"/>
            <a:ext cx="457200" cy="249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lang="fr-FR" sz="1500" b="1" dirty="0">
                <a:solidFill>
                  <a:srgbClr val="333333"/>
                </a:solidFill>
                <a:latin typeface="Segoe UI"/>
              </a:rPr>
              <a:t>9</a:t>
            </a:r>
            <a:endParaRPr sz="1500" b="1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71450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 i="1">
                <a:solidFill>
                  <a:srgbClr val="2388FF"/>
                </a:solidFill>
                <a:latin typeface="Georgia"/>
              </a:rPr>
              <a:t>Roue de Deming</a:t>
            </a:r>
            <a:r>
              <a:rPr sz="3600" b="1">
                <a:solidFill>
                  <a:srgbClr val="000000"/>
                </a:solidFill>
                <a:latin typeface="Segoe UI"/>
              </a:rPr>
              <a:t> (PDCA)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304925"/>
            <a:ext cx="15240000" cy="309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500">
                <a:solidFill>
                  <a:srgbClr val="666666"/>
                </a:solidFill>
                <a:latin typeface="Segoe UI"/>
              </a:rPr>
              <a:t>Le PDCA sert à faire vivre le système de management.</a:t>
            </a:r>
          </a:p>
        </p:txBody>
      </p:sp>
      <p:pic>
        <p:nvPicPr>
          <p:cNvPr id="8" name="Picture 7" descr="temp_slide_0_el_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1709737"/>
            <a:ext cx="5334000" cy="5334000"/>
          </a:xfrm>
          <a:prstGeom prst="rect">
            <a:avLst/>
          </a:prstGeom>
        </p:spPr>
      </p:pic>
      <p:pic>
        <p:nvPicPr>
          <p:cNvPr id="9" name="Picture 8" descr="temp_slide_0_el_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0" y="3424237"/>
            <a:ext cx="1905000" cy="1905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62575" y="4110037"/>
            <a:ext cx="14668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2250" b="1" i="1">
                <a:solidFill>
                  <a:srgbClr val="333333"/>
                </a:solidFill>
                <a:latin typeface="Georgia"/>
              </a:rPr>
              <a:t>PDCA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2575" y="4491037"/>
            <a:ext cx="1466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333"/>
              </a:lnSpc>
            </a:pPr>
            <a:r>
              <a:rPr sz="900">
                <a:solidFill>
                  <a:srgbClr val="999999"/>
                </a:solidFill>
                <a:latin typeface="Segoe UI"/>
              </a:rPr>
              <a:t>Cycle</a:t>
            </a:r>
          </a:p>
        </p:txBody>
      </p:sp>
      <p:pic>
        <p:nvPicPr>
          <p:cNvPr id="12" name="Picture 11" descr="temp_slide_0_el_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250" y="1709737"/>
            <a:ext cx="2095500" cy="209550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5905500" y="2300287"/>
            <a:ext cx="381000" cy="381000"/>
          </a:xfrm>
          <a:prstGeom prst="ellipse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temp_icon_slide_0_el_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9325" y="2405062"/>
            <a:ext cx="13335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48350" y="2757487"/>
            <a:ext cx="9906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 b="1">
                <a:solidFill>
                  <a:srgbClr val="2388FF"/>
                </a:solidFill>
                <a:latin typeface="Segoe UI"/>
              </a:rPr>
              <a:t>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1687" y="3062287"/>
            <a:ext cx="8572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333"/>
              </a:lnSpc>
            </a:pPr>
            <a:r>
              <a:rPr sz="900">
                <a:solidFill>
                  <a:srgbClr val="666666"/>
                </a:solidFill>
                <a:latin typeface="Segoe UI"/>
              </a:rPr>
              <a:t>Planifier</a:t>
            </a:r>
          </a:p>
        </p:txBody>
      </p:sp>
      <p:pic>
        <p:nvPicPr>
          <p:cNvPr id="17" name="Picture 16" descr="temp_slide_0_el_1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0" y="3328987"/>
            <a:ext cx="2095500" cy="209550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7524750" y="3919537"/>
            <a:ext cx="381000" cy="381000"/>
          </a:xfrm>
          <a:prstGeom prst="ellipse">
            <a:avLst/>
          </a:prstGeom>
          <a:solidFill>
            <a:srgbClr val="E0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temp_icon_slide_0_el_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8575" y="4024312"/>
            <a:ext cx="1333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572375" y="4376737"/>
            <a:ext cx="571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 b="1">
                <a:solidFill>
                  <a:srgbClr val="0FB981"/>
                </a:solidFill>
                <a:latin typeface="Segoe UI"/>
              </a:rPr>
              <a:t>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1887" y="4681537"/>
            <a:ext cx="933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333"/>
              </a:lnSpc>
            </a:pPr>
            <a:r>
              <a:rPr sz="900">
                <a:solidFill>
                  <a:srgbClr val="666666"/>
                </a:solidFill>
                <a:latin typeface="Segoe UI"/>
              </a:rPr>
              <a:t>Déployer</a:t>
            </a:r>
          </a:p>
        </p:txBody>
      </p:sp>
      <p:pic>
        <p:nvPicPr>
          <p:cNvPr id="22" name="Picture 21" descr="temp_slide_0_el_1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8250" y="4948237"/>
            <a:ext cx="2095500" cy="209550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5905500" y="5538787"/>
            <a:ext cx="381000" cy="381000"/>
          </a:xfrm>
          <a:prstGeom prst="ellipse">
            <a:avLst/>
          </a:prstGeom>
          <a:solidFill>
            <a:srgbClr val="FEF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temp_icon_slide_0_el_2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10275" y="5643562"/>
            <a:ext cx="171450" cy="171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762625" y="5995987"/>
            <a:ext cx="1333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 b="1">
                <a:solidFill>
                  <a:srgbClr val="D9B026"/>
                </a:solidFill>
                <a:latin typeface="Segoe UI"/>
              </a:rPr>
              <a:t>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3587" y="6300787"/>
            <a:ext cx="1009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333"/>
              </a:lnSpc>
            </a:pPr>
            <a:r>
              <a:rPr sz="900">
                <a:solidFill>
                  <a:srgbClr val="666666"/>
                </a:solidFill>
                <a:latin typeface="Segoe UI"/>
              </a:rPr>
              <a:t>Contrôler</a:t>
            </a:r>
          </a:p>
        </p:txBody>
      </p:sp>
      <p:pic>
        <p:nvPicPr>
          <p:cNvPr id="27" name="Picture 26" descr="temp_slide_0_el_2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9000" y="3328987"/>
            <a:ext cx="2095500" cy="20955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4286250" y="3919537"/>
            <a:ext cx="381000" cy="381000"/>
          </a:xfrm>
          <a:prstGeom prst="ellipse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temp_icon_slide_0_el_2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91025" y="4024312"/>
            <a:ext cx="171450" cy="1714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286250" y="4376737"/>
            <a:ext cx="762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 b="1">
                <a:solidFill>
                  <a:srgbClr val="FF6B6B"/>
                </a:solidFill>
                <a:latin typeface="Segoe UI"/>
              </a:rPr>
              <a:t>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4337" y="4681537"/>
            <a:ext cx="1009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333"/>
              </a:lnSpc>
            </a:pPr>
            <a:r>
              <a:rPr sz="900">
                <a:solidFill>
                  <a:srgbClr val="666666"/>
                </a:solidFill>
                <a:latin typeface="Segoe UI"/>
              </a:rPr>
              <a:t>Améliorer</a:t>
            </a:r>
          </a:p>
        </p:txBody>
      </p:sp>
      <p:pic>
        <p:nvPicPr>
          <p:cNvPr id="32" name="Picture 31" descr="temp_slide_0_el_29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58250" y="5217318"/>
            <a:ext cx="2857500" cy="1445418"/>
          </a:xfrm>
          <a:prstGeom prst="rect">
            <a:avLst/>
          </a:prstGeom>
        </p:spPr>
      </p:pic>
      <p:pic>
        <p:nvPicPr>
          <p:cNvPr id="33" name="Picture 32" descr="temp_icon_slide_0_el_3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05925" y="5703093"/>
            <a:ext cx="152400" cy="152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572625" y="5664993"/>
            <a:ext cx="1695450" cy="550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875"/>
              </a:lnSpc>
            </a:pPr>
            <a:r>
              <a:rPr sz="1050">
                <a:solidFill>
                  <a:srgbClr val="666666"/>
                </a:solidFill>
                <a:latin typeface="Segoe UI"/>
              </a:rPr>
              <a:t>Un processus itératif pour l'amélioration continue de la qualité et des processus.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bg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emp_slide_0_el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-285750"/>
            <a:ext cx="6000750" cy="6286500"/>
          </a:xfrm>
          <a:prstGeom prst="rect">
            <a:avLst/>
          </a:prstGeom>
        </p:spPr>
      </p:pic>
      <p:pic>
        <p:nvPicPr>
          <p:cNvPr id="4" name="Picture 3" descr="temp_slide_0_el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675" y="95250"/>
            <a:ext cx="1257300" cy="895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9525" y="409575"/>
            <a:ext cx="457200" cy="249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 b="1" dirty="0">
                <a:solidFill>
                  <a:srgbClr val="333333"/>
                </a:solidFill>
                <a:latin typeface="Segoe UI"/>
              </a:rPr>
              <a:t>1</a:t>
            </a:r>
            <a:r>
              <a:rPr lang="fr-FR" sz="1500" b="1" dirty="0">
                <a:solidFill>
                  <a:srgbClr val="333333"/>
                </a:solidFill>
                <a:latin typeface="Segoe UI"/>
              </a:rPr>
              <a:t>0</a:t>
            </a:r>
            <a:endParaRPr sz="1500" b="1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71450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 i="1">
                <a:solidFill>
                  <a:srgbClr val="2388FF"/>
                </a:solidFill>
                <a:latin typeface="Georgia"/>
              </a:rPr>
              <a:t>Étapes PDCA</a:t>
            </a:r>
            <a:r>
              <a:rPr sz="3600" b="1">
                <a:solidFill>
                  <a:srgbClr val="000000"/>
                </a:solidFill>
                <a:latin typeface="Segoe UI"/>
              </a:rPr>
              <a:t> (1/2)</a:t>
            </a:r>
          </a:p>
        </p:txBody>
      </p:sp>
      <p:pic>
        <p:nvPicPr>
          <p:cNvPr id="7" name="Picture 6" descr="temp_slide_0_el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2219325"/>
            <a:ext cx="4886325" cy="3457575"/>
          </a:xfrm>
          <a:prstGeom prst="rect">
            <a:avLst/>
          </a:prstGeom>
        </p:spPr>
      </p:pic>
      <p:pic>
        <p:nvPicPr>
          <p:cNvPr id="8" name="Picture 7" descr="temp_slide_0_el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6275" y="2828925"/>
            <a:ext cx="1590675" cy="31432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647825" y="28194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emp_icon_slide_0_el_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3087" y="2981325"/>
            <a:ext cx="219075" cy="285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09825" y="2819400"/>
            <a:ext cx="16383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50" b="1">
                <a:solidFill>
                  <a:srgbClr val="000000"/>
                </a:solidFill>
                <a:latin typeface="Segoe UI"/>
              </a:rPr>
              <a:t>PLAN </a:t>
            </a:r>
            <a:r>
              <a:rPr sz="1500">
                <a:solidFill>
                  <a:srgbClr val="666666"/>
                </a:solidFill>
                <a:latin typeface="Segoe UI"/>
              </a:rPr>
              <a:t>(Planifier)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7825" y="3657600"/>
            <a:ext cx="368617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500">
                <a:solidFill>
                  <a:srgbClr val="333333"/>
                </a:solidFill>
                <a:latin typeface="Segoe UI"/>
              </a:rPr>
              <a:t>Établir la politique, les objectifs et les processus.</a:t>
            </a:r>
          </a:p>
        </p:txBody>
      </p:sp>
      <p:pic>
        <p:nvPicPr>
          <p:cNvPr id="13" name="Picture 12" descr="temp_slide_0_el_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075" y="4219575"/>
            <a:ext cx="4257675" cy="1143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6688" y="4657725"/>
            <a:ext cx="66865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222"/>
              </a:lnSpc>
            </a:pPr>
            <a:r>
              <a:rPr sz="1350" b="1" i="1">
                <a:solidFill>
                  <a:srgbClr val="2388FF"/>
                </a:solidFill>
                <a:latin typeface="Segoe UI"/>
              </a:rPr>
              <a:t>"Dire ce qu’on va faire"</a:t>
            </a:r>
          </a:p>
        </p:txBody>
      </p:sp>
      <p:pic>
        <p:nvPicPr>
          <p:cNvPr id="15" name="Picture 14" descr="temp_icon_slide_0_el_1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3125" y="3719512"/>
            <a:ext cx="285750" cy="457200"/>
          </a:xfrm>
          <a:prstGeom prst="rect">
            <a:avLst/>
          </a:prstGeom>
        </p:spPr>
      </p:pic>
      <p:pic>
        <p:nvPicPr>
          <p:cNvPr id="16" name="Picture 15" descr="temp_slide_0_el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925" y="2219325"/>
            <a:ext cx="4886325" cy="3457575"/>
          </a:xfrm>
          <a:prstGeom prst="rect">
            <a:avLst/>
          </a:prstGeom>
        </p:spPr>
      </p:pic>
      <p:pic>
        <p:nvPicPr>
          <p:cNvPr id="17" name="Picture 16" descr="temp_slide_0_el_1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4050" y="2828925"/>
            <a:ext cx="1743075" cy="31432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858000" y="28194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temp_icon_slide_0_el_1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81825" y="2981325"/>
            <a:ext cx="361950" cy="2857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20000" y="2819400"/>
            <a:ext cx="18288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50" b="1">
                <a:solidFill>
                  <a:srgbClr val="000000"/>
                </a:solidFill>
                <a:latin typeface="Segoe UI"/>
              </a:rPr>
              <a:t>DO </a:t>
            </a:r>
            <a:r>
              <a:rPr sz="1500">
                <a:solidFill>
                  <a:srgbClr val="666666"/>
                </a:solidFill>
                <a:latin typeface="Segoe UI"/>
              </a:rPr>
              <a:t>(Déployer)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812381"/>
            <a:ext cx="7372350" cy="309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500">
                <a:solidFill>
                  <a:srgbClr val="333333"/>
                </a:solidFill>
                <a:latin typeface="Segoe UI"/>
              </a:rPr>
              <a:t>Mettre en œuvre et exploiter les mesures.</a:t>
            </a:r>
          </a:p>
        </p:txBody>
      </p:sp>
      <p:pic>
        <p:nvPicPr>
          <p:cNvPr id="22" name="Picture 21" descr="temp_slide_0_el_1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0" y="4219575"/>
            <a:ext cx="4257675" cy="1143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76863" y="4657725"/>
            <a:ext cx="66865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222"/>
              </a:lnSpc>
            </a:pPr>
            <a:r>
              <a:rPr sz="1350" b="1" i="1">
                <a:solidFill>
                  <a:srgbClr val="0FB981"/>
                </a:solidFill>
                <a:latin typeface="Segoe UI"/>
              </a:rPr>
              <a:t>"Faire ce qu’on a dit"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bg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emp_slide_0_el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-285750"/>
            <a:ext cx="6000750" cy="6286500"/>
          </a:xfrm>
          <a:prstGeom prst="rect">
            <a:avLst/>
          </a:prstGeom>
        </p:spPr>
      </p:pic>
      <p:pic>
        <p:nvPicPr>
          <p:cNvPr id="4" name="Picture 3" descr="temp_slide_0_el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675" y="95250"/>
            <a:ext cx="1257300" cy="895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9525" y="409575"/>
            <a:ext cx="457200" cy="249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 b="1" dirty="0">
                <a:solidFill>
                  <a:srgbClr val="333333"/>
                </a:solidFill>
                <a:latin typeface="Segoe UI"/>
              </a:rPr>
              <a:t>1</a:t>
            </a:r>
            <a:r>
              <a:rPr lang="fr-FR" sz="1500" b="1" dirty="0">
                <a:solidFill>
                  <a:srgbClr val="333333"/>
                </a:solidFill>
                <a:latin typeface="Segoe UI"/>
              </a:rPr>
              <a:t>1</a:t>
            </a:r>
            <a:endParaRPr sz="1500" b="1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71450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 i="1">
                <a:solidFill>
                  <a:srgbClr val="2388FF"/>
                </a:solidFill>
                <a:latin typeface="Georgia"/>
              </a:rPr>
              <a:t>Étapes PDCA</a:t>
            </a:r>
            <a:r>
              <a:rPr sz="3600" b="1">
                <a:solidFill>
                  <a:srgbClr val="000000"/>
                </a:solidFill>
                <a:latin typeface="Segoe UI"/>
              </a:rPr>
              <a:t> (2/2)</a:t>
            </a:r>
          </a:p>
        </p:txBody>
      </p:sp>
      <p:pic>
        <p:nvPicPr>
          <p:cNvPr id="7" name="Picture 6" descr="temp_slide_0_el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2219325"/>
            <a:ext cx="4886325" cy="3457575"/>
          </a:xfrm>
          <a:prstGeom prst="rect">
            <a:avLst/>
          </a:prstGeom>
        </p:spPr>
      </p:pic>
      <p:pic>
        <p:nvPicPr>
          <p:cNvPr id="8" name="Picture 7" descr="temp_slide_0_el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9125" y="2828925"/>
            <a:ext cx="1647825" cy="31432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647825" y="28194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7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emp_icon_slide_0_el_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9750" y="2981325"/>
            <a:ext cx="285750" cy="285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09825" y="2819400"/>
            <a:ext cx="2000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50" b="1">
                <a:solidFill>
                  <a:srgbClr val="000000"/>
                </a:solidFill>
                <a:latin typeface="Segoe UI"/>
              </a:rPr>
              <a:t>CHECK </a:t>
            </a:r>
            <a:r>
              <a:rPr sz="1500">
                <a:solidFill>
                  <a:srgbClr val="666666"/>
                </a:solidFill>
                <a:latin typeface="Segoe UI"/>
              </a:rPr>
              <a:t>(Contrôler)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7825" y="3657600"/>
            <a:ext cx="368617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500">
                <a:solidFill>
                  <a:srgbClr val="333333"/>
                </a:solidFill>
                <a:latin typeface="Segoe UI"/>
              </a:rPr>
              <a:t>Évaluer la performance ; vérifier l’</a:t>
            </a:r>
            <a:r>
              <a:rPr sz="1500" b="1">
                <a:solidFill>
                  <a:srgbClr val="D97706"/>
                </a:solidFill>
                <a:latin typeface="Segoe UI"/>
              </a:rPr>
              <a:t>écart</a:t>
            </a:r>
            <a:r>
              <a:rPr sz="1500">
                <a:solidFill>
                  <a:srgbClr val="333333"/>
                </a:solidFill>
                <a:latin typeface="Segoe UI"/>
              </a:rPr>
              <a:t> entre ce qu’on a dit et ce qu’on a fait.</a:t>
            </a:r>
          </a:p>
        </p:txBody>
      </p:sp>
      <p:pic>
        <p:nvPicPr>
          <p:cNvPr id="13" name="Picture 12" descr="temp_slide_0_el_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075" y="4219575"/>
            <a:ext cx="4257675" cy="1143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6688" y="4657725"/>
            <a:ext cx="66865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222"/>
              </a:lnSpc>
            </a:pPr>
            <a:r>
              <a:rPr sz="1350" b="1" i="1">
                <a:solidFill>
                  <a:srgbClr val="B45309"/>
                </a:solidFill>
                <a:latin typeface="Segoe UI"/>
              </a:rPr>
              <a:t>"Vérifier l’écart"</a:t>
            </a:r>
          </a:p>
        </p:txBody>
      </p:sp>
      <p:pic>
        <p:nvPicPr>
          <p:cNvPr id="15" name="Picture 14" descr="temp_icon_slide_0_el_1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3125" y="3719512"/>
            <a:ext cx="285750" cy="457200"/>
          </a:xfrm>
          <a:prstGeom prst="rect">
            <a:avLst/>
          </a:prstGeom>
        </p:spPr>
      </p:pic>
      <p:pic>
        <p:nvPicPr>
          <p:cNvPr id="16" name="Picture 15" descr="temp_slide_0_el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925" y="2219325"/>
            <a:ext cx="4886325" cy="3457575"/>
          </a:xfrm>
          <a:prstGeom prst="rect">
            <a:avLst/>
          </a:prstGeom>
        </p:spPr>
      </p:pic>
      <p:pic>
        <p:nvPicPr>
          <p:cNvPr id="17" name="Picture 16" descr="temp_slide_0_el_1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4050" y="2828925"/>
            <a:ext cx="1743075" cy="31432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858000" y="28194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A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temp_icon_slide_0_el_1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19925" y="2981325"/>
            <a:ext cx="285750" cy="2857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20000" y="2819400"/>
            <a:ext cx="19431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50" b="1">
                <a:solidFill>
                  <a:srgbClr val="000000"/>
                </a:solidFill>
                <a:latin typeface="Segoe UI"/>
              </a:rPr>
              <a:t>ACT </a:t>
            </a:r>
            <a:r>
              <a:rPr sz="1500">
                <a:solidFill>
                  <a:srgbClr val="666666"/>
                </a:solidFill>
                <a:latin typeface="Segoe UI"/>
              </a:rPr>
              <a:t>(Améliorer)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657600"/>
            <a:ext cx="368617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500" b="1">
                <a:solidFill>
                  <a:srgbClr val="7E22CE"/>
                </a:solidFill>
                <a:latin typeface="Segoe UI"/>
              </a:rPr>
              <a:t>Actions correctives</a:t>
            </a:r>
            <a:r>
              <a:rPr sz="1500">
                <a:solidFill>
                  <a:srgbClr val="333333"/>
                </a:solidFill>
                <a:latin typeface="Segoe UI"/>
              </a:rPr>
              <a:t> pour réduire les écarts et améliorer la performance.</a:t>
            </a:r>
          </a:p>
        </p:txBody>
      </p:sp>
      <p:pic>
        <p:nvPicPr>
          <p:cNvPr id="22" name="Picture 21" descr="temp_slide_0_el_1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0" y="4219575"/>
            <a:ext cx="4257675" cy="1143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76863" y="4657725"/>
            <a:ext cx="66865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222"/>
              </a:lnSpc>
            </a:pPr>
            <a:r>
              <a:rPr sz="1350" b="1" i="1">
                <a:solidFill>
                  <a:srgbClr val="7E22CE"/>
                </a:solidFill>
                <a:latin typeface="Segoe UI"/>
              </a:rPr>
              <a:t>"Réduire les écarts"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bg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emp_slide_0_el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-285750"/>
            <a:ext cx="6000750" cy="6286500"/>
          </a:xfrm>
          <a:prstGeom prst="rect">
            <a:avLst/>
          </a:prstGeom>
        </p:spPr>
      </p:pic>
      <p:pic>
        <p:nvPicPr>
          <p:cNvPr id="4" name="Picture 3" descr="temp_slide_0_el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2725" y="95250"/>
            <a:ext cx="1219200" cy="895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20475" y="409575"/>
            <a:ext cx="457200" cy="249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 b="1" dirty="0">
                <a:solidFill>
                  <a:srgbClr val="333333"/>
                </a:solidFill>
                <a:latin typeface="Segoe UI"/>
              </a:rPr>
              <a:t>1</a:t>
            </a:r>
            <a:r>
              <a:rPr lang="fr-FR" sz="1500" b="1" dirty="0">
                <a:solidFill>
                  <a:srgbClr val="333333"/>
                </a:solidFill>
                <a:latin typeface="Segoe UI"/>
              </a:rPr>
              <a:t>2</a:t>
            </a:r>
            <a:endParaRPr sz="1500" b="1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71450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>
                <a:solidFill>
                  <a:srgbClr val="000000"/>
                </a:solidFill>
                <a:latin typeface="Segoe UI"/>
              </a:rPr>
              <a:t>Qu’est-ce qu’un </a:t>
            </a:r>
            <a:r>
              <a:rPr sz="3600" b="1" i="1">
                <a:solidFill>
                  <a:srgbClr val="2388FF"/>
                </a:solidFill>
                <a:latin typeface="Georgia"/>
              </a:rPr>
              <a:t>SMSI</a:t>
            </a:r>
            <a:r>
              <a:rPr sz="3600" b="1">
                <a:solidFill>
                  <a:srgbClr val="000000"/>
                </a:solidFill>
                <a:latin typeface="Segoe UI"/>
              </a:rPr>
              <a:t> ?</a:t>
            </a:r>
          </a:p>
        </p:txBody>
      </p:sp>
      <p:sp>
        <p:nvSpPr>
          <p:cNvPr id="7" name="Oval 6"/>
          <p:cNvSpPr/>
          <p:nvPr/>
        </p:nvSpPr>
        <p:spPr>
          <a:xfrm>
            <a:off x="762000" y="3000375"/>
            <a:ext cx="76200" cy="76200"/>
          </a:xfrm>
          <a:prstGeom prst="ellipse">
            <a:avLst/>
          </a:prstGeom>
          <a:solidFill>
            <a:srgbClr val="2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0600" y="2886075"/>
            <a:ext cx="4366319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800">
                <a:solidFill>
                  <a:srgbClr val="333333"/>
                </a:solidFill>
                <a:latin typeface="Segoe UI"/>
              </a:rPr>
              <a:t>Le SMSI applique les concepts de management à l’information.</a:t>
            </a:r>
          </a:p>
        </p:txBody>
      </p:sp>
      <p:pic>
        <p:nvPicPr>
          <p:cNvPr id="9" name="Picture 8" descr="temp_slide_0_el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571875"/>
            <a:ext cx="5166419" cy="1647825"/>
          </a:xfrm>
          <a:prstGeom prst="rect">
            <a:avLst/>
          </a:prstGeom>
        </p:spPr>
      </p:pic>
      <p:pic>
        <p:nvPicPr>
          <p:cNvPr id="10" name="Picture 9" descr="temp_icon_slide_0_el_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4124325"/>
            <a:ext cx="1524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95400" y="4086225"/>
            <a:ext cx="3832919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500">
                <a:solidFill>
                  <a:srgbClr val="666666"/>
                </a:solidFill>
                <a:latin typeface="Segoe UI"/>
              </a:rPr>
              <a:t>L’informatique n’est qu’un </a:t>
            </a:r>
            <a:r>
              <a:rPr sz="1500" b="1">
                <a:solidFill>
                  <a:srgbClr val="2388FF"/>
                </a:solidFill>
                <a:latin typeface="Segoe UI"/>
              </a:rPr>
              <a:t>support</a:t>
            </a:r>
            <a:r>
              <a:rPr sz="1500">
                <a:solidFill>
                  <a:srgbClr val="666666"/>
                </a:solidFill>
                <a:latin typeface="Segoe UI"/>
              </a:rPr>
              <a:t> de l’information.</a:t>
            </a:r>
          </a:p>
        </p:txBody>
      </p:sp>
      <p:pic>
        <p:nvPicPr>
          <p:cNvPr id="12" name="Picture 11" descr="temp_slide_0_el_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8369" y="1685925"/>
            <a:ext cx="6187380" cy="444817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28444" y="2286000"/>
            <a:ext cx="4987230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6128444" y="2714625"/>
            <a:ext cx="498723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8444" y="2286000"/>
            <a:ext cx="997446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  <a:defRPr sz="1500" b="1">
                <a:solidFill>
                  <a:srgbClr val="000000"/>
                </a:solidFill>
                <a:latin typeface="Segoe UI"/>
              </a:defRPr>
            </a:pPr>
            <a:r>
              <a:t>Information sous toutes ses formes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28444" y="2714625"/>
            <a:ext cx="498723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28444" y="2943225"/>
            <a:ext cx="2417415" cy="1219200"/>
          </a:xfrm>
          <a:prstGeom prst="roundRect">
            <a:avLst>
              <a:gd name="adj" fmla="val 18750"/>
            </a:avLst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108477" y="3133725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temp_icon_slide_0_el_1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8015" y="3267075"/>
            <a:ext cx="238125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70327" y="3705225"/>
            <a:ext cx="1333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222"/>
              </a:lnSpc>
            </a:pPr>
            <a:r>
              <a:rPr sz="1350">
                <a:solidFill>
                  <a:srgbClr val="333333"/>
                </a:solidFill>
                <a:latin typeface="Segoe UI"/>
              </a:rPr>
              <a:t>Logiciels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98259" y="2943225"/>
            <a:ext cx="2417415" cy="1219200"/>
          </a:xfrm>
          <a:prstGeom prst="roundRect">
            <a:avLst>
              <a:gd name="adj" fmla="val 18750"/>
            </a:avLst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678292" y="3133725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temp_icon_slide_0_el_1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1642" y="3267075"/>
            <a:ext cx="190500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11568" y="3705225"/>
            <a:ext cx="13906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222"/>
              </a:lnSpc>
            </a:pPr>
            <a:r>
              <a:rPr sz="1350">
                <a:solidFill>
                  <a:srgbClr val="333333"/>
                </a:solidFill>
                <a:latin typeface="Segoe UI"/>
              </a:rPr>
              <a:t>Matériels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8444" y="4314825"/>
            <a:ext cx="2417415" cy="1219200"/>
          </a:xfrm>
          <a:prstGeom prst="roundRect">
            <a:avLst>
              <a:gd name="adj" fmla="val 18750"/>
            </a:avLst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108477" y="4505325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temp_icon_slide_0_el_2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5640" y="4638675"/>
            <a:ext cx="142875" cy="190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108353" y="5076825"/>
            <a:ext cx="24574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222"/>
              </a:lnSpc>
            </a:pPr>
            <a:r>
              <a:rPr sz="1350">
                <a:solidFill>
                  <a:srgbClr val="333333"/>
                </a:solidFill>
                <a:latin typeface="Segoe UI"/>
              </a:rPr>
              <a:t>Supports papier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98259" y="4314825"/>
            <a:ext cx="2417415" cy="1219200"/>
          </a:xfrm>
          <a:prstGeom prst="roundRect">
            <a:avLst>
              <a:gd name="adj" fmla="val 18750"/>
            </a:avLst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678292" y="4505325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temp_icon_slide_0_el_2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1642" y="4638675"/>
            <a:ext cx="190500" cy="1905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430518" y="5076825"/>
            <a:ext cx="29527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222"/>
              </a:lnSpc>
            </a:pPr>
            <a:r>
              <a:rPr sz="1350">
                <a:solidFill>
                  <a:srgbClr val="333333"/>
                </a:solidFill>
                <a:latin typeface="Segoe UI"/>
              </a:rPr>
              <a:t>Savoir-faire humain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0_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-285750"/>
            <a:ext cx="6381750" cy="1220985"/>
          </a:xfrm>
          <a:prstGeom prst="rect">
            <a:avLst/>
          </a:prstGeom>
        </p:spPr>
      </p:pic>
      <p:pic>
        <p:nvPicPr>
          <p:cNvPr id="3" name="Picture 2" descr="temp_slide_0_el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25" y="-95250"/>
            <a:ext cx="2028825" cy="838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0" y="190500"/>
            <a:ext cx="457200" cy="249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 b="1" dirty="0">
                <a:solidFill>
                  <a:srgbClr val="000000"/>
                </a:solidFill>
                <a:latin typeface="Segoe UI"/>
              </a:rPr>
              <a:t>1</a:t>
            </a:r>
            <a:r>
              <a:rPr lang="fr-FR" sz="1500" b="1" dirty="0">
                <a:solidFill>
                  <a:srgbClr val="000000"/>
                </a:solidFill>
                <a:latin typeface="Segoe UI"/>
              </a:rPr>
              <a:t>3</a:t>
            </a:r>
            <a:endParaRPr sz="1500" b="1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152400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600" b="1">
                <a:solidFill>
                  <a:srgbClr val="000000"/>
                </a:solidFill>
                <a:latin typeface="Segoe UI"/>
              </a:rPr>
              <a:t>Critères de sécurité : </a:t>
            </a:r>
            <a:r>
              <a:rPr sz="3600" b="1" i="1">
                <a:solidFill>
                  <a:srgbClr val="2388FF"/>
                </a:solidFill>
                <a:latin typeface="Georgia"/>
              </a:rPr>
              <a:t>DICP</a:t>
            </a:r>
            <a:r>
              <a:rPr sz="3600" b="1">
                <a:solidFill>
                  <a:srgbClr val="000000"/>
                </a:solidFill>
                <a:latin typeface="Segoe UI"/>
              </a:rPr>
              <a:t> (DICA)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90625"/>
            <a:ext cx="15240000" cy="309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500">
                <a:solidFill>
                  <a:srgbClr val="666666"/>
                </a:solidFill>
                <a:latin typeface="Segoe UI"/>
              </a:rPr>
              <a:t>La sécurité s’évalue selon DICP (ou DICA) :</a:t>
            </a:r>
          </a:p>
        </p:txBody>
      </p:sp>
      <p:pic>
        <p:nvPicPr>
          <p:cNvPr id="7" name="Picture 6" descr="temp_slide_0_el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2369343"/>
            <a:ext cx="5181600" cy="180975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571625" y="2893218"/>
            <a:ext cx="762000" cy="762000"/>
          </a:xfrm>
          <a:prstGeom prst="ellipse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emp_icon_slide_0_el_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1175" y="3102768"/>
            <a:ext cx="34290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62225" y="2988468"/>
            <a:ext cx="32956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50" b="1">
                <a:solidFill>
                  <a:srgbClr val="000000"/>
                </a:solidFill>
                <a:latin typeface="Segoe UI"/>
              </a:rPr>
              <a:t>Disponibilité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2225" y="3369468"/>
            <a:ext cx="32956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1429"/>
              </a:lnSpc>
            </a:pPr>
            <a:r>
              <a:rPr sz="1050">
                <a:solidFill>
                  <a:srgbClr val="666666"/>
                </a:solidFill>
                <a:latin typeface="Segoe UI"/>
              </a:rPr>
              <a:t>Availability</a:t>
            </a:r>
          </a:p>
        </p:txBody>
      </p:sp>
      <p:pic>
        <p:nvPicPr>
          <p:cNvPr id="12" name="Picture 11" descr="temp_slide_0_el_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650" y="2369343"/>
            <a:ext cx="5181600" cy="180975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6486525" y="2893218"/>
            <a:ext cx="762000" cy="762000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temp_icon_slide_0_el_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6075" y="3102768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77125" y="2988468"/>
            <a:ext cx="23050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50" b="1">
                <a:solidFill>
                  <a:srgbClr val="000000"/>
                </a:solidFill>
                <a:latin typeface="Segoe UI"/>
              </a:rPr>
              <a:t>Intégrité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7125" y="3369468"/>
            <a:ext cx="23050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1429"/>
              </a:lnSpc>
            </a:pPr>
            <a:r>
              <a:rPr sz="1050">
                <a:solidFill>
                  <a:srgbClr val="666666"/>
                </a:solidFill>
                <a:latin typeface="Segoe UI"/>
              </a:rPr>
              <a:t>Integrity</a:t>
            </a:r>
          </a:p>
        </p:txBody>
      </p:sp>
      <p:pic>
        <p:nvPicPr>
          <p:cNvPr id="17" name="Picture 16" descr="temp_slide_0_el_1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750" y="3836193"/>
            <a:ext cx="5181600" cy="180975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1571625" y="4360068"/>
            <a:ext cx="762000" cy="762000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temp_icon_slide_0_el_1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0225" y="4569618"/>
            <a:ext cx="304800" cy="3429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562225" y="4455318"/>
            <a:ext cx="39624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50" b="1">
                <a:solidFill>
                  <a:srgbClr val="000000"/>
                </a:solidFill>
                <a:latin typeface="Segoe UI"/>
              </a:rPr>
              <a:t>Confidentialité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2225" y="4836318"/>
            <a:ext cx="39624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1429"/>
              </a:lnSpc>
            </a:pPr>
            <a:r>
              <a:rPr sz="1050">
                <a:solidFill>
                  <a:srgbClr val="666666"/>
                </a:solidFill>
                <a:latin typeface="Segoe UI"/>
              </a:rPr>
              <a:t>Confidentiality</a:t>
            </a:r>
          </a:p>
        </p:txBody>
      </p:sp>
      <p:pic>
        <p:nvPicPr>
          <p:cNvPr id="22" name="Picture 21" descr="temp_slide_0_el_2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2650" y="3836193"/>
            <a:ext cx="5181600" cy="180975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6486525" y="4360068"/>
            <a:ext cx="762000" cy="762000"/>
          </a:xfrm>
          <a:prstGeom prst="ellipse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temp_icon_slide_0_el_2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96075" y="4569618"/>
            <a:ext cx="342900" cy="3429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77125" y="4417218"/>
            <a:ext cx="1962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50" b="1">
                <a:solidFill>
                  <a:srgbClr val="000000"/>
                </a:solidFill>
                <a:latin typeface="Segoe UI"/>
              </a:rPr>
              <a:t>Preuve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7125" y="4798218"/>
            <a:ext cx="19621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222"/>
              </a:lnSpc>
            </a:pPr>
            <a:r>
              <a:rPr sz="1350" i="1">
                <a:solidFill>
                  <a:srgbClr val="333333"/>
                </a:solidFill>
                <a:latin typeface="Georgia"/>
              </a:rPr>
              <a:t>(Auditabilité)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0_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-285750"/>
            <a:ext cx="6000750" cy="6286500"/>
          </a:xfrm>
          <a:prstGeom prst="rect">
            <a:avLst/>
          </a:prstGeom>
        </p:spPr>
      </p:pic>
      <p:pic>
        <p:nvPicPr>
          <p:cNvPr id="3" name="Picture 2" descr="temp_slide_0_el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1775" y="95250"/>
            <a:ext cx="1200150" cy="895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20475" y="409575"/>
            <a:ext cx="457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 b="1">
                <a:solidFill>
                  <a:srgbClr val="333333"/>
                </a:solidFill>
                <a:latin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00075"/>
            <a:ext cx="65722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4500" b="1" i="1">
                <a:solidFill>
                  <a:srgbClr val="2388FF"/>
                </a:solidFill>
                <a:latin typeface="Georgia"/>
              </a:rPr>
              <a:t>Disponibilité</a:t>
            </a:r>
          </a:p>
        </p:txBody>
      </p:sp>
      <p:sp>
        <p:nvSpPr>
          <p:cNvPr id="6" name="Oval 5"/>
          <p:cNvSpPr/>
          <p:nvPr/>
        </p:nvSpPr>
        <p:spPr>
          <a:xfrm>
            <a:off x="762000" y="2805112"/>
            <a:ext cx="533400" cy="533400"/>
          </a:xfrm>
          <a:prstGeom prst="ellipse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temp_icon_slide_0_el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57512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3567112"/>
            <a:ext cx="50292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2700">
                <a:solidFill>
                  <a:srgbClr val="333333"/>
                </a:solidFill>
                <a:latin typeface="Segoe UI"/>
              </a:rPr>
              <a:t>L’information doit être </a:t>
            </a:r>
            <a:r>
              <a:rPr sz="2700" b="1" i="1">
                <a:solidFill>
                  <a:srgbClr val="2388FF"/>
                </a:solidFill>
                <a:latin typeface="Georgia"/>
              </a:rPr>
              <a:t>accessible</a:t>
            </a:r>
            <a:r>
              <a:rPr sz="2700">
                <a:solidFill>
                  <a:srgbClr val="333333"/>
                </a:solidFill>
                <a:latin typeface="Segoe UI"/>
              </a:rPr>
              <a:t> au moment voulu.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5086350"/>
            <a:ext cx="4572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4957762"/>
            <a:ext cx="446722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>
                <a:solidFill>
                  <a:srgbClr val="666666"/>
                </a:solidFill>
                <a:latin typeface="Segoe UI"/>
              </a:rPr>
              <a:t>Critère quantitatif :</a:t>
            </a:r>
          </a:p>
        </p:txBody>
      </p:sp>
      <p:pic>
        <p:nvPicPr>
          <p:cNvPr id="11" name="Picture 10" descr="temp_slide_0_el_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050" y="1776412"/>
            <a:ext cx="5600700" cy="4476750"/>
          </a:xfrm>
          <a:prstGeom prst="rect">
            <a:avLst/>
          </a:prstGeom>
        </p:spPr>
      </p:pic>
      <p:pic>
        <p:nvPicPr>
          <p:cNvPr id="12" name="Picture 11" descr="temp_slide_0_el_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5925" y="3843337"/>
            <a:ext cx="2886075" cy="3009900"/>
          </a:xfrm>
          <a:prstGeom prst="rect">
            <a:avLst/>
          </a:prstGeom>
        </p:spPr>
      </p:pic>
      <p:pic>
        <p:nvPicPr>
          <p:cNvPr id="13" name="Picture 12" descr="temp_slide_0_el_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9492" y="2243137"/>
            <a:ext cx="2131814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53175" y="3176587"/>
            <a:ext cx="5124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333"/>
              </a:lnSpc>
            </a:pPr>
            <a:r>
              <a:rPr sz="1800">
                <a:solidFill>
                  <a:srgbClr val="666666"/>
                </a:solidFill>
                <a:latin typeface="Segoe UI"/>
              </a:rPr>
              <a:t>Interruption tolérée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3175" y="3557587"/>
            <a:ext cx="5124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4500" b="1" i="1">
                <a:solidFill>
                  <a:srgbClr val="2388FF"/>
                </a:solidFill>
                <a:latin typeface="Georgia"/>
              </a:rPr>
              <a:t>&lt; 2 heures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850" y="4433887"/>
            <a:ext cx="4191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4444"/>
              </a:lnSpc>
            </a:pPr>
            <a:r>
              <a:rPr sz="2700">
                <a:solidFill>
                  <a:srgbClr val="CCCCCC"/>
                </a:solidFill>
                <a:latin typeface="Segoe UI"/>
              </a:rPr>
              <a:t>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7950" y="5119687"/>
            <a:ext cx="49149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4444"/>
              </a:lnSpc>
            </a:pPr>
            <a:r>
              <a:rPr sz="2700" b="1">
                <a:solidFill>
                  <a:srgbClr val="000000"/>
                </a:solidFill>
                <a:latin typeface="Segoe UI"/>
              </a:rPr>
              <a:t>besoin « Vital 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0_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-285750"/>
            <a:ext cx="6000750" cy="6286500"/>
          </a:xfrm>
          <a:prstGeom prst="rect">
            <a:avLst/>
          </a:prstGeom>
        </p:spPr>
      </p:pic>
      <p:pic>
        <p:nvPicPr>
          <p:cNvPr id="3" name="Picture 2" descr="temp_slide_0_el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0" y="95250"/>
            <a:ext cx="1200150" cy="895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0" y="409575"/>
            <a:ext cx="457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 b="1">
                <a:solidFill>
                  <a:srgbClr val="333333"/>
                </a:solidFill>
                <a:latin typeface="Segoe U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00075"/>
            <a:ext cx="44005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4500" b="1" i="1">
                <a:solidFill>
                  <a:srgbClr val="2388FF"/>
                </a:solidFill>
                <a:latin typeface="Georgia"/>
              </a:rPr>
              <a:t>Intégrité</a:t>
            </a:r>
          </a:p>
        </p:txBody>
      </p:sp>
      <p:pic>
        <p:nvPicPr>
          <p:cNvPr id="6" name="Picture 5" descr="temp_slide_0_el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00" y="2509837"/>
            <a:ext cx="3009900" cy="3009900"/>
          </a:xfrm>
          <a:prstGeom prst="rect">
            <a:avLst/>
          </a:prstGeom>
        </p:spPr>
      </p:pic>
      <p:pic>
        <p:nvPicPr>
          <p:cNvPr id="7" name="Picture 6" descr="temp_slide_0_el_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925" y="2671762"/>
            <a:ext cx="2686050" cy="2686050"/>
          </a:xfrm>
          <a:prstGeom prst="rect">
            <a:avLst/>
          </a:prstGeom>
        </p:spPr>
      </p:pic>
      <p:pic>
        <p:nvPicPr>
          <p:cNvPr id="8" name="Picture 7" descr="temp_icon_slide_0_el_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5750" y="3557587"/>
            <a:ext cx="914400" cy="914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826049" y="2857500"/>
            <a:ext cx="76200" cy="2314575"/>
          </a:xfrm>
          <a:prstGeom prst="roundRect">
            <a:avLst>
              <a:gd name="adj" fmla="val 100000"/>
            </a:avLst>
          </a:prstGeom>
          <a:solidFill>
            <a:srgbClr val="2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83249" y="3086100"/>
            <a:ext cx="122935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2700">
                <a:solidFill>
                  <a:srgbClr val="333333"/>
                </a:solidFill>
                <a:latin typeface="Segoe UI"/>
              </a:rPr>
              <a:t>Garantir que l’information </a:t>
            </a:r>
          </a:p>
          <a:p>
            <a:pPr algn="l">
              <a:lnSpc>
                <a:spcPct val="106250"/>
              </a:lnSpc>
            </a:pPr>
            <a:r>
              <a:rPr sz="2700">
                <a:solidFill>
                  <a:srgbClr val="333333"/>
                </a:solidFill>
                <a:latin typeface="Segoe UI"/>
              </a:rPr>
              <a:t> </a:t>
            </a:r>
            <a:r>
              <a:rPr sz="2700" b="1" i="1">
                <a:solidFill>
                  <a:srgbClr val="000000"/>
                </a:solidFill>
                <a:latin typeface="Georgia"/>
              </a:rPr>
              <a:t>n’est pas modifiée</a:t>
            </a:r>
            <a:r>
              <a:rPr sz="2700">
                <a:solidFill>
                  <a:srgbClr val="333333"/>
                </a:solidFill>
                <a:latin typeface="Segoe UI"/>
              </a:rPr>
              <a:t> </a:t>
            </a:r>
          </a:p>
          <a:p>
            <a:pPr algn="l">
              <a:lnSpc>
                <a:spcPct val="106250"/>
              </a:lnSpc>
            </a:pPr>
            <a:r>
              <a:rPr sz="2700">
                <a:solidFill>
                  <a:srgbClr val="333333"/>
                </a:solidFill>
                <a:latin typeface="Segoe UI"/>
              </a:rPr>
              <a:t> de façon non autorisée.</a:t>
            </a:r>
          </a:p>
        </p:txBody>
      </p:sp>
      <p:pic>
        <p:nvPicPr>
          <p:cNvPr id="11" name="Picture 10" descr="temp_icon_slide_0_el_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3249" y="4733925"/>
            <a:ext cx="15240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49949" y="4676775"/>
            <a:ext cx="43624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222"/>
              </a:lnSpc>
            </a:pPr>
            <a:r>
              <a:rPr sz="1350">
                <a:solidFill>
                  <a:srgbClr val="666666"/>
                </a:solidFill>
                <a:latin typeface="Segoe UI"/>
              </a:rPr>
              <a:t>Protection contre l'altération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0_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-285750"/>
            <a:ext cx="6000750" cy="6286500"/>
          </a:xfrm>
          <a:prstGeom prst="rect">
            <a:avLst/>
          </a:prstGeom>
        </p:spPr>
      </p:pic>
      <p:pic>
        <p:nvPicPr>
          <p:cNvPr id="3" name="Picture 2" descr="temp_slide_0_el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0" y="95250"/>
            <a:ext cx="1200150" cy="895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0" y="409575"/>
            <a:ext cx="457200" cy="249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 b="1" dirty="0">
                <a:solidFill>
                  <a:srgbClr val="333333"/>
                </a:solidFill>
                <a:latin typeface="Segoe UI"/>
              </a:rPr>
              <a:t>1</a:t>
            </a:r>
            <a:r>
              <a:rPr lang="fr-FR" sz="1500" b="1" dirty="0">
                <a:solidFill>
                  <a:srgbClr val="333333"/>
                </a:solidFill>
                <a:latin typeface="Segoe UI"/>
              </a:rPr>
              <a:t>6</a:t>
            </a:r>
            <a:endParaRPr sz="1500" b="1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600075"/>
            <a:ext cx="77152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4500" b="1" i="1">
                <a:solidFill>
                  <a:srgbClr val="2388FF"/>
                </a:solidFill>
                <a:latin typeface="Georgia"/>
              </a:rPr>
              <a:t>Confidentialité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34099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temp_icon_slide_0_el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571875"/>
            <a:ext cx="361950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3371850"/>
            <a:ext cx="469389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2700">
                <a:solidFill>
                  <a:srgbClr val="333333"/>
                </a:solidFill>
                <a:latin typeface="Segoe UI"/>
              </a:rPr>
              <a:t>S’assurer que </a:t>
            </a:r>
            <a:r>
              <a:rPr sz="2700" b="1" i="1">
                <a:solidFill>
                  <a:srgbClr val="2388FF"/>
                </a:solidFill>
                <a:latin typeface="Georgia"/>
              </a:rPr>
              <a:t>seules les personnes autorisées</a:t>
            </a:r>
            <a:r>
              <a:rPr sz="2700">
                <a:solidFill>
                  <a:srgbClr val="333333"/>
                </a:solidFill>
                <a:latin typeface="Segoe UI"/>
              </a:rPr>
              <a:t> ont accès aux données.</a:t>
            </a:r>
          </a:p>
        </p:txBody>
      </p:sp>
      <p:pic>
        <p:nvPicPr>
          <p:cNvPr id="9" name="Picture 8" descr="temp_slide_0_el_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770" y="2462212"/>
            <a:ext cx="4572000" cy="3105150"/>
          </a:xfrm>
          <a:prstGeom prst="rect">
            <a:avLst/>
          </a:prstGeom>
        </p:spPr>
      </p:pic>
      <p:pic>
        <p:nvPicPr>
          <p:cNvPr id="10" name="Picture 9" descr="temp_slide_0_el_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1295" y="2319337"/>
            <a:ext cx="1665982" cy="9144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8709570" y="3290887"/>
            <a:ext cx="914400" cy="914400"/>
          </a:xfrm>
          <a:prstGeom prst="ellipse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temp_icon_slide_0_el_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5320" y="3519487"/>
            <a:ext cx="3429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66496" y="4510087"/>
            <a:ext cx="44005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4444"/>
              </a:lnSpc>
            </a:pPr>
            <a:r>
              <a:rPr sz="2700" b="1" i="1">
                <a:solidFill>
                  <a:srgbClr val="000000"/>
                </a:solidFill>
                <a:latin typeface="Georgia"/>
              </a:rPr>
              <a:t>Secret médical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0_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-285750"/>
            <a:ext cx="6000750" cy="6286500"/>
          </a:xfrm>
          <a:prstGeom prst="rect">
            <a:avLst/>
          </a:prstGeom>
        </p:spPr>
      </p:pic>
      <p:pic>
        <p:nvPicPr>
          <p:cNvPr id="3" name="Picture 2" descr="temp_slide_0_el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825" y="95250"/>
            <a:ext cx="1200150" cy="895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9525" y="409575"/>
            <a:ext cx="457200" cy="249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 b="1" dirty="0">
                <a:solidFill>
                  <a:srgbClr val="333333"/>
                </a:solidFill>
                <a:latin typeface="Segoe UI"/>
              </a:rPr>
              <a:t>1</a:t>
            </a:r>
            <a:r>
              <a:rPr lang="fr-FR" sz="1500" b="1" dirty="0">
                <a:solidFill>
                  <a:srgbClr val="333333"/>
                </a:solidFill>
                <a:latin typeface="Segoe UI"/>
              </a:rPr>
              <a:t>7</a:t>
            </a:r>
            <a:endParaRPr sz="1500" b="1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571500"/>
            <a:ext cx="2133600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4500" b="1" i="1">
                <a:solidFill>
                  <a:srgbClr val="2388FF"/>
                </a:solidFill>
                <a:latin typeface="Georgia"/>
              </a:rPr>
              <a:t>Preuve</a:t>
            </a:r>
            <a:r>
              <a:rPr sz="4500" b="1">
                <a:solidFill>
                  <a:srgbClr val="000000"/>
                </a:solidFill>
                <a:latin typeface="Segoe UI"/>
              </a:rPr>
              <a:t> (Auditabilité)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438400" y="2449115"/>
            <a:ext cx="17068800" cy="46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8125"/>
              </a:lnSpc>
            </a:pPr>
            <a:r>
              <a:rPr sz="2250">
                <a:solidFill>
                  <a:srgbClr val="333333"/>
                </a:solidFill>
                <a:latin typeface="Segoe UI"/>
              </a:rPr>
              <a:t>Capacité de </a:t>
            </a:r>
            <a:r>
              <a:rPr sz="2250" b="1" i="1">
                <a:solidFill>
                  <a:srgbClr val="2388FF"/>
                </a:solidFill>
                <a:latin typeface="Georgia"/>
              </a:rPr>
              <a:t>tracer les actions</a:t>
            </a:r>
            <a:r>
              <a:rPr sz="2250">
                <a:solidFill>
                  <a:srgbClr val="333333"/>
                </a:solidFill>
                <a:latin typeface="Segoe UI"/>
              </a:rPr>
              <a:t> pour garantir la responsabilité.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4532709"/>
            <a:ext cx="8991600" cy="38100"/>
          </a:xfrm>
          <a:prstGeom prst="roundRect">
            <a:avLst>
              <a:gd name="adj" fmla="val 100000"/>
            </a:avLst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00200" y="3523059"/>
            <a:ext cx="1524000" cy="20574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emp_slide_0_el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850" y="3389709"/>
            <a:ext cx="1790700" cy="1790700"/>
          </a:xfrm>
          <a:prstGeom prst="rect">
            <a:avLst/>
          </a:prstGeom>
        </p:spPr>
      </p:pic>
      <p:pic>
        <p:nvPicPr>
          <p:cNvPr id="10" name="Picture 9" descr="temp_icon_slide_0_el_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2662" y="4113609"/>
            <a:ext cx="219075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09775" y="5123259"/>
            <a:ext cx="14097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333"/>
              </a:lnSpc>
            </a:pPr>
            <a:r>
              <a:rPr sz="1800" b="1">
                <a:solidFill>
                  <a:srgbClr val="000000"/>
                </a:solidFill>
                <a:latin typeface="Segoe UI"/>
              </a:rPr>
              <a:t>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86212" y="4408884"/>
            <a:ext cx="333375" cy="28575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temp_icon_slide_0_el_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2412" y="4408884"/>
            <a:ext cx="180975" cy="2857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181600" y="3523059"/>
            <a:ext cx="1524000" cy="20574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temp_slide_0_el_1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250" y="3389709"/>
            <a:ext cx="1790700" cy="1790700"/>
          </a:xfrm>
          <a:prstGeom prst="rect">
            <a:avLst/>
          </a:prstGeom>
        </p:spPr>
      </p:pic>
      <p:pic>
        <p:nvPicPr>
          <p:cNvPr id="16" name="Picture 15" descr="temp_icon_slide_0_el_1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2150" y="4113609"/>
            <a:ext cx="342900" cy="342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53087" y="5123259"/>
            <a:ext cx="1371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333"/>
              </a:lnSpc>
            </a:pPr>
            <a:r>
              <a:rPr sz="1800" b="1">
                <a:solidFill>
                  <a:srgbClr val="000000"/>
                </a:solidFill>
                <a:latin typeface="Segoe UI"/>
              </a:rPr>
              <a:t>Trace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67612" y="4408884"/>
            <a:ext cx="333375" cy="28575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temp_icon_slide_0_el_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3812" y="4408884"/>
            <a:ext cx="180975" cy="28575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763000" y="3523059"/>
            <a:ext cx="1828800" cy="20574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temp_slide_0_el_1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2050" y="3389709"/>
            <a:ext cx="1790700" cy="1790700"/>
          </a:xfrm>
          <a:prstGeom prst="rect">
            <a:avLst/>
          </a:prstGeom>
        </p:spPr>
      </p:pic>
      <p:pic>
        <p:nvPicPr>
          <p:cNvPr id="22" name="Picture 21" descr="temp_icon_slide_0_el_2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5950" y="4113609"/>
            <a:ext cx="342900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915400" y="5123259"/>
            <a:ext cx="3048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333"/>
              </a:lnSpc>
            </a:pPr>
            <a:r>
              <a:rPr sz="1800" b="1">
                <a:solidFill>
                  <a:srgbClr val="000000"/>
                </a:solidFill>
                <a:latin typeface="Segoe UI"/>
              </a:rPr>
              <a:t>Responsabilité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bg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emp_slide_0_el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-285750"/>
            <a:ext cx="6000750" cy="6286500"/>
          </a:xfrm>
          <a:prstGeom prst="rect">
            <a:avLst/>
          </a:prstGeom>
        </p:spPr>
      </p:pic>
      <p:pic>
        <p:nvPicPr>
          <p:cNvPr id="4" name="Picture 3" descr="temp_slide_0_el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25" y="95250"/>
            <a:ext cx="1533525" cy="895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91900" y="409575"/>
            <a:ext cx="457200" cy="249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lang="fr-FR" sz="1500" b="1" dirty="0">
                <a:solidFill>
                  <a:srgbClr val="333333"/>
                </a:solidFill>
                <a:latin typeface="Segoe UI"/>
              </a:rPr>
              <a:t>18</a:t>
            </a:r>
            <a:endParaRPr sz="1500" b="1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71450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 i="1">
                <a:solidFill>
                  <a:srgbClr val="2388FF"/>
                </a:solidFill>
                <a:latin typeface="Georgia"/>
              </a:rPr>
              <a:t>ISO 27001</a:t>
            </a:r>
            <a:r>
              <a:rPr sz="3600" b="1">
                <a:solidFill>
                  <a:srgbClr val="000000"/>
                </a:solidFill>
                <a:latin typeface="Segoe UI"/>
              </a:rPr>
              <a:t>, référence du SMSI</a:t>
            </a:r>
          </a:p>
        </p:txBody>
      </p:sp>
      <p:pic>
        <p:nvPicPr>
          <p:cNvPr id="7" name="Picture 6" descr="temp_icon_slide_0_el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0" y="2481262"/>
            <a:ext cx="2857500" cy="2857500"/>
          </a:xfrm>
          <a:prstGeom prst="rect">
            <a:avLst/>
          </a:prstGeom>
        </p:spPr>
      </p:pic>
      <p:pic>
        <p:nvPicPr>
          <p:cNvPr id="8" name="Picture 7" descr="temp_slide_0_el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2600325"/>
            <a:ext cx="9144000" cy="26193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76475" y="3352800"/>
            <a:ext cx="7639050" cy="111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8125"/>
              </a:lnSpc>
            </a:pPr>
            <a:r>
              <a:rPr sz="2700" b="1">
                <a:solidFill>
                  <a:srgbClr val="2388FF"/>
                </a:solidFill>
                <a:latin typeface="Segoe UI"/>
              </a:rPr>
              <a:t>ISO 27001</a:t>
            </a:r>
            <a:r>
              <a:rPr sz="2700">
                <a:solidFill>
                  <a:srgbClr val="333333"/>
                </a:solidFill>
                <a:latin typeface="Segoe UI"/>
              </a:rPr>
              <a:t> est la référence internationale pour le </a:t>
            </a:r>
            <a:r>
              <a:rPr sz="2700" b="1" i="1">
                <a:solidFill>
                  <a:srgbClr val="333333"/>
                </a:solidFill>
                <a:latin typeface="Georgia"/>
              </a:rPr>
              <a:t>SMSI</a:t>
            </a:r>
            <a:r>
              <a:rPr sz="270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bg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emp_slide_0_el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-285750"/>
            <a:ext cx="6000750" cy="6286500"/>
          </a:xfrm>
          <a:prstGeom prst="rect">
            <a:avLst/>
          </a:prstGeom>
        </p:spPr>
      </p:pic>
      <p:pic>
        <p:nvPicPr>
          <p:cNvPr id="4" name="Picture 3" descr="temp_slide_0_el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7450" y="95250"/>
            <a:ext cx="1533525" cy="895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9525" y="409575"/>
            <a:ext cx="457200" cy="249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lang="fr-FR" sz="1500" b="1" dirty="0">
                <a:solidFill>
                  <a:srgbClr val="333333"/>
                </a:solidFill>
                <a:latin typeface="Segoe UI"/>
              </a:rPr>
              <a:t>19</a:t>
            </a:r>
            <a:endParaRPr sz="1500" b="1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213360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 i="1">
                <a:solidFill>
                  <a:srgbClr val="2388FF"/>
                </a:solidFill>
                <a:latin typeface="Georgia"/>
              </a:rPr>
              <a:t>Applicabilité</a:t>
            </a:r>
            <a:r>
              <a:rPr sz="3600" b="1">
                <a:solidFill>
                  <a:srgbClr val="000000"/>
                </a:solidFill>
                <a:latin typeface="Segoe UI"/>
              </a:rPr>
              <a:t> universelle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304925"/>
            <a:ext cx="15240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>
                <a:solidFill>
                  <a:srgbClr val="666666"/>
                </a:solidFill>
                <a:latin typeface="Segoe UI"/>
              </a:rPr>
              <a:t>S’adresse à tout organisme indépendamment de :</a:t>
            </a:r>
          </a:p>
        </p:txBody>
      </p:sp>
      <p:pic>
        <p:nvPicPr>
          <p:cNvPr id="8" name="Picture 7" descr="temp_slide_0_el_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347912"/>
            <a:ext cx="3924300" cy="36195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2057400" y="3313509"/>
            <a:ext cx="762000" cy="762000"/>
          </a:xfrm>
          <a:prstGeom prst="ellipse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emp_icon_slide_0_el_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5525" y="3551634"/>
            <a:ext cx="285750" cy="285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57375" y="4304109"/>
            <a:ext cx="11620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333"/>
              </a:lnSpc>
            </a:pPr>
            <a:r>
              <a:rPr sz="1800" b="1" i="1">
                <a:solidFill>
                  <a:srgbClr val="000000"/>
                </a:solidFill>
                <a:latin typeface="Georgia"/>
              </a:rPr>
              <a:t>Taille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25" y="4723209"/>
            <a:ext cx="3943350" cy="2786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8125"/>
              </a:lnSpc>
            </a:pPr>
            <a:r>
              <a:rPr sz="1350">
                <a:solidFill>
                  <a:srgbClr val="666666"/>
                </a:solidFill>
                <a:latin typeface="Segoe UI"/>
              </a:rPr>
              <a:t>PME ou grande entreprise</a:t>
            </a:r>
          </a:p>
        </p:txBody>
      </p:sp>
      <p:pic>
        <p:nvPicPr>
          <p:cNvPr id="13" name="Picture 12" descr="temp_slide_0_el_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3850" y="2347912"/>
            <a:ext cx="3924300" cy="361950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5715000" y="3313509"/>
            <a:ext cx="762000" cy="762000"/>
          </a:xfrm>
          <a:prstGeom prst="ellipse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temp_icon_slide_0_el_1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3125" y="3551634"/>
            <a:ext cx="285750" cy="2857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0" y="4304109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333"/>
              </a:lnSpc>
            </a:pPr>
            <a:r>
              <a:rPr sz="1800" b="1" i="1">
                <a:solidFill>
                  <a:srgbClr val="000000"/>
                </a:solidFill>
                <a:latin typeface="Georgia"/>
              </a:rPr>
              <a:t>Secteur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1575" y="4723209"/>
            <a:ext cx="2228850" cy="2786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8125"/>
              </a:lnSpc>
            </a:pPr>
            <a:r>
              <a:rPr sz="1350">
                <a:solidFill>
                  <a:srgbClr val="666666"/>
                </a:solidFill>
                <a:latin typeface="Segoe UI"/>
              </a:rPr>
              <a:t>Public ou privé</a:t>
            </a:r>
          </a:p>
        </p:txBody>
      </p:sp>
      <p:pic>
        <p:nvPicPr>
          <p:cNvPr id="18" name="Picture 17" descr="temp_slide_0_el_1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1450" y="2347912"/>
            <a:ext cx="3924300" cy="361950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9372600" y="3313509"/>
            <a:ext cx="762000" cy="762000"/>
          </a:xfrm>
          <a:prstGeom prst="ellipse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temp_icon_slide_0_el_1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72625" y="3551634"/>
            <a:ext cx="361950" cy="2857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10525" y="4304109"/>
            <a:ext cx="34861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333"/>
              </a:lnSpc>
            </a:pPr>
            <a:r>
              <a:rPr sz="1800" b="1" i="1">
                <a:solidFill>
                  <a:srgbClr val="000000"/>
                </a:solidFill>
                <a:latin typeface="Georgia"/>
              </a:rPr>
              <a:t>Nature d’activité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7700" y="4723209"/>
            <a:ext cx="2971800" cy="2786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8125"/>
              </a:lnSpc>
            </a:pPr>
            <a:r>
              <a:rPr sz="1350">
                <a:solidFill>
                  <a:srgbClr val="666666"/>
                </a:solidFill>
                <a:latin typeface="Segoe UI"/>
              </a:rPr>
              <a:t>Tout type d'activité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bg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emp_slide_0_el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-285750"/>
            <a:ext cx="6000750" cy="6286500"/>
          </a:xfrm>
          <a:prstGeom prst="rect">
            <a:avLst/>
          </a:prstGeom>
        </p:spPr>
      </p:pic>
      <p:pic>
        <p:nvPicPr>
          <p:cNvPr id="4" name="Picture 3" descr="temp_slide_0_el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1625" y="95250"/>
            <a:ext cx="2390775" cy="895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10950" y="409575"/>
            <a:ext cx="457200" cy="249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lang="fr-FR" sz="1500" b="1" dirty="0">
                <a:solidFill>
                  <a:srgbClr val="333333"/>
                </a:solidFill>
                <a:latin typeface="Segoe UI"/>
              </a:rPr>
              <a:t>20</a:t>
            </a:r>
            <a:endParaRPr sz="1500" b="1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71450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 i="1">
                <a:solidFill>
                  <a:srgbClr val="2388FF"/>
                </a:solidFill>
                <a:latin typeface="Georgia"/>
              </a:rPr>
              <a:t>Distinguer</a:t>
            </a:r>
            <a:r>
              <a:rPr sz="3600" b="1">
                <a:solidFill>
                  <a:srgbClr val="000000"/>
                </a:solidFill>
                <a:latin typeface="Segoe UI"/>
              </a:rPr>
              <a:t> deux normes</a:t>
            </a:r>
          </a:p>
        </p:txBody>
      </p:sp>
      <p:pic>
        <p:nvPicPr>
          <p:cNvPr id="7" name="Picture 6" descr="temp_slide_0_el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624012"/>
            <a:ext cx="5519737" cy="457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1525" y="1919287"/>
            <a:ext cx="4929187" cy="76200"/>
          </a:xfrm>
          <a:prstGeom prst="rect">
            <a:avLst/>
          </a:prstGeom>
          <a:solidFill>
            <a:srgbClr val="2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6325" y="2224087"/>
            <a:ext cx="533400" cy="533400"/>
          </a:xfrm>
          <a:prstGeom prst="ellipse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emp_icon_slide_0_el_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8725" y="2376487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62125" y="2319337"/>
            <a:ext cx="2552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50" b="1" i="1">
                <a:solidFill>
                  <a:srgbClr val="000000"/>
                </a:solidFill>
                <a:latin typeface="Georgia"/>
              </a:rPr>
              <a:t>ISO 27001</a:t>
            </a:r>
          </a:p>
        </p:txBody>
      </p:sp>
      <p:pic>
        <p:nvPicPr>
          <p:cNvPr id="12" name="Picture 11" descr="temp_icon_slide_0_el_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3100387"/>
            <a:ext cx="152400" cy="581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81125" y="3062287"/>
            <a:ext cx="4014787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500">
                <a:solidFill>
                  <a:srgbClr val="333333"/>
                </a:solidFill>
                <a:latin typeface="Segoe UI"/>
              </a:rPr>
              <a:t>Définit les exigences pour mettre en place et </a:t>
            </a:r>
            <a:r>
              <a:rPr sz="1500" b="1">
                <a:solidFill>
                  <a:srgbClr val="2388FF"/>
                </a:solidFill>
                <a:latin typeface="Segoe UI"/>
              </a:rPr>
              <a:t>certifier</a:t>
            </a:r>
            <a:r>
              <a:rPr sz="1500">
                <a:solidFill>
                  <a:srgbClr val="333333"/>
                </a:solidFill>
                <a:latin typeface="Segoe UI"/>
              </a:rPr>
              <a:t> un SMSI</a:t>
            </a:r>
          </a:p>
        </p:txBody>
      </p:sp>
      <p:pic>
        <p:nvPicPr>
          <p:cNvPr id="14" name="Picture 13" descr="temp_slide_0_el_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75" y="4681537"/>
            <a:ext cx="4891087" cy="12001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8250" y="5186362"/>
            <a:ext cx="151090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1429"/>
              </a:lnSpc>
            </a:pPr>
            <a:r>
              <a:rPr sz="1050" b="1">
                <a:solidFill>
                  <a:srgbClr val="2388FF"/>
                </a:solidFill>
                <a:latin typeface="Segoe UI"/>
              </a:rPr>
              <a:t>Verbe clé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6101" y="5129212"/>
            <a:ext cx="13906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333"/>
              </a:lnSpc>
            </a:pPr>
            <a:r>
              <a:rPr sz="1800" b="1">
                <a:solidFill>
                  <a:srgbClr val="000000"/>
                </a:solidFill>
                <a:latin typeface="Segoe UI"/>
              </a:rPr>
              <a:t>« Shall » </a:t>
            </a:r>
            <a:r>
              <a:rPr sz="1350" i="1">
                <a:solidFill>
                  <a:srgbClr val="666666"/>
                </a:solidFill>
                <a:latin typeface="Segoe UI"/>
              </a:rPr>
              <a:t>(doit)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1237" y="1909762"/>
            <a:ext cx="9525" cy="40005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0" y="3643312"/>
            <a:ext cx="304800" cy="5334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19800" y="3833812"/>
            <a:ext cx="32004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1429"/>
              </a:lnSpc>
            </a:pPr>
            <a:r>
              <a:rPr sz="1050" b="1" i="1">
                <a:solidFill>
                  <a:srgbClr val="CCCCCC"/>
                </a:solidFill>
                <a:latin typeface="Georgia"/>
              </a:rPr>
              <a:t>VS</a:t>
            </a:r>
          </a:p>
        </p:txBody>
      </p:sp>
      <p:pic>
        <p:nvPicPr>
          <p:cNvPr id="20" name="Picture 19" descr="temp_slide_0_el_1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6012" y="1624012"/>
            <a:ext cx="5519737" cy="45720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491287" y="1919287"/>
            <a:ext cx="4929187" cy="76200"/>
          </a:xfrm>
          <a:prstGeom prst="rect">
            <a:avLst/>
          </a:prstGeom>
          <a:solidFill>
            <a:srgbClr val="0F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796087" y="2224087"/>
            <a:ext cx="533400" cy="533400"/>
          </a:xfrm>
          <a:prstGeom prst="ellipse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temp_icon_slide_0_el_2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4200" y="2376487"/>
            <a:ext cx="257175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481887" y="2319337"/>
            <a:ext cx="25908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50" b="1" i="1">
                <a:solidFill>
                  <a:srgbClr val="000000"/>
                </a:solidFill>
                <a:latin typeface="Georgia"/>
              </a:rPr>
              <a:t>ISO 27002</a:t>
            </a:r>
          </a:p>
        </p:txBody>
      </p:sp>
      <p:pic>
        <p:nvPicPr>
          <p:cNvPr id="25" name="Picture 24" descr="temp_icon_slide_0_el_2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96087" y="3100387"/>
            <a:ext cx="152400" cy="5810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00887" y="3062287"/>
            <a:ext cx="4014787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500">
                <a:solidFill>
                  <a:srgbClr val="333333"/>
                </a:solidFill>
                <a:latin typeface="Segoe UI"/>
              </a:rPr>
              <a:t>Code de bonnes pratiques détaillant des mesures de sécurité</a:t>
            </a:r>
          </a:p>
        </p:txBody>
      </p:sp>
      <p:pic>
        <p:nvPicPr>
          <p:cNvPr id="27" name="Picture 26" descr="temp_icon_slide_0_el_2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6087" y="3948112"/>
            <a:ext cx="152400" cy="27146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100887" y="3910012"/>
            <a:ext cx="5105400" cy="309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500">
                <a:solidFill>
                  <a:srgbClr val="333333"/>
                </a:solidFill>
                <a:latin typeface="Segoe UI"/>
              </a:rPr>
              <a:t>Ne permet </a:t>
            </a:r>
            <a:r>
              <a:rPr sz="1500" b="1">
                <a:solidFill>
                  <a:srgbClr val="EF4444"/>
                </a:solidFill>
                <a:latin typeface="Segoe UI"/>
              </a:rPr>
              <a:t>pas</a:t>
            </a:r>
            <a:r>
              <a:rPr sz="1500">
                <a:solidFill>
                  <a:srgbClr val="333333"/>
                </a:solidFill>
                <a:latin typeface="Segoe UI"/>
              </a:rPr>
              <a:t> la certification</a:t>
            </a:r>
          </a:p>
        </p:txBody>
      </p:sp>
      <p:pic>
        <p:nvPicPr>
          <p:cNvPr id="29" name="Picture 28" descr="temp_slide_0_el_2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0337" y="4681537"/>
            <a:ext cx="4891087" cy="12001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58012" y="5186362"/>
            <a:ext cx="151090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1429"/>
              </a:lnSpc>
            </a:pPr>
            <a:r>
              <a:rPr sz="1050" b="1">
                <a:solidFill>
                  <a:srgbClr val="0FB981"/>
                </a:solidFill>
                <a:latin typeface="Segoe UI"/>
              </a:rPr>
              <a:t>Verbe clé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5864" y="5129212"/>
            <a:ext cx="1838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333"/>
              </a:lnSpc>
            </a:pPr>
            <a:r>
              <a:rPr sz="1800" b="1">
                <a:solidFill>
                  <a:srgbClr val="000000"/>
                </a:solidFill>
                <a:latin typeface="Segoe UI"/>
              </a:rPr>
              <a:t>« Should » </a:t>
            </a:r>
            <a:r>
              <a:rPr sz="1350" i="1">
                <a:solidFill>
                  <a:srgbClr val="666666"/>
                </a:solidFill>
                <a:latin typeface="Segoe UI"/>
              </a:rPr>
              <a:t>(devrait)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bg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emp_slide_0_el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0" y="-285750"/>
            <a:ext cx="5048250" cy="5334000"/>
          </a:xfrm>
          <a:prstGeom prst="rect">
            <a:avLst/>
          </a:prstGeom>
        </p:spPr>
      </p:pic>
      <p:pic>
        <p:nvPicPr>
          <p:cNvPr id="4" name="Picture 3" descr="temp_slide_0_el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650" y="95250"/>
            <a:ext cx="1809750" cy="895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10950" y="409575"/>
            <a:ext cx="457200" cy="249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lang="fr-FR" sz="1500" b="1" dirty="0">
                <a:solidFill>
                  <a:srgbClr val="333333"/>
                </a:solidFill>
                <a:latin typeface="Segoe UI"/>
              </a:rPr>
              <a:t>21</a:t>
            </a:r>
            <a:endParaRPr sz="1500" b="1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71450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>
                <a:solidFill>
                  <a:srgbClr val="000000"/>
                </a:solidFill>
                <a:latin typeface="Segoe UI"/>
              </a:rPr>
              <a:t>Démarrer la </a:t>
            </a:r>
            <a:r>
              <a:rPr sz="3600" b="1" i="1">
                <a:solidFill>
                  <a:srgbClr val="2388FF"/>
                </a:solidFill>
                <a:latin typeface="Georgia"/>
              </a:rPr>
              <a:t>mise en œuvre</a:t>
            </a:r>
            <a:r>
              <a:rPr sz="3600" b="1">
                <a:solidFill>
                  <a:srgbClr val="000000"/>
                </a:solidFill>
                <a:latin typeface="Segoe UI"/>
              </a:rPr>
              <a:t> du SMSI</a:t>
            </a:r>
          </a:p>
        </p:txBody>
      </p:sp>
      <p:pic>
        <p:nvPicPr>
          <p:cNvPr id="7" name="Picture 6" descr="temp_slide_0_el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1869281"/>
            <a:ext cx="5143500" cy="31099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343025" y="2164556"/>
            <a:ext cx="4552950" cy="76200"/>
          </a:xfrm>
          <a:prstGeom prst="rect">
            <a:avLst/>
          </a:prstGeom>
          <a:solidFill>
            <a:srgbClr val="2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238500" y="2545556"/>
            <a:ext cx="762000" cy="762000"/>
          </a:xfrm>
          <a:prstGeom prst="ellipse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emp_icon_slide_0_el_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6625" y="2783681"/>
            <a:ext cx="285750" cy="285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28875" y="3536156"/>
            <a:ext cx="23812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333"/>
              </a:lnSpc>
            </a:pPr>
            <a:r>
              <a:rPr sz="1800" b="1" i="1">
                <a:solidFill>
                  <a:srgbClr val="000000"/>
                </a:solidFill>
                <a:latin typeface="Georgia"/>
              </a:rPr>
              <a:t>Le Contexte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" y="3993356"/>
            <a:ext cx="7010400" cy="309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8125"/>
              </a:lnSpc>
            </a:pPr>
            <a:r>
              <a:rPr sz="1500">
                <a:solidFill>
                  <a:srgbClr val="666666"/>
                </a:solidFill>
                <a:latin typeface="Segoe UI"/>
              </a:rPr>
              <a:t>Commencer par comprendre le contexte</a:t>
            </a:r>
          </a:p>
        </p:txBody>
      </p:sp>
      <p:pic>
        <p:nvPicPr>
          <p:cNvPr id="13" name="Picture 12" descr="temp_slide_0_el_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50" y="1869281"/>
            <a:ext cx="5143500" cy="310991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96025" y="2164556"/>
            <a:ext cx="4552950" cy="76200"/>
          </a:xfrm>
          <a:prstGeom prst="rect">
            <a:avLst/>
          </a:prstGeom>
          <a:solidFill>
            <a:srgbClr val="2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191500" y="2545556"/>
            <a:ext cx="762000" cy="762000"/>
          </a:xfrm>
          <a:prstGeom prst="ellipse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temp_icon_slide_0_el_1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8675" y="2783681"/>
            <a:ext cx="247650" cy="2857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05675" y="3536156"/>
            <a:ext cx="25336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333"/>
              </a:lnSpc>
            </a:pPr>
            <a:r>
              <a:rPr sz="1800" b="1" i="1">
                <a:solidFill>
                  <a:srgbClr val="000000"/>
                </a:solidFill>
                <a:latin typeface="Georgia"/>
              </a:rPr>
              <a:t>La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750" y="3993356"/>
            <a:ext cx="3619500" cy="309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8125"/>
              </a:lnSpc>
            </a:pPr>
            <a:r>
              <a:rPr sz="1500">
                <a:solidFill>
                  <a:srgbClr val="666666"/>
                </a:solidFill>
                <a:latin typeface="Segoe UI"/>
              </a:rPr>
              <a:t>Impliquer la direction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bg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emp_slide_0_el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-285750"/>
            <a:ext cx="6000750" cy="6286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91900" y="409575"/>
            <a:ext cx="457200" cy="249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lang="fr-FR" sz="1500" b="1" dirty="0">
                <a:solidFill>
                  <a:srgbClr val="333333"/>
                </a:solidFill>
                <a:latin typeface="Segoe UI"/>
              </a:rPr>
              <a:t>22</a:t>
            </a:r>
            <a:endParaRPr sz="1500" b="1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8572500" cy="546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 i="1" dirty="0">
                <a:solidFill>
                  <a:srgbClr val="2388FF"/>
                </a:solidFill>
                <a:latin typeface="Georgia"/>
              </a:rPr>
              <a:t>La planification</a:t>
            </a:r>
            <a:r>
              <a:rPr sz="3600" b="1" dirty="0">
                <a:solidFill>
                  <a:srgbClr val="000000"/>
                </a:solidFill>
                <a:latin typeface="Segoe UI"/>
              </a:rPr>
              <a:t> au </a:t>
            </a:r>
            <a:r>
              <a:rPr sz="3600" b="1" dirty="0" err="1">
                <a:solidFill>
                  <a:srgbClr val="000000"/>
                </a:solidFill>
                <a:latin typeface="Segoe UI"/>
              </a:rPr>
              <a:t>cœur</a:t>
            </a:r>
            <a:r>
              <a:rPr sz="3600" b="1" dirty="0">
                <a:solidFill>
                  <a:srgbClr val="000000"/>
                </a:solidFill>
                <a:latin typeface="Segoe UI"/>
              </a:rPr>
              <a:t> du </a:t>
            </a:r>
            <a:r>
              <a:rPr sz="3600" b="1" dirty="0" err="1">
                <a:solidFill>
                  <a:srgbClr val="000000"/>
                </a:solidFill>
                <a:latin typeface="Segoe UI"/>
              </a:rPr>
              <a:t>système</a:t>
            </a:r>
            <a:endParaRPr sz="3600" b="1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3429000" y="2591990"/>
            <a:ext cx="19050000" cy="46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8125"/>
              </a:lnSpc>
            </a:pPr>
            <a:r>
              <a:rPr sz="2250">
                <a:solidFill>
                  <a:srgbClr val="333333"/>
                </a:solidFill>
                <a:latin typeface="Segoe UI"/>
              </a:rPr>
              <a:t>Le cœur du système est la </a:t>
            </a:r>
            <a:r>
              <a:rPr sz="2250" b="1" i="1">
                <a:solidFill>
                  <a:srgbClr val="2388FF"/>
                </a:solidFill>
                <a:latin typeface="Georgia"/>
              </a:rPr>
              <a:t>planification</a:t>
            </a:r>
            <a:r>
              <a:rPr sz="225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3429000" y="3208734"/>
            <a:ext cx="19050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9000"/>
              </a:lnSpc>
            </a:pPr>
            <a:r>
              <a:rPr sz="1500">
                <a:solidFill>
                  <a:srgbClr val="666666"/>
                </a:solidFill>
                <a:latin typeface="Segoe UI"/>
              </a:rPr>
              <a:t>Elle repose sur :</a:t>
            </a:r>
          </a:p>
        </p:txBody>
      </p:sp>
      <p:pic>
        <p:nvPicPr>
          <p:cNvPr id="9" name="Picture 8" descr="temp_slide_0_el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799284"/>
            <a:ext cx="3238500" cy="228600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133600" y="4332684"/>
            <a:ext cx="533400" cy="533400"/>
          </a:xfrm>
          <a:prstGeom prst="ellipse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emp_icon_slide_0_el_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4485084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04925" y="5018484"/>
            <a:ext cx="21907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900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Planification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1175" y="5361384"/>
            <a:ext cx="1238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1429"/>
              </a:lnSpc>
            </a:pPr>
            <a:r>
              <a:rPr sz="1050">
                <a:solidFill>
                  <a:srgbClr val="666666"/>
                </a:solidFill>
                <a:latin typeface="Segoe UI"/>
              </a:rPr>
              <a:t>Chapitre 6</a:t>
            </a:r>
          </a:p>
        </p:txBody>
      </p:sp>
      <p:pic>
        <p:nvPicPr>
          <p:cNvPr id="14" name="Picture 13" descr="temp_icon_slide_0_el_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5275" y="4799409"/>
            <a:ext cx="247650" cy="285750"/>
          </a:xfrm>
          <a:prstGeom prst="rect">
            <a:avLst/>
          </a:prstGeom>
        </p:spPr>
      </p:pic>
      <p:pic>
        <p:nvPicPr>
          <p:cNvPr id="15" name="Picture 14" descr="temp_slide_0_el_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6750" y="3799284"/>
            <a:ext cx="3238500" cy="228600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5829300" y="4466034"/>
            <a:ext cx="533400" cy="533400"/>
          </a:xfrm>
          <a:prstGeom prst="ellipse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temp_icon_slide_0_el_1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1700" y="4618434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933825" y="5151834"/>
            <a:ext cx="43243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900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Appréciation des risques</a:t>
            </a:r>
          </a:p>
        </p:txBody>
      </p:sp>
      <p:pic>
        <p:nvPicPr>
          <p:cNvPr id="19" name="Picture 18" descr="temp_icon_slide_0_el_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9075" y="4799409"/>
            <a:ext cx="247650" cy="285750"/>
          </a:xfrm>
          <a:prstGeom prst="rect">
            <a:avLst/>
          </a:prstGeom>
        </p:spPr>
      </p:pic>
      <p:pic>
        <p:nvPicPr>
          <p:cNvPr id="20" name="Picture 19" descr="temp_slide_0_el_1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0550" y="3799284"/>
            <a:ext cx="3238500" cy="2286000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9563100" y="4466034"/>
            <a:ext cx="533400" cy="53340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temp_icon_slide_0_el_1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15500" y="4618434"/>
            <a:ext cx="22860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48600" y="5151834"/>
            <a:ext cx="39624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900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Traitement des risques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38500" y="3752850"/>
            <a:ext cx="5715000" cy="381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bg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emp_slide_0_el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-285750"/>
            <a:ext cx="6000750" cy="6286500"/>
          </a:xfrm>
          <a:prstGeom prst="rect">
            <a:avLst/>
          </a:prstGeom>
        </p:spPr>
      </p:pic>
      <p:pic>
        <p:nvPicPr>
          <p:cNvPr id="4" name="Picture 3" descr="temp_slide_0_el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3125" y="95250"/>
            <a:ext cx="1809750" cy="895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01425" y="409575"/>
            <a:ext cx="457200" cy="249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lang="fr-FR" sz="1500" b="1" dirty="0">
                <a:solidFill>
                  <a:srgbClr val="333333"/>
                </a:solidFill>
                <a:latin typeface="Segoe UI"/>
              </a:rPr>
              <a:t>23</a:t>
            </a:r>
            <a:endParaRPr sz="1500" b="1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71450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>
                <a:solidFill>
                  <a:srgbClr val="000000"/>
                </a:solidFill>
                <a:latin typeface="Segoe UI"/>
              </a:rPr>
              <a:t>Déclaration d’Applicabilité </a:t>
            </a:r>
            <a:r>
              <a:rPr sz="3600" b="1" i="1">
                <a:solidFill>
                  <a:srgbClr val="2388FF"/>
                </a:solidFill>
                <a:latin typeface="Georgia"/>
              </a:rPr>
              <a:t>(DdA/SoA)</a:t>
            </a:r>
          </a:p>
        </p:txBody>
      </p:sp>
      <p:pic>
        <p:nvPicPr>
          <p:cNvPr id="7" name="Picture 6" descr="temp_slide_0_el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512093"/>
            <a:ext cx="5676900" cy="17049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8700" y="2026443"/>
            <a:ext cx="92202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800" i="1">
                <a:solidFill>
                  <a:srgbClr val="2388FF"/>
                </a:solidFill>
                <a:latin typeface="Georgia"/>
              </a:rPr>
              <a:t>Document majeur issu de la démarche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2474118"/>
            <a:ext cx="9220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666666"/>
                </a:solidFill>
                <a:latin typeface="Segoe UI"/>
              </a:rPr>
              <a:t>Une synthèse essentielle pour la certification.</a:t>
            </a:r>
          </a:p>
        </p:txBody>
      </p:sp>
      <p:pic>
        <p:nvPicPr>
          <p:cNvPr id="10" name="Picture 9" descr="temp_slide_0_el_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2950368"/>
            <a:ext cx="952500" cy="952500"/>
          </a:xfrm>
          <a:prstGeom prst="rect">
            <a:avLst/>
          </a:prstGeom>
        </p:spPr>
      </p:pic>
      <p:pic>
        <p:nvPicPr>
          <p:cNvPr id="11" name="Picture 10" descr="temp_icon_slide_0_el_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3350418"/>
            <a:ext cx="13335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95400" y="3236118"/>
            <a:ext cx="9144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 b="1">
                <a:solidFill>
                  <a:srgbClr val="333333"/>
                </a:solidFill>
                <a:latin typeface="Segoe UI"/>
              </a:rPr>
              <a:t>Mesures retenues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3540918"/>
            <a:ext cx="4572000" cy="471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875"/>
              </a:lnSpc>
            </a:pPr>
            <a:r>
              <a:rPr sz="1350">
                <a:solidFill>
                  <a:srgbClr val="666666"/>
                </a:solidFill>
                <a:latin typeface="Segoe UI"/>
              </a:rPr>
              <a:t>Liste les mesures de sécurité retenues parmi les objectifs de référence de l’annexe A.</a:t>
            </a:r>
          </a:p>
        </p:txBody>
      </p:sp>
      <p:pic>
        <p:nvPicPr>
          <p:cNvPr id="14" name="Picture 13" descr="temp_slide_0_el_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3917156"/>
            <a:ext cx="952500" cy="952500"/>
          </a:xfrm>
          <a:prstGeom prst="rect">
            <a:avLst/>
          </a:prstGeom>
        </p:spPr>
      </p:pic>
      <p:pic>
        <p:nvPicPr>
          <p:cNvPr id="15" name="Picture 14" descr="temp_icon_slide_0_el_1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4317206"/>
            <a:ext cx="1524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95400" y="4202906"/>
            <a:ext cx="9144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 b="1">
                <a:solidFill>
                  <a:srgbClr val="333333"/>
                </a:solidFill>
                <a:latin typeface="Segoe UI"/>
              </a:rPr>
              <a:t>Exclusions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400" y="4507706"/>
            <a:ext cx="4572000" cy="471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875"/>
              </a:lnSpc>
            </a:pPr>
            <a:r>
              <a:rPr sz="1350">
                <a:solidFill>
                  <a:srgbClr val="666666"/>
                </a:solidFill>
                <a:latin typeface="Segoe UI"/>
              </a:rPr>
              <a:t>Justifie les exclusions (pourquoi telle mesure n'est pas appliquée).</a:t>
            </a:r>
          </a:p>
        </p:txBody>
      </p:sp>
      <p:pic>
        <p:nvPicPr>
          <p:cNvPr id="18" name="Picture 17" descr="temp_slide_0_el_1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4883943"/>
            <a:ext cx="952500" cy="952500"/>
          </a:xfrm>
          <a:prstGeom prst="rect">
            <a:avLst/>
          </a:prstGeom>
        </p:spPr>
      </p:pic>
      <p:pic>
        <p:nvPicPr>
          <p:cNvPr id="19" name="Picture 18" descr="temp_icon_slide_0_el_1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350" y="5283993"/>
            <a:ext cx="114300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95400" y="5169693"/>
            <a:ext cx="9144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 b="1">
                <a:solidFill>
                  <a:srgbClr val="333333"/>
                </a:solidFill>
                <a:latin typeface="Segoe UI"/>
              </a:rPr>
              <a:t>État des lieux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400" y="5474493"/>
            <a:ext cx="4572000" cy="471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875"/>
              </a:lnSpc>
            </a:pPr>
            <a:r>
              <a:rPr sz="1350">
                <a:solidFill>
                  <a:srgbClr val="666666"/>
                </a:solidFill>
                <a:latin typeface="Segoe UI"/>
              </a:rPr>
              <a:t>Fait l’état des lieux des mesures existantes (implémentées ou non).</a:t>
            </a:r>
          </a:p>
        </p:txBody>
      </p:sp>
      <p:pic>
        <p:nvPicPr>
          <p:cNvPr id="22" name="Picture 21" descr="temp_slide_0_el_1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38850" y="1443037"/>
            <a:ext cx="5676900" cy="4857750"/>
          </a:xfrm>
          <a:prstGeom prst="rect">
            <a:avLst/>
          </a:prstGeom>
        </p:spPr>
      </p:pic>
      <p:pic>
        <p:nvPicPr>
          <p:cNvPr id="23" name="Picture 22" descr="temp_slide_0_el_2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3175" y="1757362"/>
            <a:ext cx="5048250" cy="1352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24400" y="2205037"/>
            <a:ext cx="83058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222"/>
              </a:lnSpc>
            </a:pPr>
            <a:r>
              <a:rPr sz="1350" b="1">
                <a:solidFill>
                  <a:srgbClr val="555555"/>
                </a:solidFill>
                <a:latin typeface="Segoe UI"/>
              </a:rPr>
              <a:t>Annexe A (Référence)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4400" y="2471737"/>
            <a:ext cx="8305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1429"/>
              </a:lnSpc>
            </a:pPr>
            <a:r>
              <a:rPr sz="1050">
                <a:solidFill>
                  <a:srgbClr val="888888"/>
                </a:solidFill>
                <a:latin typeface="Segoe UI"/>
              </a:rPr>
              <a:t>Catalogue de mesures</a:t>
            </a:r>
          </a:p>
        </p:txBody>
      </p:sp>
      <p:pic>
        <p:nvPicPr>
          <p:cNvPr id="26" name="Picture 25" descr="temp_icon_slide_0_el_2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67762" y="2900362"/>
            <a:ext cx="219075" cy="28575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638925" y="3290887"/>
            <a:ext cx="4476750" cy="2447925"/>
          </a:xfrm>
          <a:prstGeom prst="roundRect">
            <a:avLst>
              <a:gd name="adj" fmla="val 9338"/>
            </a:avLst>
          </a:prstGeom>
          <a:solidFill>
            <a:srgbClr val="2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677025" y="3328987"/>
            <a:ext cx="4400550" cy="2371725"/>
          </a:xfrm>
          <a:prstGeom prst="roundRect">
            <a:avLst>
              <a:gd name="adj" fmla="val 642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67525" y="3519487"/>
            <a:ext cx="4019550" cy="3524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6867525" y="3871912"/>
            <a:ext cx="4019550" cy="0"/>
          </a:xfrm>
          <a:prstGeom prst="line">
            <a:avLst/>
          </a:prstGeom>
          <a:ln w="9525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67525" y="3519487"/>
            <a:ext cx="17716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 b="1" i="1">
                <a:solidFill>
                  <a:srgbClr val="2388FF"/>
                </a:solidFill>
                <a:latin typeface="Georgia"/>
              </a:rPr>
              <a:t>DdA / SoA</a:t>
            </a:r>
          </a:p>
        </p:txBody>
      </p:sp>
      <p:pic>
        <p:nvPicPr>
          <p:cNvPr id="32" name="Picture 31" descr="temp_icon_slide_0_el_2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68000" y="3557587"/>
            <a:ext cx="219075" cy="190500"/>
          </a:xfrm>
          <a:prstGeom prst="rect">
            <a:avLst/>
          </a:prstGeom>
        </p:spPr>
      </p:pic>
      <p:pic>
        <p:nvPicPr>
          <p:cNvPr id="33" name="Picture 32" descr="temp_slide_0_el_29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1775" y="3738562"/>
            <a:ext cx="4591050" cy="990600"/>
          </a:xfrm>
          <a:prstGeom prst="rect">
            <a:avLst/>
          </a:prstGeom>
        </p:spPr>
      </p:pic>
      <p:pic>
        <p:nvPicPr>
          <p:cNvPr id="34" name="Picture 33" descr="temp_icon_slide_0_el_30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19925" y="4157662"/>
            <a:ext cx="152400" cy="1524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286625" y="4138612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1429"/>
              </a:lnSpc>
            </a:pPr>
            <a:r>
              <a:rPr sz="1050">
                <a:solidFill>
                  <a:srgbClr val="333333"/>
                </a:solidFill>
                <a:latin typeface="Segoe UI"/>
              </a:rPr>
              <a:t>Mesures Retenues</a:t>
            </a:r>
          </a:p>
        </p:txBody>
      </p:sp>
      <p:pic>
        <p:nvPicPr>
          <p:cNvPr id="36" name="Picture 35" descr="temp_slide_0_el_32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81775" y="4271962"/>
            <a:ext cx="4591050" cy="990600"/>
          </a:xfrm>
          <a:prstGeom prst="rect">
            <a:avLst/>
          </a:prstGeom>
        </p:spPr>
      </p:pic>
      <p:pic>
        <p:nvPicPr>
          <p:cNvPr id="37" name="Picture 36" descr="temp_icon_slide_0_el_33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19925" y="4691062"/>
            <a:ext cx="152400" cy="152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286625" y="4672012"/>
            <a:ext cx="24955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1429"/>
              </a:lnSpc>
            </a:pPr>
            <a:r>
              <a:rPr sz="1050">
                <a:solidFill>
                  <a:srgbClr val="333333"/>
                </a:solidFill>
                <a:latin typeface="Segoe UI"/>
              </a:rPr>
              <a:t>Exclusions Justifiées</a:t>
            </a:r>
          </a:p>
        </p:txBody>
      </p:sp>
      <p:pic>
        <p:nvPicPr>
          <p:cNvPr id="39" name="Picture 38" descr="temp_slide_0_el_35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81775" y="4805362"/>
            <a:ext cx="4591050" cy="990600"/>
          </a:xfrm>
          <a:prstGeom prst="rect">
            <a:avLst/>
          </a:prstGeom>
        </p:spPr>
      </p:pic>
      <p:pic>
        <p:nvPicPr>
          <p:cNvPr id="40" name="Picture 39" descr="temp_icon_slide_0_el_36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19925" y="5224462"/>
            <a:ext cx="152400" cy="1524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286625" y="5205412"/>
            <a:ext cx="1333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1429"/>
              </a:lnSpc>
            </a:pPr>
            <a:r>
              <a:rPr sz="1050">
                <a:solidFill>
                  <a:srgbClr val="333333"/>
                </a:solidFill>
                <a:latin typeface="Segoe UI"/>
              </a:rPr>
              <a:t>État Actuel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34125" y="3871912"/>
            <a:ext cx="5086350" cy="19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42"/>
          <p:cNvCxnSpPr/>
          <p:nvPr/>
        </p:nvCxnSpPr>
        <p:spPr>
          <a:xfrm>
            <a:off x="6334125" y="3871912"/>
            <a:ext cx="5086350" cy="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bg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emp_slide_0_el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-285750"/>
            <a:ext cx="6000750" cy="6286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10950" y="409575"/>
            <a:ext cx="457200" cy="249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lang="fr-FR" sz="1500" b="1" dirty="0">
                <a:solidFill>
                  <a:srgbClr val="333333"/>
                </a:solidFill>
                <a:latin typeface="Segoe UI"/>
              </a:rPr>
              <a:t>24</a:t>
            </a:r>
            <a:endParaRPr sz="1500" b="1" dirty="0">
              <a:solidFill>
                <a:srgbClr val="333333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7145000" cy="546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 i="1" dirty="0">
                <a:solidFill>
                  <a:srgbClr val="2388FF"/>
                </a:solidFill>
                <a:latin typeface="Georgia"/>
              </a:rPr>
              <a:t>Audit interne</a:t>
            </a:r>
            <a:r>
              <a:rPr sz="3600" b="1" dirty="0">
                <a:solidFill>
                  <a:srgbClr val="000000"/>
                </a:solidFill>
                <a:latin typeface="Segoe UI"/>
              </a:rPr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981325"/>
            <a:ext cx="762000" cy="762000"/>
          </a:xfrm>
          <a:prstGeom prst="roundRect">
            <a:avLst>
              <a:gd name="adj" fmla="val 40000"/>
            </a:avLst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emp_icon_slide_0_el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3190875"/>
            <a:ext cx="342900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4048125"/>
            <a:ext cx="894308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50" b="1" i="1">
                <a:solidFill>
                  <a:srgbClr val="333333"/>
                </a:solidFill>
                <a:latin typeface="Georgia"/>
              </a:rPr>
              <a:t>Rôle principal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543425"/>
            <a:ext cx="894308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800">
                <a:solidFill>
                  <a:srgbClr val="666666"/>
                </a:solidFill>
                <a:latin typeface="Segoe UI"/>
              </a:rPr>
              <a:t>Assure la </a:t>
            </a:r>
            <a:r>
              <a:rPr sz="1800" b="1">
                <a:solidFill>
                  <a:srgbClr val="000000"/>
                </a:solidFill>
                <a:latin typeface="Segoe UI"/>
              </a:rPr>
              <a:t>surveillance</a:t>
            </a:r>
            <a:r>
              <a:rPr sz="1800">
                <a:solidFill>
                  <a:srgbClr val="666666"/>
                </a:solidFill>
                <a:latin typeface="Segoe UI"/>
              </a:rPr>
              <a:t> du système.</a:t>
            </a:r>
          </a:p>
        </p:txBody>
      </p:sp>
      <p:pic>
        <p:nvPicPr>
          <p:cNvPr id="11" name="Picture 10" descr="temp_slide_0_el_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091" y="2500312"/>
            <a:ext cx="47029" cy="2895600"/>
          </a:xfrm>
          <a:prstGeom prst="rect">
            <a:avLst/>
          </a:prstGeom>
        </p:spPr>
      </p:pic>
      <p:pic>
        <p:nvPicPr>
          <p:cNvPr id="12" name="Picture 11" descr="temp_slide_0_el_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920" y="2250281"/>
            <a:ext cx="5539829" cy="3395662"/>
          </a:xfrm>
          <a:prstGeom prst="rect">
            <a:avLst/>
          </a:prstGeom>
        </p:spPr>
      </p:pic>
      <p:pic>
        <p:nvPicPr>
          <p:cNvPr id="13" name="Picture 12" descr="temp_slide_0_el_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2725" y="2107406"/>
            <a:ext cx="1485900" cy="1485900"/>
          </a:xfrm>
          <a:prstGeom prst="rect">
            <a:avLst/>
          </a:prstGeom>
        </p:spPr>
      </p:pic>
      <p:pic>
        <p:nvPicPr>
          <p:cNvPr id="14" name="Picture 13" descr="temp_icon_slide_0_el_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2195" y="2936081"/>
            <a:ext cx="361950" cy="2857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66545" y="2926556"/>
            <a:ext cx="5029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333"/>
              </a:lnSpc>
            </a:pPr>
            <a:r>
              <a:rPr sz="1800" b="1" i="1">
                <a:solidFill>
                  <a:srgbClr val="000000"/>
                </a:solidFill>
                <a:latin typeface="Georgia"/>
              </a:rPr>
              <a:t>Exigence d'indépendance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2195" y="3459956"/>
            <a:ext cx="4187279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350">
                <a:solidFill>
                  <a:srgbClr val="555555"/>
                </a:solidFill>
                <a:latin typeface="Segoe UI"/>
              </a:rPr>
              <a:t>L’auditeur doit être </a:t>
            </a:r>
            <a:r>
              <a:rPr sz="1350" b="1">
                <a:solidFill>
                  <a:srgbClr val="000000"/>
                </a:solidFill>
                <a:latin typeface="Segoe UI"/>
              </a:rPr>
              <a:t>indépendant</a:t>
            </a:r>
            <a:r>
              <a:rPr sz="1350">
                <a:solidFill>
                  <a:srgbClr val="555555"/>
                </a:solidFill>
                <a:latin typeface="Segoe UI"/>
              </a:rPr>
              <a:t> de l’exploitation et de l’implémentation des mesures vérifiées.</a:t>
            </a:r>
          </a:p>
        </p:txBody>
      </p:sp>
      <p:pic>
        <p:nvPicPr>
          <p:cNvPr id="17" name="Picture 16" descr="temp_slide_0_el_1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6445" y="4036218"/>
            <a:ext cx="4758779" cy="1219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66545" y="4512468"/>
            <a:ext cx="6667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222"/>
              </a:lnSpc>
            </a:pPr>
            <a:r>
              <a:rPr sz="1350">
                <a:solidFill>
                  <a:srgbClr val="2388FF"/>
                </a:solidFill>
                <a:latin typeface="Segoe UI"/>
              </a:rPr>
              <a:t>Objectif : garantir l’impartialité des résultats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8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0_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5750"/>
            <a:ext cx="12192000" cy="7429500"/>
          </a:xfrm>
          <a:prstGeom prst="rect">
            <a:avLst/>
          </a:prstGeom>
        </p:spPr>
      </p:pic>
      <p:pic>
        <p:nvPicPr>
          <p:cNvPr id="3" name="Picture 2" descr="temp_slide_0_el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925" y="710623"/>
            <a:ext cx="3429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97540" y="2425123"/>
            <a:ext cx="132778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000" b="1">
                <a:solidFill>
                  <a:srgbClr val="000000"/>
                </a:solidFill>
                <a:latin typeface="Segoe UI"/>
              </a:rPr>
              <a:t>Merci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3806428"/>
            <a:ext cx="13277850" cy="424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2250" b="1" i="1" dirty="0">
                <a:solidFill>
                  <a:srgbClr val="000000"/>
                </a:solidFill>
                <a:latin typeface="Georgia"/>
              </a:rPr>
              <a:t>SMSI &amp; ISO 27001</a:t>
            </a:r>
            <a:endParaRPr sz="2250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C6CC796-F44D-51EE-53C0-FD7644D7E397}"/>
              </a:ext>
            </a:extLst>
          </p:cNvPr>
          <p:cNvSpPr txBox="1"/>
          <p:nvPr/>
        </p:nvSpPr>
        <p:spPr>
          <a:xfrm>
            <a:off x="1303507" y="4461271"/>
            <a:ext cx="64703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hlinkClick r:id="rId4"/>
              </a:rPr>
              <a:t>Lien </a:t>
            </a:r>
            <a:r>
              <a:rPr lang="fr-FR" dirty="0" err="1">
                <a:hlinkClick r:id="rId4"/>
              </a:rPr>
              <a:t>Kahoot</a:t>
            </a:r>
            <a:r>
              <a:rPr lang="fr-FR" dirty="0">
                <a:hlinkClick r:id="rId4"/>
              </a:rPr>
              <a:t> : https://create.kahoot.it/share/systeme-de-management-smsi-iso-27001/735d7623-a601-4e96-ace2-8e161f949798</a:t>
            </a:r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58AE1F1B4EAE41AA5D45FA89F23B30" ma:contentTypeVersion="3" ma:contentTypeDescription="Crée un document." ma:contentTypeScope="" ma:versionID="2580c466297af9b39aa395048ed8253c">
  <xsd:schema xmlns:xsd="http://www.w3.org/2001/XMLSchema" xmlns:xs="http://www.w3.org/2001/XMLSchema" xmlns:p="http://schemas.microsoft.com/office/2006/metadata/properties" xmlns:ns2="fb67cf06-de83-4dde-bdc8-c9d2555ecf99" targetNamespace="http://schemas.microsoft.com/office/2006/metadata/properties" ma:root="true" ma:fieldsID="089b2179185e17dd52a7f2ba7bc1773c" ns2:_="">
    <xsd:import namespace="fb67cf06-de83-4dde-bdc8-c9d2555ecf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7cf06-de83-4dde-bdc8-c9d2555ecf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076B0FF-5F29-4B4F-BD39-1AA6B00812EA}"/>
</file>

<file path=customXml/itemProps2.xml><?xml version="1.0" encoding="utf-8"?>
<ds:datastoreItem xmlns:ds="http://schemas.openxmlformats.org/officeDocument/2006/customXml" ds:itemID="{F0445A54-C2D3-4EF3-A482-4EA994993A18}"/>
</file>

<file path=customXml/itemProps3.xml><?xml version="1.0" encoding="utf-8"?>
<ds:datastoreItem xmlns:ds="http://schemas.openxmlformats.org/officeDocument/2006/customXml" ds:itemID="{64CEB0C5-0871-4F97-B4B9-9B531531A13F}"/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844</Words>
  <Application>Microsoft Office PowerPoint</Application>
  <PresentationFormat>Grand écran</PresentationFormat>
  <Paragraphs>188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0" baseType="lpstr">
      <vt:lpstr>Arial</vt:lpstr>
      <vt:lpstr>Calibri</vt:lpstr>
      <vt:lpstr>Georgia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dokie</dc:creator>
  <cp:keywords/>
  <dc:description>generated using python-pptx</dc:description>
  <cp:lastModifiedBy>LARIDA Jules</cp:lastModifiedBy>
  <cp:revision>4</cp:revision>
  <dcterms:created xsi:type="dcterms:W3CDTF">2026-02-25T17:19:07Z</dcterms:created>
  <dcterms:modified xsi:type="dcterms:W3CDTF">2026-03-30T07:25:29Z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0x0101001558AE1F1B4EAE41AA5D45FA89F23B30</vt:lpwstr>
  </property>
</Properties>
</file>