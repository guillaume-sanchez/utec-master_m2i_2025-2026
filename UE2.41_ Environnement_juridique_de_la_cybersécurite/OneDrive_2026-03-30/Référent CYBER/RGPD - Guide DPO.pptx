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7" r:id="rId28"/>
    <p:sldId id="286" r:id="rId29"/>
    <p:sldId id="288" r:id="rId30"/>
    <p:sldId id="284" r:id="rId31"/>
    <p:sldId id="285" r:id="rId32"/>
    <p:sldId id="282" r:id="rId33"/>
    <p:sldId id="283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29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49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7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1.png"/><Relationship Id="rId21" Type="http://schemas.openxmlformats.org/officeDocument/2006/relationships/image" Target="../media/image16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7.png"/><Relationship Id="rId15" Type="http://schemas.openxmlformats.org/officeDocument/2006/relationships/image" Target="../media/image54.png"/><Relationship Id="rId23" Type="http://schemas.openxmlformats.org/officeDocument/2006/relationships/image" Target="../media/image61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5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1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67.png"/><Relationship Id="rId5" Type="http://schemas.openxmlformats.org/officeDocument/2006/relationships/image" Target="../media/image62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5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1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3.png"/><Relationship Id="rId5" Type="http://schemas.openxmlformats.org/officeDocument/2006/relationships/image" Target="../media/image62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5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26" Type="http://schemas.openxmlformats.org/officeDocument/2006/relationships/image" Target="../media/image113.png"/><Relationship Id="rId3" Type="http://schemas.openxmlformats.org/officeDocument/2006/relationships/image" Target="../media/image1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11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98.png"/><Relationship Id="rId24" Type="http://schemas.openxmlformats.org/officeDocument/2006/relationships/image" Target="../media/image111.png"/><Relationship Id="rId5" Type="http://schemas.openxmlformats.org/officeDocument/2006/relationships/image" Target="../media/image6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5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7.png"/><Relationship Id="rId10" Type="http://schemas.openxmlformats.org/officeDocument/2006/relationships/image" Target="../media/image118.png"/><Relationship Id="rId4" Type="http://schemas.openxmlformats.org/officeDocument/2006/relationships/image" Target="../media/image5.png"/><Relationship Id="rId9" Type="http://schemas.openxmlformats.org/officeDocument/2006/relationships/image" Target="../media/image1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.png"/><Relationship Id="rId21" Type="http://schemas.openxmlformats.org/officeDocument/2006/relationships/image" Target="../media/image135.png"/><Relationship Id="rId7" Type="http://schemas.openxmlformats.org/officeDocument/2006/relationships/image" Target="../media/image122.png"/><Relationship Id="rId12" Type="http://schemas.openxmlformats.org/officeDocument/2006/relationships/image" Target="../media/image18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7.png"/><Relationship Id="rId15" Type="http://schemas.openxmlformats.org/officeDocument/2006/relationships/image" Target="../media/image129.png"/><Relationship Id="rId10" Type="http://schemas.openxmlformats.org/officeDocument/2006/relationships/image" Target="../media/image125.png"/><Relationship Id="rId19" Type="http://schemas.openxmlformats.org/officeDocument/2006/relationships/image" Target="../media/image133.png"/><Relationship Id="rId4" Type="http://schemas.openxmlformats.org/officeDocument/2006/relationships/image" Target="../media/image5.png"/><Relationship Id="rId9" Type="http://schemas.openxmlformats.org/officeDocument/2006/relationships/image" Target="../media/image124.png"/><Relationship Id="rId14" Type="http://schemas.openxmlformats.org/officeDocument/2006/relationships/image" Target="../media/image1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71.png"/><Relationship Id="rId18" Type="http://schemas.openxmlformats.org/officeDocument/2006/relationships/image" Target="../media/image147.png"/><Relationship Id="rId3" Type="http://schemas.openxmlformats.org/officeDocument/2006/relationships/image" Target="../media/image1.png"/><Relationship Id="rId21" Type="http://schemas.openxmlformats.org/officeDocument/2006/relationships/image" Target="../media/image150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3.png"/><Relationship Id="rId5" Type="http://schemas.openxmlformats.org/officeDocument/2006/relationships/image" Target="../media/image7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10" Type="http://schemas.openxmlformats.org/officeDocument/2006/relationships/image" Target="../media/image140.png"/><Relationship Id="rId19" Type="http://schemas.openxmlformats.org/officeDocument/2006/relationships/image" Target="../media/image148.png"/><Relationship Id="rId4" Type="http://schemas.openxmlformats.org/officeDocument/2006/relationships/image" Target="../media/image5.png"/><Relationship Id="rId9" Type="http://schemas.openxmlformats.org/officeDocument/2006/relationships/image" Target="../media/image139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3" Type="http://schemas.openxmlformats.org/officeDocument/2006/relationships/image" Target="../media/image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7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4" Type="http://schemas.openxmlformats.org/officeDocument/2006/relationships/image" Target="../media/image5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18" Type="http://schemas.openxmlformats.org/officeDocument/2006/relationships/image" Target="../media/image176.png"/><Relationship Id="rId3" Type="http://schemas.openxmlformats.org/officeDocument/2006/relationships/image" Target="../media/image1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5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7.png"/><Relationship Id="rId15" Type="http://schemas.openxmlformats.org/officeDocument/2006/relationships/image" Target="../media/image174.png"/><Relationship Id="rId10" Type="http://schemas.openxmlformats.org/officeDocument/2006/relationships/image" Target="../media/image169.png"/><Relationship Id="rId19" Type="http://schemas.openxmlformats.org/officeDocument/2006/relationships/image" Target="../media/image177.png"/><Relationship Id="rId4" Type="http://schemas.openxmlformats.org/officeDocument/2006/relationships/image" Target="../media/image5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166.png"/><Relationship Id="rId12" Type="http://schemas.openxmlformats.org/officeDocument/2006/relationships/image" Target="../media/image36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2.png"/><Relationship Id="rId5" Type="http://schemas.openxmlformats.org/officeDocument/2006/relationships/image" Target="../media/image7.png"/><Relationship Id="rId15" Type="http://schemas.openxmlformats.org/officeDocument/2006/relationships/image" Target="../media/image184.png"/><Relationship Id="rId10" Type="http://schemas.openxmlformats.org/officeDocument/2006/relationships/image" Target="../media/image181.png"/><Relationship Id="rId4" Type="http://schemas.openxmlformats.org/officeDocument/2006/relationships/image" Target="../media/image5.png"/><Relationship Id="rId9" Type="http://schemas.openxmlformats.org/officeDocument/2006/relationships/image" Target="../media/image180.png"/><Relationship Id="rId14" Type="http://schemas.openxmlformats.org/officeDocument/2006/relationships/image" Target="../media/image1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7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4" Type="http://schemas.openxmlformats.org/officeDocument/2006/relationships/image" Target="../media/image5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99.png"/><Relationship Id="rId12" Type="http://schemas.openxmlformats.org/officeDocument/2006/relationships/image" Target="../media/image1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png"/><Relationship Id="rId11" Type="http://schemas.openxmlformats.org/officeDocument/2006/relationships/image" Target="../media/image202.png"/><Relationship Id="rId5" Type="http://schemas.openxmlformats.org/officeDocument/2006/relationships/image" Target="../media/image7.png"/><Relationship Id="rId10" Type="http://schemas.openxmlformats.org/officeDocument/2006/relationships/image" Target="../media/image194.png"/><Relationship Id="rId4" Type="http://schemas.openxmlformats.org/officeDocument/2006/relationships/image" Target="../media/image5.png"/><Relationship Id="rId9" Type="http://schemas.openxmlformats.org/officeDocument/2006/relationships/image" Target="../media/image201.png"/><Relationship Id="rId14" Type="http://schemas.openxmlformats.org/officeDocument/2006/relationships/image" Target="../media/image20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3" Type="http://schemas.openxmlformats.org/officeDocument/2006/relationships/image" Target="../media/image1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7.png"/><Relationship Id="rId15" Type="http://schemas.openxmlformats.org/officeDocument/2006/relationships/image" Target="../media/image213.png"/><Relationship Id="rId10" Type="http://schemas.openxmlformats.org/officeDocument/2006/relationships/image" Target="../media/image208.png"/><Relationship Id="rId4" Type="http://schemas.openxmlformats.org/officeDocument/2006/relationships/image" Target="../media/image5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3.png"/><Relationship Id="rId3" Type="http://schemas.openxmlformats.org/officeDocument/2006/relationships/image" Target="../media/image1.png"/><Relationship Id="rId7" Type="http://schemas.openxmlformats.org/officeDocument/2006/relationships/image" Target="../media/image21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7.png"/><Relationship Id="rId15" Type="http://schemas.openxmlformats.org/officeDocument/2006/relationships/image" Target="../media/image225.png"/><Relationship Id="rId10" Type="http://schemas.openxmlformats.org/officeDocument/2006/relationships/image" Target="../media/image221.png"/><Relationship Id="rId4" Type="http://schemas.openxmlformats.org/officeDocument/2006/relationships/image" Target="../media/image5.png"/><Relationship Id="rId9" Type="http://schemas.openxmlformats.org/officeDocument/2006/relationships/image" Target="../media/image220.png"/><Relationship Id="rId14" Type="http://schemas.openxmlformats.org/officeDocument/2006/relationships/image" Target="../media/image2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3.png"/><Relationship Id="rId3" Type="http://schemas.openxmlformats.org/officeDocument/2006/relationships/image" Target="../media/image1.png"/><Relationship Id="rId7" Type="http://schemas.openxmlformats.org/officeDocument/2006/relationships/image" Target="../media/image187.png"/><Relationship Id="rId12" Type="http://schemas.openxmlformats.org/officeDocument/2006/relationships/image" Target="../media/image232.png"/><Relationship Id="rId17" Type="http://schemas.openxmlformats.org/officeDocument/2006/relationships/image" Target="../media/image237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31.png"/><Relationship Id="rId5" Type="http://schemas.openxmlformats.org/officeDocument/2006/relationships/image" Target="../media/image7.png"/><Relationship Id="rId15" Type="http://schemas.openxmlformats.org/officeDocument/2006/relationships/image" Target="../media/image235.png"/><Relationship Id="rId10" Type="http://schemas.openxmlformats.org/officeDocument/2006/relationships/image" Target="../media/image230.png"/><Relationship Id="rId4" Type="http://schemas.openxmlformats.org/officeDocument/2006/relationships/image" Target="../media/image5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18" Type="http://schemas.openxmlformats.org/officeDocument/2006/relationships/image" Target="../media/image192.png"/><Relationship Id="rId3" Type="http://schemas.openxmlformats.org/officeDocument/2006/relationships/image" Target="../media/image1.png"/><Relationship Id="rId21" Type="http://schemas.openxmlformats.org/officeDocument/2006/relationships/image" Target="../media/image251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248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47.png"/><Relationship Id="rId20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242.png"/><Relationship Id="rId24" Type="http://schemas.openxmlformats.org/officeDocument/2006/relationships/image" Target="../media/image254.png"/><Relationship Id="rId5" Type="http://schemas.openxmlformats.org/officeDocument/2006/relationships/image" Target="../media/image7.png"/><Relationship Id="rId15" Type="http://schemas.openxmlformats.org/officeDocument/2006/relationships/image" Target="../media/image246.png"/><Relationship Id="rId23" Type="http://schemas.openxmlformats.org/officeDocument/2006/relationships/image" Target="../media/image253.png"/><Relationship Id="rId10" Type="http://schemas.openxmlformats.org/officeDocument/2006/relationships/image" Target="../media/image241.png"/><Relationship Id="rId19" Type="http://schemas.openxmlformats.org/officeDocument/2006/relationships/image" Target="../media/image249.png"/><Relationship Id="rId4" Type="http://schemas.openxmlformats.org/officeDocument/2006/relationships/image" Target="../media/image5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Relationship Id="rId22" Type="http://schemas.openxmlformats.org/officeDocument/2006/relationships/image" Target="../media/image2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13" Type="http://schemas.openxmlformats.org/officeDocument/2006/relationships/image" Target="../media/image261.png"/><Relationship Id="rId18" Type="http://schemas.openxmlformats.org/officeDocument/2006/relationships/image" Target="../media/image266.png"/><Relationship Id="rId3" Type="http://schemas.openxmlformats.org/officeDocument/2006/relationships/image" Target="../media/image1.png"/><Relationship Id="rId21" Type="http://schemas.openxmlformats.org/officeDocument/2006/relationships/image" Target="../media/image269.png"/><Relationship Id="rId7" Type="http://schemas.openxmlformats.org/officeDocument/2006/relationships/image" Target="../media/image46.png"/><Relationship Id="rId12" Type="http://schemas.openxmlformats.org/officeDocument/2006/relationships/image" Target="../media/image260.png"/><Relationship Id="rId17" Type="http://schemas.openxmlformats.org/officeDocument/2006/relationships/image" Target="../media/image26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64.png"/><Relationship Id="rId20" Type="http://schemas.openxmlformats.org/officeDocument/2006/relationships/image" Target="../media/image2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5.png"/><Relationship Id="rId11" Type="http://schemas.openxmlformats.org/officeDocument/2006/relationships/image" Target="../media/image259.png"/><Relationship Id="rId5" Type="http://schemas.openxmlformats.org/officeDocument/2006/relationships/image" Target="../media/image7.png"/><Relationship Id="rId15" Type="http://schemas.openxmlformats.org/officeDocument/2006/relationships/image" Target="../media/image263.png"/><Relationship Id="rId10" Type="http://schemas.openxmlformats.org/officeDocument/2006/relationships/image" Target="../media/image258.png"/><Relationship Id="rId19" Type="http://schemas.openxmlformats.org/officeDocument/2006/relationships/image" Target="../media/image267.png"/><Relationship Id="rId4" Type="http://schemas.openxmlformats.org/officeDocument/2006/relationships/image" Target="../media/image5.png"/><Relationship Id="rId9" Type="http://schemas.openxmlformats.org/officeDocument/2006/relationships/image" Target="../media/image257.png"/><Relationship Id="rId14" Type="http://schemas.openxmlformats.org/officeDocument/2006/relationships/image" Target="../media/image262.png"/><Relationship Id="rId22" Type="http://schemas.openxmlformats.org/officeDocument/2006/relationships/image" Target="../media/image2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13" Type="http://schemas.openxmlformats.org/officeDocument/2006/relationships/image" Target="../media/image264.png"/><Relationship Id="rId1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272.png"/><Relationship Id="rId12" Type="http://schemas.openxmlformats.org/officeDocument/2006/relationships/image" Target="../media/image276.png"/><Relationship Id="rId17" Type="http://schemas.openxmlformats.org/officeDocument/2006/relationships/image" Target="../media/image28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79.png"/><Relationship Id="rId20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1.png"/><Relationship Id="rId11" Type="http://schemas.openxmlformats.org/officeDocument/2006/relationships/image" Target="../media/image66.png"/><Relationship Id="rId5" Type="http://schemas.openxmlformats.org/officeDocument/2006/relationships/image" Target="../media/image7.png"/><Relationship Id="rId15" Type="http://schemas.openxmlformats.org/officeDocument/2006/relationships/image" Target="../media/image278.png"/><Relationship Id="rId10" Type="http://schemas.openxmlformats.org/officeDocument/2006/relationships/image" Target="../media/image275.png"/><Relationship Id="rId19" Type="http://schemas.openxmlformats.org/officeDocument/2006/relationships/image" Target="../media/image281.png"/><Relationship Id="rId4" Type="http://schemas.openxmlformats.org/officeDocument/2006/relationships/image" Target="../media/image5.png"/><Relationship Id="rId9" Type="http://schemas.openxmlformats.org/officeDocument/2006/relationships/image" Target="../media/image274.png"/><Relationship Id="rId14" Type="http://schemas.openxmlformats.org/officeDocument/2006/relationships/image" Target="../media/image2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290.png"/><Relationship Id="rId18" Type="http://schemas.openxmlformats.org/officeDocument/2006/relationships/image" Target="../media/image295.png"/><Relationship Id="rId3" Type="http://schemas.openxmlformats.org/officeDocument/2006/relationships/image" Target="../media/image1.png"/><Relationship Id="rId21" Type="http://schemas.openxmlformats.org/officeDocument/2006/relationships/image" Target="../media/image298.png"/><Relationship Id="rId7" Type="http://schemas.openxmlformats.org/officeDocument/2006/relationships/image" Target="../media/image284.png"/><Relationship Id="rId12" Type="http://schemas.openxmlformats.org/officeDocument/2006/relationships/image" Target="../media/image289.png"/><Relationship Id="rId17" Type="http://schemas.openxmlformats.org/officeDocument/2006/relationships/image" Target="../media/image294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93.png"/><Relationship Id="rId20" Type="http://schemas.openxmlformats.org/officeDocument/2006/relationships/image" Target="../media/image2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5" Type="http://schemas.openxmlformats.org/officeDocument/2006/relationships/image" Target="../media/image7.png"/><Relationship Id="rId15" Type="http://schemas.openxmlformats.org/officeDocument/2006/relationships/image" Target="../media/image292.png"/><Relationship Id="rId23" Type="http://schemas.openxmlformats.org/officeDocument/2006/relationships/image" Target="../media/image300.png"/><Relationship Id="rId10" Type="http://schemas.openxmlformats.org/officeDocument/2006/relationships/image" Target="../media/image287.png"/><Relationship Id="rId19" Type="http://schemas.openxmlformats.org/officeDocument/2006/relationships/image" Target="../media/image296.png"/><Relationship Id="rId4" Type="http://schemas.openxmlformats.org/officeDocument/2006/relationships/image" Target="../media/image5.png"/><Relationship Id="rId9" Type="http://schemas.openxmlformats.org/officeDocument/2006/relationships/image" Target="../media/image286.png"/><Relationship Id="rId14" Type="http://schemas.openxmlformats.org/officeDocument/2006/relationships/image" Target="../media/image291.png"/><Relationship Id="rId22" Type="http://schemas.openxmlformats.org/officeDocument/2006/relationships/image" Target="../media/image29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image" Target="../media/image307.png"/><Relationship Id="rId3" Type="http://schemas.openxmlformats.org/officeDocument/2006/relationships/image" Target="../media/image1.png"/><Relationship Id="rId7" Type="http://schemas.openxmlformats.org/officeDocument/2006/relationships/image" Target="../media/image272.png"/><Relationship Id="rId12" Type="http://schemas.openxmlformats.org/officeDocument/2006/relationships/image" Target="../media/image30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1.png"/><Relationship Id="rId11" Type="http://schemas.openxmlformats.org/officeDocument/2006/relationships/image" Target="../media/image305.png"/><Relationship Id="rId5" Type="http://schemas.openxmlformats.org/officeDocument/2006/relationships/image" Target="../media/image7.png"/><Relationship Id="rId15" Type="http://schemas.openxmlformats.org/officeDocument/2006/relationships/image" Target="../media/image30.png"/><Relationship Id="rId10" Type="http://schemas.openxmlformats.org/officeDocument/2006/relationships/image" Target="../media/image304.png"/><Relationship Id="rId4" Type="http://schemas.openxmlformats.org/officeDocument/2006/relationships/image" Target="../media/image5.png"/><Relationship Id="rId9" Type="http://schemas.openxmlformats.org/officeDocument/2006/relationships/image" Target="../media/image303.png"/><Relationship Id="rId14" Type="http://schemas.openxmlformats.org/officeDocument/2006/relationships/image" Target="../media/image30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317.png"/><Relationship Id="rId18" Type="http://schemas.openxmlformats.org/officeDocument/2006/relationships/image" Target="../media/image322.png"/><Relationship Id="rId3" Type="http://schemas.openxmlformats.org/officeDocument/2006/relationships/image" Target="../media/image1.png"/><Relationship Id="rId21" Type="http://schemas.openxmlformats.org/officeDocument/2006/relationships/image" Target="../media/image325.png"/><Relationship Id="rId7" Type="http://schemas.openxmlformats.org/officeDocument/2006/relationships/image" Target="../media/image311.png"/><Relationship Id="rId12" Type="http://schemas.openxmlformats.org/officeDocument/2006/relationships/image" Target="../media/image316.png"/><Relationship Id="rId17" Type="http://schemas.openxmlformats.org/officeDocument/2006/relationships/image" Target="../media/image321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20.png"/><Relationship Id="rId20" Type="http://schemas.openxmlformats.org/officeDocument/2006/relationships/image" Target="../media/image3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1" Type="http://schemas.openxmlformats.org/officeDocument/2006/relationships/image" Target="../media/image315.png"/><Relationship Id="rId5" Type="http://schemas.openxmlformats.org/officeDocument/2006/relationships/image" Target="../media/image7.png"/><Relationship Id="rId15" Type="http://schemas.openxmlformats.org/officeDocument/2006/relationships/image" Target="../media/image319.png"/><Relationship Id="rId23" Type="http://schemas.openxmlformats.org/officeDocument/2006/relationships/image" Target="../media/image327.png"/><Relationship Id="rId10" Type="http://schemas.openxmlformats.org/officeDocument/2006/relationships/image" Target="../media/image314.png"/><Relationship Id="rId19" Type="http://schemas.openxmlformats.org/officeDocument/2006/relationships/image" Target="../media/image323.png"/><Relationship Id="rId4" Type="http://schemas.openxmlformats.org/officeDocument/2006/relationships/image" Target="../media/image5.png"/><Relationship Id="rId9" Type="http://schemas.openxmlformats.org/officeDocument/2006/relationships/image" Target="../media/image313.png"/><Relationship Id="rId14" Type="http://schemas.openxmlformats.org/officeDocument/2006/relationships/image" Target="../media/image318.png"/><Relationship Id="rId22" Type="http://schemas.openxmlformats.org/officeDocument/2006/relationships/image" Target="../media/image3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34.png"/><Relationship Id="rId3" Type="http://schemas.openxmlformats.org/officeDocument/2006/relationships/image" Target="../media/image1.png"/><Relationship Id="rId7" Type="http://schemas.openxmlformats.org/officeDocument/2006/relationships/image" Target="../media/image329.png"/><Relationship Id="rId12" Type="http://schemas.openxmlformats.org/officeDocument/2006/relationships/image" Target="../media/image333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3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8.png"/><Relationship Id="rId11" Type="http://schemas.openxmlformats.org/officeDocument/2006/relationships/image" Target="../media/image332.png"/><Relationship Id="rId5" Type="http://schemas.openxmlformats.org/officeDocument/2006/relationships/image" Target="../media/image7.png"/><Relationship Id="rId15" Type="http://schemas.openxmlformats.org/officeDocument/2006/relationships/image" Target="../media/image336.png"/><Relationship Id="rId10" Type="http://schemas.openxmlformats.org/officeDocument/2006/relationships/image" Target="../media/image331.png"/><Relationship Id="rId4" Type="http://schemas.openxmlformats.org/officeDocument/2006/relationships/image" Target="../media/image5.png"/><Relationship Id="rId9" Type="http://schemas.openxmlformats.org/officeDocument/2006/relationships/image" Target="../media/image220.png"/><Relationship Id="rId14" Type="http://schemas.openxmlformats.org/officeDocument/2006/relationships/image" Target="../media/image3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13" Type="http://schemas.openxmlformats.org/officeDocument/2006/relationships/image" Target="../media/image344.png"/><Relationship Id="rId18" Type="http://schemas.openxmlformats.org/officeDocument/2006/relationships/image" Target="../media/image349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343.png"/><Relationship Id="rId17" Type="http://schemas.openxmlformats.org/officeDocument/2006/relationships/image" Target="../media/image348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3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8.png"/><Relationship Id="rId11" Type="http://schemas.openxmlformats.org/officeDocument/2006/relationships/image" Target="../media/image342.png"/><Relationship Id="rId5" Type="http://schemas.openxmlformats.org/officeDocument/2006/relationships/image" Target="../media/image7.png"/><Relationship Id="rId15" Type="http://schemas.openxmlformats.org/officeDocument/2006/relationships/image" Target="../media/image346.png"/><Relationship Id="rId10" Type="http://schemas.openxmlformats.org/officeDocument/2006/relationships/image" Target="../media/image341.png"/><Relationship Id="rId19" Type="http://schemas.openxmlformats.org/officeDocument/2006/relationships/image" Target="../media/image350.png"/><Relationship Id="rId4" Type="http://schemas.openxmlformats.org/officeDocument/2006/relationships/image" Target="../media/image5.png"/><Relationship Id="rId9" Type="http://schemas.openxmlformats.org/officeDocument/2006/relationships/image" Target="../media/image340.png"/><Relationship Id="rId14" Type="http://schemas.openxmlformats.org/officeDocument/2006/relationships/image" Target="../media/image3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image" Target="../media/image357.png"/><Relationship Id="rId3" Type="http://schemas.openxmlformats.org/officeDocument/2006/relationships/image" Target="../media/image1.png"/><Relationship Id="rId7" Type="http://schemas.openxmlformats.org/officeDocument/2006/relationships/image" Target="../media/image220.png"/><Relationship Id="rId12" Type="http://schemas.openxmlformats.org/officeDocument/2006/relationships/image" Target="../media/image3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1.png"/><Relationship Id="rId11" Type="http://schemas.openxmlformats.org/officeDocument/2006/relationships/image" Target="../media/image355.png"/><Relationship Id="rId5" Type="http://schemas.openxmlformats.org/officeDocument/2006/relationships/image" Target="../media/image7.png"/><Relationship Id="rId15" Type="http://schemas.openxmlformats.org/officeDocument/2006/relationships/image" Target="../media/image359.png"/><Relationship Id="rId10" Type="http://schemas.openxmlformats.org/officeDocument/2006/relationships/image" Target="../media/image354.png"/><Relationship Id="rId4" Type="http://schemas.openxmlformats.org/officeDocument/2006/relationships/image" Target="../media/image5.png"/><Relationship Id="rId9" Type="http://schemas.openxmlformats.org/officeDocument/2006/relationships/image" Target="../media/image353.png"/><Relationship Id="rId14" Type="http://schemas.openxmlformats.org/officeDocument/2006/relationships/image" Target="../media/image3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png"/><Relationship Id="rId13" Type="http://schemas.openxmlformats.org/officeDocument/2006/relationships/image" Target="../media/image367.png"/><Relationship Id="rId18" Type="http://schemas.openxmlformats.org/officeDocument/2006/relationships/image" Target="../media/image372.png"/><Relationship Id="rId3" Type="http://schemas.openxmlformats.org/officeDocument/2006/relationships/image" Target="../media/image1.png"/><Relationship Id="rId21" Type="http://schemas.openxmlformats.org/officeDocument/2006/relationships/image" Target="../media/image374.png"/><Relationship Id="rId7" Type="http://schemas.openxmlformats.org/officeDocument/2006/relationships/image" Target="../media/image361.png"/><Relationship Id="rId12" Type="http://schemas.openxmlformats.org/officeDocument/2006/relationships/image" Target="../media/image366.png"/><Relationship Id="rId17" Type="http://schemas.openxmlformats.org/officeDocument/2006/relationships/image" Target="../media/image37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370.png"/><Relationship Id="rId20" Type="http://schemas.openxmlformats.org/officeDocument/2006/relationships/image" Target="../media/image3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0.png"/><Relationship Id="rId11" Type="http://schemas.openxmlformats.org/officeDocument/2006/relationships/image" Target="../media/image365.png"/><Relationship Id="rId5" Type="http://schemas.openxmlformats.org/officeDocument/2006/relationships/image" Target="../media/image7.png"/><Relationship Id="rId15" Type="http://schemas.openxmlformats.org/officeDocument/2006/relationships/image" Target="../media/image369.png"/><Relationship Id="rId10" Type="http://schemas.openxmlformats.org/officeDocument/2006/relationships/image" Target="../media/image364.png"/><Relationship Id="rId19" Type="http://schemas.openxmlformats.org/officeDocument/2006/relationships/image" Target="../media/image194.png"/><Relationship Id="rId4" Type="http://schemas.openxmlformats.org/officeDocument/2006/relationships/image" Target="../media/image5.png"/><Relationship Id="rId9" Type="http://schemas.openxmlformats.org/officeDocument/2006/relationships/image" Target="../media/image363.png"/><Relationship Id="rId14" Type="http://schemas.openxmlformats.org/officeDocument/2006/relationships/image" Target="../media/image36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13" Type="http://schemas.openxmlformats.org/officeDocument/2006/relationships/image" Target="../media/image382.png"/><Relationship Id="rId18" Type="http://schemas.openxmlformats.org/officeDocument/2006/relationships/image" Target="../media/image386.png"/><Relationship Id="rId3" Type="http://schemas.openxmlformats.org/officeDocument/2006/relationships/image" Target="../media/image1.png"/><Relationship Id="rId21" Type="http://schemas.openxmlformats.org/officeDocument/2006/relationships/image" Target="../media/image388.png"/><Relationship Id="rId7" Type="http://schemas.openxmlformats.org/officeDocument/2006/relationships/image" Target="../media/image376.png"/><Relationship Id="rId12" Type="http://schemas.openxmlformats.org/officeDocument/2006/relationships/image" Target="../media/image381.png"/><Relationship Id="rId17" Type="http://schemas.openxmlformats.org/officeDocument/2006/relationships/image" Target="../media/image385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384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5.png"/><Relationship Id="rId11" Type="http://schemas.openxmlformats.org/officeDocument/2006/relationships/image" Target="../media/image380.png"/><Relationship Id="rId24" Type="http://schemas.openxmlformats.org/officeDocument/2006/relationships/image" Target="../media/image391.png"/><Relationship Id="rId5" Type="http://schemas.openxmlformats.org/officeDocument/2006/relationships/image" Target="../media/image7.png"/><Relationship Id="rId15" Type="http://schemas.openxmlformats.org/officeDocument/2006/relationships/image" Target="../media/image383.png"/><Relationship Id="rId23" Type="http://schemas.openxmlformats.org/officeDocument/2006/relationships/image" Target="../media/image390.png"/><Relationship Id="rId10" Type="http://schemas.openxmlformats.org/officeDocument/2006/relationships/image" Target="../media/image379.png"/><Relationship Id="rId19" Type="http://schemas.openxmlformats.org/officeDocument/2006/relationships/image" Target="../media/image387.png"/><Relationship Id="rId4" Type="http://schemas.openxmlformats.org/officeDocument/2006/relationships/image" Target="../media/image5.png"/><Relationship Id="rId9" Type="http://schemas.openxmlformats.org/officeDocument/2006/relationships/image" Target="../media/image378.png"/><Relationship Id="rId14" Type="http://schemas.openxmlformats.org/officeDocument/2006/relationships/image" Target="../media/image267.png"/><Relationship Id="rId22" Type="http://schemas.openxmlformats.org/officeDocument/2006/relationships/image" Target="../media/image38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png"/><Relationship Id="rId13" Type="http://schemas.openxmlformats.org/officeDocument/2006/relationships/image" Target="../media/image398.png"/><Relationship Id="rId18" Type="http://schemas.openxmlformats.org/officeDocument/2006/relationships/image" Target="../media/image402.png"/><Relationship Id="rId3" Type="http://schemas.openxmlformats.org/officeDocument/2006/relationships/image" Target="../media/image1.png"/><Relationship Id="rId21" Type="http://schemas.openxmlformats.org/officeDocument/2006/relationships/image" Target="../media/image404.png"/><Relationship Id="rId7" Type="http://schemas.openxmlformats.org/officeDocument/2006/relationships/image" Target="../media/image376.png"/><Relationship Id="rId12" Type="http://schemas.openxmlformats.org/officeDocument/2006/relationships/image" Target="../media/image397.png"/><Relationship Id="rId17" Type="http://schemas.openxmlformats.org/officeDocument/2006/relationships/image" Target="../media/image401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400.png"/><Relationship Id="rId20" Type="http://schemas.openxmlformats.org/officeDocument/2006/relationships/image" Target="../media/image4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2.png"/><Relationship Id="rId11" Type="http://schemas.openxmlformats.org/officeDocument/2006/relationships/image" Target="../media/image396.png"/><Relationship Id="rId5" Type="http://schemas.openxmlformats.org/officeDocument/2006/relationships/image" Target="../media/image7.png"/><Relationship Id="rId15" Type="http://schemas.openxmlformats.org/officeDocument/2006/relationships/image" Target="../media/image399.png"/><Relationship Id="rId10" Type="http://schemas.openxmlformats.org/officeDocument/2006/relationships/image" Target="../media/image395.png"/><Relationship Id="rId19" Type="http://schemas.openxmlformats.org/officeDocument/2006/relationships/image" Target="../media/image192.png"/><Relationship Id="rId4" Type="http://schemas.openxmlformats.org/officeDocument/2006/relationships/image" Target="../media/image5.png"/><Relationship Id="rId9" Type="http://schemas.openxmlformats.org/officeDocument/2006/relationships/image" Target="../media/image394.png"/><Relationship Id="rId14" Type="http://schemas.openxmlformats.org/officeDocument/2006/relationships/image" Target="../media/image381.png"/><Relationship Id="rId22" Type="http://schemas.openxmlformats.org/officeDocument/2006/relationships/image" Target="../media/image40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png"/><Relationship Id="rId3" Type="http://schemas.openxmlformats.org/officeDocument/2006/relationships/image" Target="../media/image1.png"/><Relationship Id="rId7" Type="http://schemas.openxmlformats.org/officeDocument/2006/relationships/image" Target="../media/image2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8.png"/><Relationship Id="rId5" Type="http://schemas.openxmlformats.org/officeDocument/2006/relationships/image" Target="../media/image407.png"/><Relationship Id="rId4" Type="http://schemas.openxmlformats.org/officeDocument/2006/relationships/image" Target="../media/image4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475" y="485775"/>
            <a:ext cx="192405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2269331"/>
            <a:ext cx="1089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RGPD</a:t>
            </a:r>
            <a:endParaRPr lang="en-US" sz="6400" dirty="0"/>
          </a:p>
        </p:txBody>
      </p:sp>
      <p:sp>
        <p:nvSpPr>
          <p:cNvPr id="7" name="Text 1"/>
          <p:cNvSpPr/>
          <p:nvPr/>
        </p:nvSpPr>
        <p:spPr>
          <a:xfrm>
            <a:off x="762000" y="364093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DPO &amp; Conformité (Entreprise)</a:t>
            </a:r>
            <a:endParaRPr lang="en-US" sz="2200" dirty="0"/>
          </a:p>
        </p:txBody>
      </p:sp>
      <p:sp>
        <p:nvSpPr>
          <p:cNvPr id="8" name="Text 2"/>
          <p:cNvSpPr/>
          <p:nvPr/>
        </p:nvSpPr>
        <p:spPr>
          <a:xfrm>
            <a:off x="762000" y="6210300"/>
            <a:ext cx="10144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2026-02-25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695575"/>
            <a:ext cx="628650" cy="57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876300"/>
            <a:ext cx="366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SOMMAIRE</a:t>
            </a:r>
            <a:endParaRPr lang="en-US" sz="1400" dirty="0"/>
          </a:p>
        </p:txBody>
      </p:sp>
      <p:sp>
        <p:nvSpPr>
          <p:cNvPr id="7" name="Text 1"/>
          <p:cNvSpPr/>
          <p:nvPr/>
        </p:nvSpPr>
        <p:spPr>
          <a:xfrm>
            <a:off x="571500" y="1219200"/>
            <a:ext cx="36671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des matières</a:t>
            </a:r>
            <a:endParaRPr lang="en-US" sz="3700" dirty="0"/>
          </a:p>
        </p:txBody>
      </p:sp>
      <p:sp>
        <p:nvSpPr>
          <p:cNvPr id="8" name="Text 2"/>
          <p:cNvSpPr/>
          <p:nvPr/>
        </p:nvSpPr>
        <p:spPr>
          <a:xfrm>
            <a:off x="5238750" y="87630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 &amp; vue d’ensemble du RGPD</a:t>
            </a:r>
            <a:endParaRPr lang="en-US" sz="1700" dirty="0"/>
          </a:p>
        </p:txBody>
      </p:sp>
      <p:sp>
        <p:nvSpPr>
          <p:cNvPr id="9" name="Text 3"/>
          <p:cNvSpPr/>
          <p:nvPr/>
        </p:nvSpPr>
        <p:spPr>
          <a:xfrm>
            <a:off x="5238750" y="135255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Définitions clés &amp; champ d’application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5238750" y="182880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Principes relatifs aux traitements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5238750" y="230505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Droits des personnes concernées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238750" y="278130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Obligations &amp; responsabilités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238750" y="325755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Méthodologie &amp; outils du consultant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5238750" y="373380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Transferts internationaux &amp; accountability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4667250" y="85725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667250" y="13335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4667250" y="180975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4667250" y="22860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4667250" y="276225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667250" y="32385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667250" y="371475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4667250" y="419100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5238750" y="4210050"/>
            <a:ext cx="638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Sécurité, violations &amp; notifications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" y="1552575"/>
            <a:ext cx="2476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550" y="1638300"/>
            <a:ext cx="3810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775" y="2476500"/>
            <a:ext cx="24765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2550" y="2562225"/>
            <a:ext cx="381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775" y="3390900"/>
            <a:ext cx="24765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2550" y="3476625"/>
            <a:ext cx="381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775" y="4314825"/>
            <a:ext cx="2476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2550" y="4400550"/>
            <a:ext cx="381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7775" y="5229225"/>
            <a:ext cx="247650" cy="2571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Fondements historiques (France)</a:t>
            </a:r>
            <a:endParaRPr lang="en-US" sz="2900" dirty="0"/>
          </a:p>
        </p:txBody>
      </p:sp>
      <p:sp>
        <p:nvSpPr>
          <p:cNvPr id="16" name="Text 1"/>
          <p:cNvSpPr/>
          <p:nvPr/>
        </p:nvSpPr>
        <p:spPr>
          <a:xfrm>
            <a:off x="1752600" y="1547813"/>
            <a:ext cx="46205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Loi de 1970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1752600" y="1890713"/>
            <a:ext cx="42005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 au respect de la vie privée (art. 9 Code civil)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1752600" y="2466975"/>
            <a:ext cx="43376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Loi « Informatique &amp; Libertés » de 1978</a:t>
            </a:r>
            <a:endParaRPr lang="en-US" sz="1700" dirty="0"/>
          </a:p>
        </p:txBody>
      </p:sp>
      <p:sp>
        <p:nvSpPr>
          <p:cNvPr id="19" name="Text 4"/>
          <p:cNvSpPr/>
          <p:nvPr/>
        </p:nvSpPr>
        <p:spPr>
          <a:xfrm>
            <a:off x="1752600" y="2809875"/>
            <a:ext cx="394335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(modifiée en 2014)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1752600" y="3386138"/>
            <a:ext cx="38871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Directive européenne 95/46 (1995)</a:t>
            </a:r>
            <a:endParaRPr lang="en-US" sz="1700" dirty="0"/>
          </a:p>
        </p:txBody>
      </p:sp>
      <p:sp>
        <p:nvSpPr>
          <p:cNvPr id="21" name="Text 6"/>
          <p:cNvSpPr/>
          <p:nvPr/>
        </p:nvSpPr>
        <p:spPr>
          <a:xfrm>
            <a:off x="1752600" y="3729038"/>
            <a:ext cx="35337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Tentative d’harmonisation</a:t>
            </a:r>
            <a:endParaRPr lang="en-US" sz="1400" dirty="0"/>
          </a:p>
        </p:txBody>
      </p:sp>
      <p:sp>
        <p:nvSpPr>
          <p:cNvPr id="22" name="Text 7"/>
          <p:cNvSpPr/>
          <p:nvPr/>
        </p:nvSpPr>
        <p:spPr>
          <a:xfrm>
            <a:off x="1752600" y="4305300"/>
            <a:ext cx="4149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Directive 2002/22</a:t>
            </a:r>
            <a:endParaRPr lang="en-US" sz="1700" dirty="0"/>
          </a:p>
        </p:txBody>
      </p:sp>
      <p:sp>
        <p:nvSpPr>
          <p:cNvPr id="23" name="Text 8"/>
          <p:cNvSpPr/>
          <p:nvPr/>
        </p:nvSpPr>
        <p:spPr>
          <a:xfrm>
            <a:off x="1752600" y="4648200"/>
            <a:ext cx="37719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(services de communications électroniques)</a:t>
            </a:r>
            <a:endParaRPr lang="en-US" sz="1400" dirty="0"/>
          </a:p>
        </p:txBody>
      </p:sp>
      <p:sp>
        <p:nvSpPr>
          <p:cNvPr id="24" name="Text 9"/>
          <p:cNvSpPr/>
          <p:nvPr/>
        </p:nvSpPr>
        <p:spPr>
          <a:xfrm>
            <a:off x="1752600" y="5224463"/>
            <a:ext cx="40757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Loi « République numérique » (2016)</a:t>
            </a:r>
            <a:endParaRPr lang="en-US" sz="1700" dirty="0"/>
          </a:p>
        </p:txBody>
      </p:sp>
      <p:sp>
        <p:nvSpPr>
          <p:cNvPr id="25" name="Text 10"/>
          <p:cNvSpPr/>
          <p:nvPr/>
        </p:nvSpPr>
        <p:spPr>
          <a:xfrm>
            <a:off x="1752600" y="5567363"/>
            <a:ext cx="37052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Anticipe certaines évolutions (ex. amendes)</a:t>
            </a:r>
            <a:endParaRPr lang="en-US" sz="1400" dirty="0"/>
          </a:p>
        </p:txBody>
      </p:sp>
      <p:sp>
        <p:nvSpPr>
          <p:cNvPr id="26" name="Text 11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7" name="Text 12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3F6CA6E-DCEB-F507-6229-4348A3BD5355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638300"/>
            <a:ext cx="533400" cy="552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400300"/>
            <a:ext cx="533400" cy="552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62300"/>
            <a:ext cx="533400" cy="552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14800"/>
            <a:ext cx="5448300" cy="17430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114800"/>
            <a:ext cx="5448300" cy="17430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la directive au règlement</a:t>
            </a:r>
            <a:endParaRPr lang="en-US" sz="2900" dirty="0"/>
          </a:p>
        </p:txBody>
      </p:sp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1800225"/>
            <a:ext cx="190500" cy="219075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1409700" y="1766888"/>
            <a:ext cx="7124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Règlement (UE) 2016/679 adopté le 27 avril 2016 ; publié le 4 mai 2016</a:t>
            </a:r>
            <a:endParaRPr lang="en-US" sz="1700" dirty="0"/>
          </a:p>
        </p:txBody>
      </p:sp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2562225"/>
            <a:ext cx="209550" cy="219075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1409700" y="2528888"/>
            <a:ext cx="5534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 : réforme globale de la protection des données</a:t>
            </a:r>
            <a:endParaRPr lang="en-US" sz="170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324225"/>
            <a:ext cx="209550" cy="219075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1409700" y="3290888"/>
            <a:ext cx="4943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Applicabilité : 25 mai 2018 (tous les pays de l’UE)</a:t>
            </a:r>
            <a:endParaRPr lang="en-US" sz="17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4448175"/>
            <a:ext cx="304800" cy="25717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1314450" y="4481513"/>
            <a:ext cx="9401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Législation</a:t>
            </a:r>
            <a:endParaRPr lang="en-US" sz="900" dirty="0"/>
          </a:p>
        </p:txBody>
      </p:sp>
      <p:sp>
        <p:nvSpPr>
          <p:cNvPr id="20" name="Text 5"/>
          <p:cNvSpPr/>
          <p:nvPr/>
        </p:nvSpPr>
        <p:spPr>
          <a:xfrm>
            <a:off x="914400" y="4881563"/>
            <a:ext cx="472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Remplace la directive 95/46 par une législation unique, directement applicable</a:t>
            </a:r>
            <a:endParaRPr lang="en-US" sz="14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1775" y="4448175"/>
            <a:ext cx="190500" cy="257175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6877050" y="4481513"/>
            <a:ext cx="7773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Approche</a:t>
            </a:r>
            <a:endParaRPr lang="en-US" sz="900" dirty="0"/>
          </a:p>
        </p:txBody>
      </p:sp>
      <p:sp>
        <p:nvSpPr>
          <p:cNvPr id="23" name="Text 7"/>
          <p:cNvSpPr/>
          <p:nvPr/>
        </p:nvSpPr>
        <p:spPr>
          <a:xfrm>
            <a:off x="6591300" y="4881563"/>
            <a:ext cx="4724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 des « formalités préalables » à une conformité continue</a:t>
            </a:r>
            <a:endParaRPr lang="en-US" sz="1400" dirty="0"/>
          </a:p>
        </p:txBody>
      </p:sp>
      <p:sp>
        <p:nvSpPr>
          <p:cNvPr id="24" name="Text 8"/>
          <p:cNvSpPr/>
          <p:nvPr/>
        </p:nvSpPr>
        <p:spPr>
          <a:xfrm>
            <a:off x="571500" y="6119813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5" name="Text 9"/>
          <p:cNvSpPr/>
          <p:nvPr/>
        </p:nvSpPr>
        <p:spPr>
          <a:xfrm>
            <a:off x="11420475" y="6119813"/>
            <a:ext cx="220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3730637-99BA-8FD0-F698-FC5065708913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590675"/>
            <a:ext cx="323850" cy="3333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476500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3371850"/>
            <a:ext cx="323850" cy="3238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4257675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1900" y="1524000"/>
            <a:ext cx="4076700" cy="44291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7050" y="1257300"/>
            <a:ext cx="1238250" cy="1247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1400" y="5191125"/>
            <a:ext cx="933450" cy="9429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1625" y="1752600"/>
            <a:ext cx="857250" cy="9620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6750" y="4572000"/>
            <a:ext cx="2667000" cy="381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Renforcement des sanctions &amp; responsabilisation</a:t>
            </a:r>
            <a:endParaRPr lang="en-US" sz="2900" dirty="0"/>
          </a:p>
        </p:txBody>
      </p:sp>
      <p:pic>
        <p:nvPicPr>
          <p:cNvPr id="1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1676400"/>
            <a:ext cx="152400" cy="161925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>
            <a:off x="1028700" y="1566863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Renforcement du contrôle</a:t>
            </a:r>
            <a:endParaRPr lang="en-US" sz="1400" dirty="0"/>
          </a:p>
        </p:txBody>
      </p:sp>
      <p:sp>
        <p:nvSpPr>
          <p:cNvPr id="18" name="Text 2"/>
          <p:cNvSpPr/>
          <p:nvPr/>
        </p:nvSpPr>
        <p:spPr>
          <a:xfrm>
            <a:off x="1028700" y="1871663"/>
            <a:ext cx="51054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Renforcement du contrôle par l’autorité de protection des données</a:t>
            </a:r>
            <a:endParaRPr lang="en-US" sz="1200" dirty="0"/>
          </a:p>
        </p:txBody>
      </p:sp>
      <p:pic>
        <p:nvPicPr>
          <p:cNvPr id="19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2562225"/>
            <a:ext cx="190500" cy="16192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1028700" y="2455069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21" name="Text 4"/>
          <p:cNvSpPr/>
          <p:nvPr/>
        </p:nvSpPr>
        <p:spPr>
          <a:xfrm>
            <a:off x="1028700" y="2759869"/>
            <a:ext cx="56007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Mettre en œuvre des mesures efficaces + pouvoir en apporter la preuve</a:t>
            </a:r>
            <a:endParaRPr lang="en-US" sz="1200" dirty="0"/>
          </a:p>
        </p:txBody>
      </p:sp>
      <p:pic>
        <p:nvPicPr>
          <p:cNvPr id="22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3457575"/>
            <a:ext cx="152400" cy="152400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1028700" y="3343275"/>
            <a:ext cx="563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 de mesures</a:t>
            </a:r>
            <a:endParaRPr lang="en-US" sz="1400" dirty="0"/>
          </a:p>
        </p:txBody>
      </p:sp>
      <p:sp>
        <p:nvSpPr>
          <p:cNvPr id="24" name="Text 6"/>
          <p:cNvSpPr/>
          <p:nvPr/>
        </p:nvSpPr>
        <p:spPr>
          <a:xfrm>
            <a:off x="1028700" y="3648075"/>
            <a:ext cx="56388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DPO, registre des traitements, privacy by design/by default, AIPD (DPIA)</a:t>
            </a:r>
            <a:endParaRPr lang="en-US" sz="1200" dirty="0"/>
          </a:p>
        </p:txBody>
      </p:sp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" y="4343400"/>
            <a:ext cx="171450" cy="161925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1028700" y="4231481"/>
            <a:ext cx="613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Lignes directrices du G29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1028700" y="4536281"/>
            <a:ext cx="6134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Précisent : autorité chef de file, DPO, portabilité, AIPD, notification des violations</a:t>
            </a:r>
            <a:endParaRPr lang="en-US" sz="120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96425" y="2057400"/>
            <a:ext cx="247650" cy="257175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8301038" y="2719388"/>
            <a:ext cx="29022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Amendes Administratives</a:t>
            </a:r>
            <a:endParaRPr lang="en-US" sz="1700" dirty="0"/>
          </a:p>
        </p:txBody>
      </p:sp>
      <p:sp>
        <p:nvSpPr>
          <p:cNvPr id="30" name="Text 10"/>
          <p:cNvSpPr/>
          <p:nvPr/>
        </p:nvSpPr>
        <p:spPr>
          <a:xfrm>
            <a:off x="8301038" y="3100388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Jusqu'à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8982075" y="3595688"/>
            <a:ext cx="1403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M€</a:t>
            </a:r>
            <a:endParaRPr lang="en-US" sz="3400" dirty="0"/>
          </a:p>
        </p:txBody>
      </p:sp>
      <p:sp>
        <p:nvSpPr>
          <p:cNvPr id="32" name="Text 12"/>
          <p:cNvSpPr/>
          <p:nvPr/>
        </p:nvSpPr>
        <p:spPr>
          <a:xfrm>
            <a:off x="8772525" y="4090987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2% du CA mondial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8939213" y="4824413"/>
            <a:ext cx="1498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M€</a:t>
            </a:r>
            <a:endParaRPr lang="en-US" sz="3400" dirty="0"/>
          </a:p>
        </p:txBody>
      </p:sp>
      <p:sp>
        <p:nvSpPr>
          <p:cNvPr id="34" name="Text 14"/>
          <p:cNvSpPr/>
          <p:nvPr/>
        </p:nvSpPr>
        <p:spPr>
          <a:xfrm>
            <a:off x="8772525" y="5319713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4% du CA mondial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571500" y="6062663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6" name="Text 16"/>
          <p:cNvSpPr/>
          <p:nvPr/>
        </p:nvSpPr>
        <p:spPr>
          <a:xfrm>
            <a:off x="11430000" y="6062663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C9498DC-6D68-6A5D-7F97-94F7014421FA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5372100" cy="441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2819400"/>
            <a:ext cx="466725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29146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3333750"/>
            <a:ext cx="76200" cy="85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4162425"/>
            <a:ext cx="4667250" cy="10001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524000"/>
            <a:ext cx="5372100" cy="36861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7975" y="2486025"/>
            <a:ext cx="95250" cy="104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7975" y="3028950"/>
            <a:ext cx="95250" cy="952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le RGPD s’applique (champ matériel)</a:t>
            </a:r>
            <a:endParaRPr lang="en-US" sz="2900" dirty="0"/>
          </a:p>
        </p:txBody>
      </p:sp>
      <p:sp>
        <p:nvSpPr>
          <p:cNvPr id="15" name="Text 1"/>
          <p:cNvSpPr/>
          <p:nvPr/>
        </p:nvSpPr>
        <p:spPr>
          <a:xfrm>
            <a:off x="1257300" y="1881187"/>
            <a:ext cx="30279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S’applique aux traitements</a:t>
            </a:r>
            <a:endParaRPr lang="en-US" sz="1700" dirty="0"/>
          </a:p>
        </p:txBody>
      </p:sp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1895475"/>
            <a:ext cx="247650" cy="257175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914400" y="2443163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Traitements de données personnelles :</a:t>
            </a:r>
            <a:endParaRPr lang="en-US" sz="1400" dirty="0"/>
          </a:p>
        </p:txBody>
      </p:sp>
      <p:sp>
        <p:nvSpPr>
          <p:cNvPr id="18" name="Text 3"/>
          <p:cNvSpPr/>
          <p:nvPr/>
        </p:nvSpPr>
        <p:spPr>
          <a:xfrm>
            <a:off x="1247775" y="2828925"/>
            <a:ext cx="33051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Automatisés (totalement/partiellement)</a:t>
            </a:r>
            <a:endParaRPr lang="en-US" sz="1400" dirty="0"/>
          </a:p>
        </p:txBody>
      </p:sp>
      <p:sp>
        <p:nvSpPr>
          <p:cNvPr id="19" name="Text 4"/>
          <p:cNvSpPr/>
          <p:nvPr/>
        </p:nvSpPr>
        <p:spPr>
          <a:xfrm>
            <a:off x="1247775" y="3252788"/>
            <a:ext cx="43148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 automatisés si les données sont/destinent à figurer dans un fichier</a:t>
            </a:r>
            <a:endParaRPr lang="en-US" sz="1400" dirty="0"/>
          </a:p>
        </p:txBody>
      </p:sp>
      <p:sp>
        <p:nvSpPr>
          <p:cNvPr id="20" name="Text 5"/>
          <p:cNvSpPr/>
          <p:nvPr/>
        </p:nvSpPr>
        <p:spPr>
          <a:xfrm>
            <a:off x="1343025" y="4395788"/>
            <a:ext cx="181260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Définition : « Fichier »</a:t>
            </a:r>
            <a:endParaRPr lang="en-US" sz="12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900" y="4429125"/>
            <a:ext cx="171450" cy="161925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1343025" y="4681538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structuré accessible selon des critères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7010400" y="1881187"/>
            <a:ext cx="19697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s’applique pas</a:t>
            </a:r>
            <a:endParaRPr lang="en-US" sz="17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57975" y="1895475"/>
            <a:ext cx="247650" cy="25717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896100" y="2405063"/>
            <a:ext cx="429577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Activités exclusivement personnelles/domestiques</a:t>
            </a:r>
            <a:endParaRPr lang="en-US" sz="1400" dirty="0"/>
          </a:p>
        </p:txBody>
      </p:sp>
      <p:sp>
        <p:nvSpPr>
          <p:cNvPr id="26" name="Text 9"/>
          <p:cNvSpPr/>
          <p:nvPr/>
        </p:nvSpPr>
        <p:spPr>
          <a:xfrm>
            <a:off x="6896100" y="2943225"/>
            <a:ext cx="44196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Certaines activités spécifiques des États/autorités compétentes (art. 2)</a:t>
            </a:r>
            <a:endParaRPr lang="en-US" sz="14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10439400" y="5534025"/>
            <a:ext cx="1190625" cy="371475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9" name="Text 11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E3CB894-CDAF-15E8-E815-DABCE2928917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5448300" cy="3181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1895475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771900"/>
            <a:ext cx="4781550" cy="590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524000"/>
            <a:ext cx="5448300" cy="3181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3675" y="1895475"/>
            <a:ext cx="476250" cy="485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3124200"/>
            <a:ext cx="4705350" cy="552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3209925"/>
            <a:ext cx="381000" cy="390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875" y="3810000"/>
            <a:ext cx="4705350" cy="552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5600" y="3895725"/>
            <a:ext cx="381000" cy="3905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4848225"/>
            <a:ext cx="111252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39375" y="5105400"/>
            <a:ext cx="1162050" cy="84772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le RGPD s’applique (champ territorial)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125" y="2028825"/>
            <a:ext cx="209550" cy="21907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485900" y="1985963"/>
            <a:ext cx="27136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Établissement dans l’UE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876300" y="2595563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S’applique lorsque le traitement est effectué dans le cadre des activités d’un établissement dans l’UE.</a:t>
            </a:r>
            <a:endParaRPr lang="en-US" sz="1400" dirty="0"/>
          </a:p>
        </p:txBody>
      </p:sp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275" y="3962400"/>
            <a:ext cx="190500" cy="190500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1352550" y="3933825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Même si le traitement a lieu hors UE</a:t>
            </a:r>
            <a:endParaRPr lang="en-US" sz="12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028825"/>
            <a:ext cx="209550" cy="21907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7162800" y="1985963"/>
            <a:ext cx="42119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Responsables/Sous-traitants hors UE</a:t>
            </a:r>
            <a:endParaRPr lang="en-US" sz="1700" dirty="0"/>
          </a:p>
        </p:txBody>
      </p:sp>
      <p:sp>
        <p:nvSpPr>
          <p:cNvPr id="25" name="Text 5"/>
          <p:cNvSpPr/>
          <p:nvPr/>
        </p:nvSpPr>
        <p:spPr>
          <a:xfrm>
            <a:off x="6553200" y="2595563"/>
            <a:ext cx="47625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S’applique lorsqu'ils ciblent des résidents de l’UE :</a:t>
            </a:r>
            <a:endParaRPr lang="en-US" sz="1400" dirty="0"/>
          </a:p>
        </p:txBody>
      </p:sp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10375" y="3324225"/>
            <a:ext cx="171450" cy="152400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7200900" y="3267075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Offre de biens/services</a:t>
            </a:r>
            <a:endParaRPr lang="en-US" sz="1200" dirty="0"/>
          </a:p>
        </p:txBody>
      </p:sp>
      <p:pic>
        <p:nvPicPr>
          <p:cNvPr id="28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0375" y="4010025"/>
            <a:ext cx="171450" cy="152400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7200900" y="3952875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du comportement au sein de l’UE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838200" y="5205413"/>
            <a:ext cx="4756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de décision clés</a:t>
            </a:r>
            <a:endParaRPr lang="en-US" sz="1200" dirty="0"/>
          </a:p>
        </p:txBody>
      </p:sp>
      <p:pic>
        <p:nvPicPr>
          <p:cNvPr id="31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675" y="5610225"/>
            <a:ext cx="161925" cy="219075"/>
          </a:xfrm>
          <a:prstGeom prst="rect">
            <a:avLst/>
          </a:prstGeom>
        </p:spPr>
      </p:pic>
      <p:sp>
        <p:nvSpPr>
          <p:cNvPr id="32" name="Text 9"/>
          <p:cNvSpPr/>
          <p:nvPr/>
        </p:nvSpPr>
        <p:spPr>
          <a:xfrm>
            <a:off x="1057275" y="5586413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Établissement</a:t>
            </a:r>
            <a:endParaRPr lang="en-US" sz="1400" dirty="0"/>
          </a:p>
        </p:txBody>
      </p:sp>
      <p:sp>
        <p:nvSpPr>
          <p:cNvPr id="33" name="Text 10"/>
          <p:cNvSpPr/>
          <p:nvPr/>
        </p:nvSpPr>
        <p:spPr>
          <a:xfrm>
            <a:off x="2552700" y="5586413"/>
            <a:ext cx="5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400" dirty="0"/>
          </a:p>
        </p:txBody>
      </p:sp>
      <p:pic>
        <p:nvPicPr>
          <p:cNvPr id="34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05125" y="5610225"/>
            <a:ext cx="209550" cy="219075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3181350" y="5586413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Ciblage</a:t>
            </a:r>
            <a:endParaRPr lang="en-US" sz="1400" dirty="0"/>
          </a:p>
        </p:txBody>
      </p:sp>
      <p:sp>
        <p:nvSpPr>
          <p:cNvPr id="36" name="Text 12"/>
          <p:cNvSpPr/>
          <p:nvPr/>
        </p:nvSpPr>
        <p:spPr>
          <a:xfrm>
            <a:off x="4133850" y="5586413"/>
            <a:ext cx="5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400" dirty="0"/>
          </a:p>
        </p:txBody>
      </p:sp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6275" y="5610225"/>
            <a:ext cx="209550" cy="219075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4762500" y="5586413"/>
            <a:ext cx="400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</a:t>
            </a:r>
            <a:endParaRPr lang="en-US" sz="1400" dirty="0"/>
          </a:p>
        </p:txBody>
      </p:sp>
      <p:pic>
        <p:nvPicPr>
          <p:cNvPr id="39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53700" y="5105400"/>
            <a:ext cx="847725" cy="84772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571500" y="6334125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1" name="Text 15"/>
          <p:cNvSpPr/>
          <p:nvPr/>
        </p:nvSpPr>
        <p:spPr>
          <a:xfrm>
            <a:off x="11449050" y="6334125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24EDDC7A-C38C-271A-2F61-03956B957F82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0"/>
            <a:ext cx="2867025" cy="28670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524000"/>
            <a:ext cx="11125200" cy="1943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676650"/>
            <a:ext cx="3609975" cy="26384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943350"/>
            <a:ext cx="3076575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943350"/>
            <a:ext cx="40005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0" y="3676650"/>
            <a:ext cx="3619500" cy="26384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2950" y="3943350"/>
            <a:ext cx="30861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2950" y="3943350"/>
            <a:ext cx="409575" cy="409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48625" y="3676650"/>
            <a:ext cx="3609975" cy="26384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5" y="3943350"/>
            <a:ext cx="3076575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5325" y="3943350"/>
            <a:ext cx="409575" cy="4095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Qu’est-ce qu’une « donnée personnelle » ?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>
            <a:off x="942975" y="1895475"/>
            <a:ext cx="276225" cy="31432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362075" y="1871663"/>
            <a:ext cx="99536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 information permettant d’identifier une personne physique, directement ou indirectement (art. 4)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1409700" y="2843213"/>
            <a:ext cx="990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Identifiants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nom, numéro d’identification, données de localisation, identifiant en ligne</a:t>
            </a:r>
            <a:endParaRPr lang="en-US" sz="1200" dirty="0"/>
          </a:p>
        </p:txBody>
      </p:sp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6300" y="4038600"/>
            <a:ext cx="247650" cy="21907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1304925" y="4014788"/>
            <a:ext cx="15611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Identité &amp; Contact</a:t>
            </a:r>
            <a:endParaRPr lang="en-US" sz="12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657725"/>
            <a:ext cx="123825" cy="14287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1028700" y="4614863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téléphone</a:t>
            </a:r>
            <a:endParaRPr lang="en-US" sz="1200" dirty="0"/>
          </a:p>
        </p:txBody>
      </p:sp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038725"/>
            <a:ext cx="123825" cy="142875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1028700" y="4995863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adresse postale/e-mail</a:t>
            </a:r>
            <a:endParaRPr lang="en-US" sz="1200" dirty="0"/>
          </a:p>
        </p:txBody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419725"/>
            <a:ext cx="123825" cy="142875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1028700" y="5376863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compte/carte bancaire</a:t>
            </a:r>
            <a:endParaRPr lang="en-US" sz="1200" dirty="0"/>
          </a:p>
        </p:txBody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800725"/>
            <a:ext cx="123825" cy="142875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1028700" y="5757863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NIR, identifiant national</a:t>
            </a:r>
            <a:endParaRPr lang="en-US" sz="1200" dirty="0"/>
          </a:p>
        </p:txBody>
      </p:sp>
      <p:pic>
        <p:nvPicPr>
          <p:cNvPr id="31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8200" y="4038600"/>
            <a:ext cx="219075" cy="219075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5064026" y="4014788"/>
            <a:ext cx="20012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Numérique &amp; Biométrie</a:t>
            </a:r>
            <a:endParaRPr lang="en-US" sz="1200" dirty="0"/>
          </a:p>
        </p:txBody>
      </p:sp>
      <p:pic>
        <p:nvPicPr>
          <p:cNvPr id="33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2950" y="4657725"/>
            <a:ext cx="133350" cy="142875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4787801" y="4614863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adresse IP</a:t>
            </a:r>
            <a:endParaRPr lang="en-US" sz="1200" dirty="0"/>
          </a:p>
        </p:txBody>
      </p:sp>
      <p:pic>
        <p:nvPicPr>
          <p:cNvPr id="3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2950" y="5038725"/>
            <a:ext cx="133350" cy="142875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4787801" y="4995863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géolocalisation</a:t>
            </a:r>
            <a:endParaRPr lang="en-US" sz="1200" dirty="0"/>
          </a:p>
        </p:txBody>
      </p:sp>
      <p:pic>
        <p:nvPicPr>
          <p:cNvPr id="37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2950" y="5419725"/>
            <a:ext cx="133350" cy="142875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4787801" y="5376863"/>
            <a:ext cx="72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biométrie</a:t>
            </a:r>
            <a:endParaRPr lang="en-US" sz="1200" dirty="0"/>
          </a:p>
        </p:txBody>
      </p:sp>
      <p:pic>
        <p:nvPicPr>
          <p:cNvPr id="39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2950" y="5800725"/>
            <a:ext cx="133350" cy="142875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4787801" y="5757863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photographies</a:t>
            </a:r>
            <a:endParaRPr lang="en-US" sz="1200" dirty="0"/>
          </a:p>
        </p:txBody>
      </p:sp>
      <p:pic>
        <p:nvPicPr>
          <p:cNvPr id="41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9625" y="4038600"/>
            <a:ext cx="171450" cy="219075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8823275" y="4014788"/>
            <a:ext cx="20850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Professionnel &amp; Système</a:t>
            </a:r>
            <a:endParaRPr lang="en-US" sz="1200" dirty="0"/>
          </a:p>
        </p:txBody>
      </p:sp>
      <p:pic>
        <p:nvPicPr>
          <p:cNvPr id="43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5325" y="4657725"/>
            <a:ext cx="133350" cy="142875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8547050" y="4614863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RH</a:t>
            </a:r>
            <a:endParaRPr lang="en-US" sz="1200" dirty="0"/>
          </a:p>
        </p:txBody>
      </p:sp>
      <p:pic>
        <p:nvPicPr>
          <p:cNvPr id="45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5325" y="5038725"/>
            <a:ext cx="133350" cy="142875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8547050" y="4995863"/>
            <a:ext cx="28351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identifiants de connexion à une application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571500" y="6424613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8" name="Text 17"/>
          <p:cNvSpPr/>
          <p:nvPr/>
        </p:nvSpPr>
        <p:spPr>
          <a:xfrm>
            <a:off x="11430000" y="6424613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C4E7C648-D745-51E5-88FF-8A83CA367C4F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0"/>
            <a:ext cx="2867025" cy="28670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524000"/>
            <a:ext cx="11125200" cy="1314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1857375"/>
            <a:ext cx="628650" cy="6381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048000"/>
            <a:ext cx="2695575" cy="2895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086100"/>
            <a:ext cx="2619375" cy="666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314700"/>
            <a:ext cx="2162175" cy="419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3275" y="3048000"/>
            <a:ext cx="2695575" cy="2895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81375" y="3086100"/>
            <a:ext cx="2619375" cy="666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9975" y="3314700"/>
            <a:ext cx="2162175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150" y="3048000"/>
            <a:ext cx="2695575" cy="2895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0" y="3086100"/>
            <a:ext cx="2619375" cy="666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3314700"/>
            <a:ext cx="2162175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3025" y="3048000"/>
            <a:ext cx="2695575" cy="2895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1125" y="3086100"/>
            <a:ext cx="2619375" cy="666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9725" y="3314700"/>
            <a:ext cx="2162175" cy="419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Qu’est-ce qu’un « traitement » ?</a:t>
            </a:r>
            <a:endParaRPr lang="en-US" sz="2900" dirty="0"/>
          </a:p>
        </p:txBody>
      </p:sp>
      <p:pic>
        <p:nvPicPr>
          <p:cNvPr id="22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" y="2019300"/>
            <a:ext cx="381000" cy="314325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1790700" y="1990725"/>
            <a:ext cx="952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 opération sur des données personnelles, quel que soit le procédé (art. 4)</a:t>
            </a:r>
            <a:endParaRPr lang="en-US" sz="1700" dirty="0"/>
          </a:p>
        </p:txBody>
      </p:sp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3324225"/>
            <a:ext cx="219075" cy="247650"/>
          </a:xfrm>
          <a:prstGeom prst="rect">
            <a:avLst/>
          </a:prstGeom>
        </p:spPr>
      </p:pic>
      <p:sp>
        <p:nvSpPr>
          <p:cNvPr id="25" name="Text 2"/>
          <p:cNvSpPr/>
          <p:nvPr/>
        </p:nvSpPr>
        <p:spPr>
          <a:xfrm>
            <a:off x="1123950" y="3328988"/>
            <a:ext cx="10372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Constitution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809625" y="3871913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09625" y="4162425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enregistrement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809625" y="4452938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09625" y="4743450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conservation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809625" y="5033963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adaptation / modification</a:t>
            </a:r>
            <a:endParaRPr lang="en-US" sz="1200" dirty="0"/>
          </a:p>
        </p:txBody>
      </p:sp>
      <p:pic>
        <p:nvPicPr>
          <p:cNvPr id="31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67050" y="4305300"/>
            <a:ext cx="238125" cy="371475"/>
          </a:xfrm>
          <a:prstGeom prst="rect">
            <a:avLst/>
          </a:prstGeom>
        </p:spPr>
      </p:pic>
      <p:pic>
        <p:nvPicPr>
          <p:cNvPr id="32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9975" y="3324225"/>
            <a:ext cx="247650" cy="247650"/>
          </a:xfrm>
          <a:prstGeom prst="rect">
            <a:avLst/>
          </a:prstGeom>
        </p:spPr>
      </p:pic>
      <p:sp>
        <p:nvSpPr>
          <p:cNvPr id="33" name="Text 8"/>
          <p:cNvSpPr/>
          <p:nvPr/>
        </p:nvSpPr>
        <p:spPr>
          <a:xfrm>
            <a:off x="3962400" y="3328988"/>
            <a:ext cx="10267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Exploitation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3619500" y="3871913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3619500" y="4162425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3619500" y="4452938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utilisation</a:t>
            </a:r>
            <a:endParaRPr lang="en-US" sz="1200" dirty="0"/>
          </a:p>
        </p:txBody>
      </p:sp>
      <p:pic>
        <p:nvPicPr>
          <p:cNvPr id="37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76925" y="4305300"/>
            <a:ext cx="238125" cy="371475"/>
          </a:xfrm>
          <a:prstGeom prst="rect">
            <a:avLst/>
          </a:prstGeom>
        </p:spPr>
      </p:pic>
      <p:pic>
        <p:nvPicPr>
          <p:cNvPr id="38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3324225"/>
            <a:ext cx="219075" cy="247650"/>
          </a:xfrm>
          <a:prstGeom prst="rect">
            <a:avLst/>
          </a:prstGeom>
        </p:spPr>
      </p:pic>
      <p:sp>
        <p:nvSpPr>
          <p:cNvPr id="39" name="Text 12"/>
          <p:cNvSpPr/>
          <p:nvPr/>
        </p:nvSpPr>
        <p:spPr>
          <a:xfrm>
            <a:off x="6743700" y="3328988"/>
            <a:ext cx="754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Diffusion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429375" y="3871913"/>
            <a:ext cx="21431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/ transmission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6429375" y="4376738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diffusion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429375" y="4667250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à disposition</a:t>
            </a:r>
            <a:endParaRPr lang="en-US" sz="1200" dirty="0"/>
          </a:p>
        </p:txBody>
      </p:sp>
      <p:pic>
        <p:nvPicPr>
          <p:cNvPr id="43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86800" y="4305300"/>
            <a:ext cx="238125" cy="371475"/>
          </a:xfrm>
          <a:prstGeom prst="rect">
            <a:avLst/>
          </a:prstGeom>
        </p:spPr>
      </p:pic>
      <p:pic>
        <p:nvPicPr>
          <p:cNvPr id="44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9725" y="3324225"/>
            <a:ext cx="247650" cy="247650"/>
          </a:xfrm>
          <a:prstGeom prst="rect">
            <a:avLst/>
          </a:prstGeom>
        </p:spPr>
      </p:pic>
      <p:sp>
        <p:nvSpPr>
          <p:cNvPr id="45" name="Text 16"/>
          <p:cNvSpPr/>
          <p:nvPr/>
        </p:nvSpPr>
        <p:spPr>
          <a:xfrm>
            <a:off x="9582150" y="3328988"/>
            <a:ext cx="660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9239250" y="3871913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rapprochement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9239250" y="4162425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9239250" y="4452938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effacement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9239250" y="4743450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destruction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1" name="Text 22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A39BCBE1-86D3-7E41-5279-6B07D380F3D5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0"/>
            <a:ext cx="2867025" cy="28670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524000"/>
            <a:ext cx="11125200" cy="14192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1914525"/>
            <a:ext cx="628650" cy="6286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152775"/>
            <a:ext cx="3609975" cy="27908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90875"/>
            <a:ext cx="3533775" cy="857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495675"/>
            <a:ext cx="2924175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3533775"/>
            <a:ext cx="476250" cy="485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90900" y="5191125"/>
            <a:ext cx="942975" cy="933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250" y="3152775"/>
            <a:ext cx="3619500" cy="27908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24350" y="3190875"/>
            <a:ext cx="3543300" cy="857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9150" y="3495675"/>
            <a:ext cx="29337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29150" y="3495675"/>
            <a:ext cx="485775" cy="485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53275" y="5191125"/>
            <a:ext cx="942975" cy="933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48625" y="3152775"/>
            <a:ext cx="3609975" cy="27908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86725" y="3190875"/>
            <a:ext cx="3533775" cy="857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91525" y="3495675"/>
            <a:ext cx="2924175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91525" y="3495675"/>
            <a:ext cx="485775" cy="48577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6125" y="5191125"/>
            <a:ext cx="942975" cy="9334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Acteurs clés (art. 4)</a:t>
            </a:r>
            <a:endParaRPr lang="en-US" sz="2900" dirty="0"/>
          </a:p>
        </p:txBody>
      </p:sp>
      <p:pic>
        <p:nvPicPr>
          <p:cNvPr id="2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800" y="2076450"/>
            <a:ext cx="381000" cy="304800"/>
          </a:xfrm>
          <a:prstGeom prst="rect">
            <a:avLst/>
          </a:prstGeom>
        </p:spPr>
      </p:pic>
      <p:sp>
        <p:nvSpPr>
          <p:cNvPr id="26" name="Text 1"/>
          <p:cNvSpPr/>
          <p:nvPr/>
        </p:nvSpPr>
        <p:spPr>
          <a:xfrm>
            <a:off x="1790700" y="1871663"/>
            <a:ext cx="952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Logique de responsabilité : responsables et sous-traitants sous contrôle de l’autorité</a:t>
            </a:r>
            <a:endParaRPr lang="en-US" sz="1700" dirty="0"/>
          </a:p>
        </p:txBody>
      </p:sp>
      <p:sp>
        <p:nvSpPr>
          <p:cNvPr id="27" name="Text 2"/>
          <p:cNvSpPr/>
          <p:nvPr/>
        </p:nvSpPr>
        <p:spPr>
          <a:xfrm>
            <a:off x="1790700" y="2319338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Centralité des contrats et des instructions en gouvernance RGPD</a:t>
            </a:r>
            <a:endParaRPr lang="en-US" sz="1200" dirty="0"/>
          </a:p>
        </p:txBody>
      </p:sp>
      <p:pic>
        <p:nvPicPr>
          <p:cNvPr id="28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0125" y="3648075"/>
            <a:ext cx="228600" cy="257175"/>
          </a:xfrm>
          <a:prstGeom prst="rect">
            <a:avLst/>
          </a:prstGeom>
        </p:spPr>
      </p:pic>
      <p:sp>
        <p:nvSpPr>
          <p:cNvPr id="29" name="Text 3"/>
          <p:cNvSpPr/>
          <p:nvPr/>
        </p:nvSpPr>
        <p:spPr>
          <a:xfrm>
            <a:off x="1488579" y="3509963"/>
            <a:ext cx="25290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Responsable de traitement</a:t>
            </a:r>
            <a:endParaRPr lang="en-US" sz="1400" dirty="0"/>
          </a:p>
        </p:txBody>
      </p:sp>
      <p:sp>
        <p:nvSpPr>
          <p:cNvPr id="30" name="Text 4"/>
          <p:cNvSpPr/>
          <p:nvPr/>
        </p:nvSpPr>
        <p:spPr>
          <a:xfrm>
            <a:off x="885825" y="4698206"/>
            <a:ext cx="290185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Détermine les </a:t>
            </a: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finalités</a:t>
            </a: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les </a:t>
            </a: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moyens</a:t>
            </a: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 traitement</a:t>
            </a:r>
            <a:endParaRPr lang="en-US" sz="1400" dirty="0"/>
          </a:p>
        </p:txBody>
      </p:sp>
      <p:pic>
        <p:nvPicPr>
          <p:cNvPr id="31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14875" y="3609975"/>
            <a:ext cx="314325" cy="257175"/>
          </a:xfrm>
          <a:prstGeom prst="rect">
            <a:avLst/>
          </a:prstGeom>
        </p:spPr>
      </p:pic>
      <p:sp>
        <p:nvSpPr>
          <p:cNvPr id="32" name="Text 5"/>
          <p:cNvSpPr/>
          <p:nvPr/>
        </p:nvSpPr>
        <p:spPr>
          <a:xfrm>
            <a:off x="5254526" y="3605213"/>
            <a:ext cx="12887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Sous-traitant</a:t>
            </a:r>
            <a:endParaRPr lang="en-US" sz="1400" dirty="0"/>
          </a:p>
        </p:txBody>
      </p:sp>
      <p:sp>
        <p:nvSpPr>
          <p:cNvPr id="33" name="Text 6"/>
          <p:cNvSpPr/>
          <p:nvPr/>
        </p:nvSpPr>
        <p:spPr>
          <a:xfrm>
            <a:off x="4644926" y="4660106"/>
            <a:ext cx="2902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 les données personnelles </a:t>
            </a: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le compte</a:t>
            </a: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 responsable</a:t>
            </a:r>
            <a:endParaRPr lang="en-US" sz="1400" dirty="0"/>
          </a:p>
        </p:txBody>
      </p:sp>
      <p:pic>
        <p:nvPicPr>
          <p:cNvPr id="34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05825" y="3609975"/>
            <a:ext cx="257175" cy="257175"/>
          </a:xfrm>
          <a:prstGeom prst="rect">
            <a:avLst/>
          </a:prstGeom>
        </p:spPr>
      </p:pic>
      <p:sp>
        <p:nvSpPr>
          <p:cNvPr id="35" name="Text 7"/>
          <p:cNvSpPr/>
          <p:nvPr/>
        </p:nvSpPr>
        <p:spPr>
          <a:xfrm>
            <a:off x="9013775" y="3605213"/>
            <a:ext cx="12049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Destinataire</a:t>
            </a:r>
            <a:endParaRPr lang="en-US" sz="1400" dirty="0"/>
          </a:p>
        </p:txBody>
      </p:sp>
      <p:sp>
        <p:nvSpPr>
          <p:cNvPr id="36" name="Text 8"/>
          <p:cNvSpPr/>
          <p:nvPr/>
        </p:nvSpPr>
        <p:spPr>
          <a:xfrm>
            <a:off x="8404175" y="4505325"/>
            <a:ext cx="2901851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Entité recevant la </a:t>
            </a: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</a:t>
            </a: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(qu'il s'agisse d'un tiers ou non)</a:t>
            </a:r>
            <a:endParaRPr lang="en-US" sz="1400" dirty="0"/>
          </a:p>
        </p:txBody>
      </p:sp>
      <p:sp>
        <p:nvSpPr>
          <p:cNvPr id="37" name="Text 9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8" name="Text 10"/>
          <p:cNvSpPr/>
          <p:nvPr/>
        </p:nvSpPr>
        <p:spPr>
          <a:xfrm>
            <a:off x="11468100" y="6057900"/>
            <a:ext cx="16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895CCBA-F24B-157E-F643-84A3EC9845CF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00200"/>
            <a:ext cx="5372100" cy="1238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3667125"/>
            <a:ext cx="133350" cy="1428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4057650"/>
            <a:ext cx="133350" cy="1428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" y="4448175"/>
            <a:ext cx="133350" cy="142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0775" y="1952625"/>
            <a:ext cx="5543550" cy="3352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3371850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6075" y="4200525"/>
            <a:ext cx="323850" cy="33337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un traitement est licite</a:t>
            </a:r>
            <a:endParaRPr lang="en-US" sz="2900" dirty="0"/>
          </a:p>
        </p:txBody>
      </p:sp>
      <p:sp>
        <p:nvSpPr>
          <p:cNvPr id="14" name="Text 1"/>
          <p:cNvSpPr/>
          <p:nvPr/>
        </p:nvSpPr>
        <p:spPr>
          <a:xfrm>
            <a:off x="838200" y="1871663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traitement n’est licite que s’il repose sur une base légale (art. 6)</a:t>
            </a:r>
            <a:endParaRPr lang="en-US" sz="1700" dirty="0"/>
          </a:p>
        </p:txBody>
      </p:sp>
      <p:sp>
        <p:nvSpPr>
          <p:cNvPr id="15" name="Text 2"/>
          <p:cNvSpPr/>
          <p:nvPr/>
        </p:nvSpPr>
        <p:spPr>
          <a:xfrm>
            <a:off x="647700" y="3090863"/>
            <a:ext cx="5741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Bases légales</a:t>
            </a:r>
            <a:endParaRPr lang="en-US" sz="1400" dirty="0"/>
          </a:p>
        </p:txBody>
      </p:sp>
      <p:sp>
        <p:nvSpPr>
          <p:cNvPr id="16" name="Text 3"/>
          <p:cNvSpPr/>
          <p:nvPr/>
        </p:nvSpPr>
        <p:spPr>
          <a:xfrm>
            <a:off x="914400" y="3586163"/>
            <a:ext cx="48291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légale ; intérêts vitaux ; mission d’intérêt public</a:t>
            </a:r>
            <a:endParaRPr lang="en-US" sz="1400" dirty="0"/>
          </a:p>
        </p:txBody>
      </p:sp>
      <p:sp>
        <p:nvSpPr>
          <p:cNvPr id="17" name="Text 4"/>
          <p:cNvSpPr/>
          <p:nvPr/>
        </p:nvSpPr>
        <p:spPr>
          <a:xfrm>
            <a:off x="914400" y="3976687"/>
            <a:ext cx="3067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 / mesures précontractuelles</a:t>
            </a:r>
            <a:endParaRPr lang="en-US" sz="1400" dirty="0"/>
          </a:p>
        </p:txBody>
      </p:sp>
      <p:sp>
        <p:nvSpPr>
          <p:cNvPr id="18" name="Text 5"/>
          <p:cNvSpPr/>
          <p:nvPr/>
        </p:nvSpPr>
        <p:spPr>
          <a:xfrm>
            <a:off x="914400" y="4367213"/>
            <a:ext cx="4495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Intérêt légitime (avec mise en balance droits/libertés)</a:t>
            </a:r>
            <a:endParaRPr lang="en-US" sz="14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3505200"/>
            <a:ext cx="1952625" cy="1743075"/>
          </a:xfrm>
          <a:prstGeom prst="rect">
            <a:avLst/>
          </a:prstGeom>
        </p:spPr>
      </p:pic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6075" y="2524125"/>
            <a:ext cx="4552950" cy="53340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>
            <a:off x="6705600" y="2536031"/>
            <a:ext cx="49872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consentement (art. 7)</a:t>
            </a:r>
            <a:endParaRPr lang="en-US" sz="2100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75" y="3438525"/>
            <a:ext cx="171450" cy="200025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7200900" y="3345656"/>
            <a:ext cx="403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Spécifique, clair, accessible ; retrait à tout moment</a:t>
            </a:r>
            <a:endParaRPr lang="en-US" sz="14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75" y="4267200"/>
            <a:ext cx="171450" cy="20002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7200900" y="4174331"/>
            <a:ext cx="403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doit pouvoir démontrer l’existence du consentement</a:t>
            </a:r>
            <a:endParaRPr lang="en-US" sz="1400" dirty="0"/>
          </a:p>
        </p:txBody>
      </p:sp>
      <p:sp>
        <p:nvSpPr>
          <p:cNvPr id="26" name="Text 9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7" name="Text 10"/>
          <p:cNvSpPr/>
          <p:nvPr/>
        </p:nvSpPr>
        <p:spPr>
          <a:xfrm>
            <a:off x="11525250" y="6057900"/>
            <a:ext cx="21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FF0B77F-7F8C-1ACF-71D9-F353D1615DE9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00300"/>
            <a:ext cx="2133600" cy="16097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975" y="2733675"/>
            <a:ext cx="552450" cy="5619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300" y="2400300"/>
            <a:ext cx="2133600" cy="1609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75" y="2733675"/>
            <a:ext cx="552450" cy="5619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400300"/>
            <a:ext cx="2133600" cy="16097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775" y="2733675"/>
            <a:ext cx="552450" cy="5619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7100" y="2400300"/>
            <a:ext cx="2133600" cy="1609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2628900"/>
            <a:ext cx="552450" cy="5619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2400300"/>
            <a:ext cx="2133600" cy="16097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5575" y="2628900"/>
            <a:ext cx="552450" cy="5619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05275"/>
            <a:ext cx="2133600" cy="16097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975" y="4438650"/>
            <a:ext cx="552450" cy="5619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300" y="4105275"/>
            <a:ext cx="2133600" cy="16097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1875" y="4333875"/>
            <a:ext cx="552450" cy="5619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105275"/>
            <a:ext cx="2133600" cy="16097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9775" y="4438650"/>
            <a:ext cx="552450" cy="56197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7100" y="4105275"/>
            <a:ext cx="2133600" cy="16097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7675" y="4438650"/>
            <a:ext cx="552450" cy="5619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105275"/>
            <a:ext cx="2133600" cy="160972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5575" y="4438650"/>
            <a:ext cx="552450" cy="561975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Principes applicables à tout traitement</a:t>
            </a:r>
            <a:endParaRPr lang="en-US" sz="2900" dirty="0"/>
          </a:p>
        </p:txBody>
      </p:sp>
      <p:sp>
        <p:nvSpPr>
          <p:cNvPr id="27" name="Text 1"/>
          <p:cNvSpPr/>
          <p:nvPr/>
        </p:nvSpPr>
        <p:spPr>
          <a:xfrm>
            <a:off x="571500" y="1566863"/>
            <a:ext cx="1104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traitements de données à caractère personnel sont permis sauf si la loi en dispose autrement. Ce traitement n’est licite que s’il respecte un certain nombre de conditions de fond :</a:t>
            </a:r>
            <a:endParaRPr lang="en-US" sz="1400" dirty="0"/>
          </a:p>
        </p:txBody>
      </p:sp>
      <p:pic>
        <p:nvPicPr>
          <p:cNvPr id="28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2886075"/>
            <a:ext cx="304800" cy="257175"/>
          </a:xfrm>
          <a:prstGeom prst="rect">
            <a:avLst/>
          </a:prstGeom>
        </p:spPr>
      </p:pic>
      <p:sp>
        <p:nvSpPr>
          <p:cNvPr id="29" name="Text 2"/>
          <p:cNvSpPr/>
          <p:nvPr/>
        </p:nvSpPr>
        <p:spPr>
          <a:xfrm>
            <a:off x="1343025" y="3436144"/>
            <a:ext cx="56578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Licéité</a:t>
            </a:r>
            <a:endParaRPr lang="en-US" sz="1200" dirty="0"/>
          </a:p>
        </p:txBody>
      </p:sp>
      <p:pic>
        <p:nvPicPr>
          <p:cNvPr id="30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5225" y="2886075"/>
            <a:ext cx="285750" cy="257175"/>
          </a:xfrm>
          <a:prstGeom prst="rect">
            <a:avLst/>
          </a:prstGeom>
        </p:spPr>
      </p:pic>
      <p:sp>
        <p:nvSpPr>
          <p:cNvPr id="31" name="Text 3"/>
          <p:cNvSpPr/>
          <p:nvPr/>
        </p:nvSpPr>
        <p:spPr>
          <a:xfrm>
            <a:off x="3529013" y="3436144"/>
            <a:ext cx="70199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Loyauté</a:t>
            </a:r>
            <a:endParaRPr lang="en-US" sz="1200" dirty="0"/>
          </a:p>
        </p:txBody>
      </p:sp>
      <p:pic>
        <p:nvPicPr>
          <p:cNvPr id="32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2175" y="2886075"/>
            <a:ext cx="247650" cy="257175"/>
          </a:xfrm>
          <a:prstGeom prst="rect">
            <a:avLst/>
          </a:prstGeom>
        </p:spPr>
      </p:pic>
      <p:sp>
        <p:nvSpPr>
          <p:cNvPr id="33" name="Text 4"/>
          <p:cNvSpPr/>
          <p:nvPr/>
        </p:nvSpPr>
        <p:spPr>
          <a:xfrm>
            <a:off x="5557838" y="3436144"/>
            <a:ext cx="11839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Transparence</a:t>
            </a:r>
            <a:endParaRPr lang="en-US" sz="1200" dirty="0"/>
          </a:p>
        </p:txBody>
      </p:sp>
      <p:pic>
        <p:nvPicPr>
          <p:cNvPr id="34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0075" y="2781300"/>
            <a:ext cx="247650" cy="257175"/>
          </a:xfrm>
          <a:prstGeom prst="rect">
            <a:avLst/>
          </a:prstGeom>
        </p:spPr>
      </p:pic>
      <p:sp>
        <p:nvSpPr>
          <p:cNvPr id="35" name="Text 5"/>
          <p:cNvSpPr/>
          <p:nvPr/>
        </p:nvSpPr>
        <p:spPr>
          <a:xfrm>
            <a:off x="7515225" y="3328988"/>
            <a:ext cx="18230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des finalités</a:t>
            </a:r>
            <a:endParaRPr lang="en-US" sz="1200" dirty="0"/>
          </a:p>
        </p:txBody>
      </p:sp>
      <p:pic>
        <p:nvPicPr>
          <p:cNvPr id="36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77500" y="2781300"/>
            <a:ext cx="228600" cy="257175"/>
          </a:xfrm>
          <a:prstGeom prst="rect">
            <a:avLst/>
          </a:prstGeom>
        </p:spPr>
      </p:pic>
      <p:sp>
        <p:nvSpPr>
          <p:cNvPr id="37" name="Text 6"/>
          <p:cNvSpPr/>
          <p:nvPr/>
        </p:nvSpPr>
        <p:spPr>
          <a:xfrm>
            <a:off x="9763125" y="3328988"/>
            <a:ext cx="18230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Minimisation des données</a:t>
            </a:r>
            <a:endParaRPr lang="en-US" sz="1200" dirty="0"/>
          </a:p>
        </p:txBody>
      </p:sp>
      <p:pic>
        <p:nvPicPr>
          <p:cNvPr id="38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5900" y="4591050"/>
            <a:ext cx="228600" cy="257175"/>
          </a:xfrm>
          <a:prstGeom prst="rect">
            <a:avLst/>
          </a:prstGeom>
        </p:spPr>
      </p:pic>
      <p:sp>
        <p:nvSpPr>
          <p:cNvPr id="39" name="Text 7"/>
          <p:cNvSpPr/>
          <p:nvPr/>
        </p:nvSpPr>
        <p:spPr>
          <a:xfrm>
            <a:off x="1176338" y="5141119"/>
            <a:ext cx="93249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Exactitude</a:t>
            </a:r>
            <a:endParaRPr lang="en-US" sz="1200" dirty="0"/>
          </a:p>
        </p:txBody>
      </p:sp>
      <p:pic>
        <p:nvPicPr>
          <p:cNvPr id="40" name="Image 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4275" y="4486275"/>
            <a:ext cx="247650" cy="257175"/>
          </a:xfrm>
          <a:prstGeom prst="rect">
            <a:avLst/>
          </a:prstGeom>
        </p:spPr>
      </p:pic>
      <p:sp>
        <p:nvSpPr>
          <p:cNvPr id="41" name="Text 8"/>
          <p:cNvSpPr/>
          <p:nvPr/>
        </p:nvSpPr>
        <p:spPr>
          <a:xfrm>
            <a:off x="3019425" y="5033963"/>
            <a:ext cx="18230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de la conservation</a:t>
            </a:r>
            <a:endParaRPr lang="en-US" sz="1200" dirty="0"/>
          </a:p>
        </p:txBody>
      </p:sp>
      <p:pic>
        <p:nvPicPr>
          <p:cNvPr id="42" name="Image 3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72175" y="4591050"/>
            <a:ext cx="247650" cy="257175"/>
          </a:xfrm>
          <a:prstGeom prst="rect">
            <a:avLst/>
          </a:prstGeom>
        </p:spPr>
      </p:pic>
      <p:sp>
        <p:nvSpPr>
          <p:cNvPr id="43" name="Text 9"/>
          <p:cNvSpPr/>
          <p:nvPr/>
        </p:nvSpPr>
        <p:spPr>
          <a:xfrm>
            <a:off x="5772150" y="5141119"/>
            <a:ext cx="71247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Sécurité</a:t>
            </a:r>
            <a:endParaRPr lang="en-US" sz="1200" dirty="0"/>
          </a:p>
        </p:txBody>
      </p:sp>
      <p:pic>
        <p:nvPicPr>
          <p:cNvPr id="44" name="Image 3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0075" y="4591050"/>
            <a:ext cx="247650" cy="257175"/>
          </a:xfrm>
          <a:prstGeom prst="rect">
            <a:avLst/>
          </a:prstGeom>
        </p:spPr>
      </p:pic>
      <p:sp>
        <p:nvSpPr>
          <p:cNvPr id="45" name="Text 10"/>
          <p:cNvSpPr/>
          <p:nvPr/>
        </p:nvSpPr>
        <p:spPr>
          <a:xfrm>
            <a:off x="7615238" y="5141119"/>
            <a:ext cx="16030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Transferts hors UE</a:t>
            </a:r>
            <a:endParaRPr lang="en-US" sz="1200" dirty="0"/>
          </a:p>
        </p:txBody>
      </p:sp>
      <p:pic>
        <p:nvPicPr>
          <p:cNvPr id="46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48925" y="4591050"/>
            <a:ext cx="285750" cy="257175"/>
          </a:xfrm>
          <a:prstGeom prst="rect">
            <a:avLst/>
          </a:prstGeom>
        </p:spPr>
      </p:pic>
      <p:sp>
        <p:nvSpPr>
          <p:cNvPr id="47" name="Text 11"/>
          <p:cNvSpPr/>
          <p:nvPr/>
        </p:nvSpPr>
        <p:spPr>
          <a:xfrm>
            <a:off x="10020300" y="5141119"/>
            <a:ext cx="12573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Responsabilité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571500" y="6129338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9" name="Text 13"/>
          <p:cNvSpPr/>
          <p:nvPr/>
        </p:nvSpPr>
        <p:spPr>
          <a:xfrm>
            <a:off x="11487150" y="6129338"/>
            <a:ext cx="250760" cy="271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F0E5A1F8-DD1D-37BA-EA2B-3C9CF78AC9DC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6648450" cy="46577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600200"/>
            <a:ext cx="6115050" cy="647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00200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924300"/>
            <a:ext cx="611505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048125"/>
            <a:ext cx="3009900" cy="15144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725" y="4048125"/>
            <a:ext cx="3019425" cy="15144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425" y="1333500"/>
            <a:ext cx="4448175" cy="2371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7125" y="1600200"/>
            <a:ext cx="409575" cy="409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7125" y="2524125"/>
            <a:ext cx="3914775" cy="9048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0" y="3752850"/>
            <a:ext cx="4391025" cy="22002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91775" y="3752850"/>
            <a:ext cx="1238250" cy="12477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sensibles : interdit par principe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50" y="1733550"/>
            <a:ext cx="209550" cy="21907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381125" y="1690688"/>
            <a:ext cx="3667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Interdiction par principe (art. 9.1)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809625" y="2532459"/>
            <a:ext cx="66952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révélant :</a:t>
            </a:r>
            <a:endParaRPr lang="en-US" sz="1200" dirty="0"/>
          </a:p>
        </p:txBody>
      </p:sp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2971800"/>
            <a:ext cx="76200" cy="8572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981075" y="2913459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Origines raciales ou ethniques</a:t>
            </a:r>
            <a:endParaRPr lang="en-US" sz="12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52875" y="2971800"/>
            <a:ext cx="85725" cy="8572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4138613" y="2913459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Opinions politiques</a:t>
            </a:r>
            <a:endParaRPr lang="en-US" sz="1200" dirty="0"/>
          </a:p>
        </p:txBody>
      </p:sp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3352800"/>
            <a:ext cx="76200" cy="85725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981075" y="3294459"/>
            <a:ext cx="27574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Convictions religieuses ou philosophiques</a:t>
            </a:r>
            <a:endParaRPr lang="en-US" sz="1200" dirty="0"/>
          </a:p>
        </p:txBody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52875" y="3352800"/>
            <a:ext cx="85725" cy="85725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4138613" y="3294459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Appartenance syndicale</a:t>
            </a:r>
            <a:endParaRPr lang="en-US" sz="1200" dirty="0"/>
          </a:p>
        </p:txBody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600" y="4276725"/>
            <a:ext cx="171450" cy="180975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1228725" y="4256484"/>
            <a:ext cx="859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Santé &amp; Vie</a:t>
            </a:r>
            <a:endParaRPr lang="en-US" sz="1100" dirty="0"/>
          </a:p>
        </p:txBody>
      </p:sp>
      <p:sp>
        <p:nvSpPr>
          <p:cNvPr id="31" name="Text 8"/>
          <p:cNvSpPr/>
          <p:nvPr/>
        </p:nvSpPr>
        <p:spPr>
          <a:xfrm>
            <a:off x="1000125" y="4599384"/>
            <a:ext cx="26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Santé</a:t>
            </a:r>
            <a:endParaRPr lang="en-US" sz="1100" dirty="0"/>
          </a:p>
        </p:txBody>
      </p:sp>
      <p:sp>
        <p:nvSpPr>
          <p:cNvPr id="32" name="Text 9"/>
          <p:cNvSpPr/>
          <p:nvPr/>
        </p:nvSpPr>
        <p:spPr>
          <a:xfrm>
            <a:off x="1000125" y="4866084"/>
            <a:ext cx="26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 sexuelle</a:t>
            </a:r>
            <a:endParaRPr lang="en-US" sz="1100" dirty="0"/>
          </a:p>
        </p:txBody>
      </p:sp>
      <p:sp>
        <p:nvSpPr>
          <p:cNvPr id="33" name="Text 10"/>
          <p:cNvSpPr/>
          <p:nvPr/>
        </p:nvSpPr>
        <p:spPr>
          <a:xfrm>
            <a:off x="1000125" y="5132784"/>
            <a:ext cx="26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Orientation sexuelle</a:t>
            </a:r>
            <a:endParaRPr lang="en-US" sz="1100" dirty="0"/>
          </a:p>
        </p:txBody>
      </p:sp>
      <p:pic>
        <p:nvPicPr>
          <p:cNvPr id="34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86225" y="4276725"/>
            <a:ext cx="180975" cy="180975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4329113" y="4256484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Biométrie</a:t>
            </a:r>
            <a:endParaRPr lang="en-US" sz="1100" dirty="0"/>
          </a:p>
        </p:txBody>
      </p:sp>
      <p:sp>
        <p:nvSpPr>
          <p:cNvPr id="36" name="Text 12"/>
          <p:cNvSpPr/>
          <p:nvPr/>
        </p:nvSpPr>
        <p:spPr>
          <a:xfrm>
            <a:off x="4100513" y="4599384"/>
            <a:ext cx="26052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génétiques</a:t>
            </a:r>
            <a:endParaRPr lang="en-US" sz="1100" dirty="0"/>
          </a:p>
        </p:txBody>
      </p:sp>
      <p:sp>
        <p:nvSpPr>
          <p:cNvPr id="37" name="Text 13"/>
          <p:cNvSpPr/>
          <p:nvPr/>
        </p:nvSpPr>
        <p:spPr>
          <a:xfrm>
            <a:off x="4100513" y="4866084"/>
            <a:ext cx="2605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biométriques (identification unique)</a:t>
            </a:r>
            <a:endParaRPr lang="en-US" sz="11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91425" y="1704975"/>
            <a:ext cx="180975" cy="200025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7982099" y="1671638"/>
            <a:ext cx="2388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Exceptions (art. 9.2 à 9.4)</a:t>
            </a:r>
            <a:endParaRPr lang="en-US" sz="1400" dirty="0"/>
          </a:p>
        </p:txBody>
      </p:sp>
      <p:sp>
        <p:nvSpPr>
          <p:cNvPr id="40" name="Text 15"/>
          <p:cNvSpPr/>
          <p:nvPr/>
        </p:nvSpPr>
        <p:spPr>
          <a:xfrm>
            <a:off x="7486799" y="2147888"/>
            <a:ext cx="389557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Exceptions possibles sous conditions strictes.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7715399" y="2731294"/>
            <a:ext cx="38241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d’exception</a:t>
            </a:r>
            <a:endParaRPr lang="en-US" sz="1000" dirty="0"/>
          </a:p>
        </p:txBody>
      </p:sp>
      <p:sp>
        <p:nvSpPr>
          <p:cNvPr id="42" name="Text 17"/>
          <p:cNvSpPr/>
          <p:nvPr/>
        </p:nvSpPr>
        <p:spPr>
          <a:xfrm>
            <a:off x="7715399" y="2988469"/>
            <a:ext cx="1895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Consentement explicite</a:t>
            </a:r>
            <a:endParaRPr lang="en-US" sz="1200" dirty="0"/>
          </a:p>
        </p:txBody>
      </p:sp>
      <p:pic>
        <p:nvPicPr>
          <p:cNvPr id="43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7600" y="4000500"/>
            <a:ext cx="180975" cy="180975"/>
          </a:xfrm>
          <a:prstGeom prst="rect">
            <a:avLst/>
          </a:prstGeom>
        </p:spPr>
      </p:pic>
      <p:sp>
        <p:nvSpPr>
          <p:cNvPr id="44" name="Text 18"/>
          <p:cNvSpPr/>
          <p:nvPr/>
        </p:nvSpPr>
        <p:spPr>
          <a:xfrm>
            <a:off x="7743974" y="3998119"/>
            <a:ext cx="1581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Référence (Notes)</a:t>
            </a:r>
            <a:endParaRPr lang="en-US" sz="1000" dirty="0"/>
          </a:p>
        </p:txBody>
      </p:sp>
      <p:sp>
        <p:nvSpPr>
          <p:cNvPr id="45" name="Text 19"/>
          <p:cNvSpPr/>
          <p:nvPr/>
        </p:nvSpPr>
        <p:spPr>
          <a:xfrm>
            <a:off x="7477274" y="4341019"/>
            <a:ext cx="3914626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Sanctions CNIL :</a:t>
            </a: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Sites de rencontre sanctionnés pour traitement de données sensibles sans consentement explicite.</a:t>
            </a:r>
            <a:endParaRPr lang="en-US" sz="1400" dirty="0"/>
          </a:p>
        </p:txBody>
      </p:sp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67600" y="5410200"/>
            <a:ext cx="1790700" cy="314325"/>
          </a:xfrm>
          <a:prstGeom prst="rect">
            <a:avLst/>
          </a:prstGeom>
        </p:spPr>
      </p:pic>
      <p:sp>
        <p:nvSpPr>
          <p:cNvPr id="47" name="Text 20"/>
          <p:cNvSpPr/>
          <p:nvPr/>
        </p:nvSpPr>
        <p:spPr>
          <a:xfrm>
            <a:off x="7591574" y="5460206"/>
            <a:ext cx="15396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Délib. 2016-405/406</a:t>
            </a:r>
            <a:endParaRPr lang="en-US" sz="900" dirty="0"/>
          </a:p>
        </p:txBody>
      </p:sp>
      <p:sp>
        <p:nvSpPr>
          <p:cNvPr id="48" name="Text 21"/>
          <p:cNvSpPr/>
          <p:nvPr/>
        </p:nvSpPr>
        <p:spPr>
          <a:xfrm>
            <a:off x="571500" y="6098381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9" name="Text 22"/>
          <p:cNvSpPr/>
          <p:nvPr/>
        </p:nvSpPr>
        <p:spPr>
          <a:xfrm>
            <a:off x="11487150" y="6098381"/>
            <a:ext cx="241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9D5E812-23A4-3C10-DA60-66ED2CBE6601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11125200" cy="723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076450"/>
            <a:ext cx="5543550" cy="1771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28850"/>
            <a:ext cx="400050" cy="409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050" y="2076450"/>
            <a:ext cx="5543550" cy="17716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0" y="2228850"/>
            <a:ext cx="40005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867150"/>
            <a:ext cx="5543550" cy="19621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9550"/>
            <a:ext cx="400050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5050" y="3867150"/>
            <a:ext cx="5543550" cy="1962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4019550"/>
            <a:ext cx="400050" cy="4095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Loyauté &amp; transparence en pratique</a:t>
            </a:r>
            <a:endParaRPr lang="en-US" sz="2900" dirty="0"/>
          </a:p>
        </p:txBody>
      </p:sp>
      <p:sp>
        <p:nvSpPr>
          <p:cNvPr id="16" name="Text 1"/>
          <p:cNvSpPr/>
          <p:nvPr/>
        </p:nvSpPr>
        <p:spPr>
          <a:xfrm>
            <a:off x="723900" y="1490663"/>
            <a:ext cx="10782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traitement de données personnelles doit être effectué dans des conditions permettant d’en assurer la transparence vis-à-vis des personnes concernées et ne saurait être mis en œuvre à l’insu des personnes concernées (art. 5.1.a)</a:t>
            </a:r>
            <a:endParaRPr lang="en-US" sz="900" dirty="0"/>
          </a:p>
        </p:txBody>
      </p:sp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2352675"/>
            <a:ext cx="190500" cy="161925"/>
          </a:xfrm>
          <a:prstGeom prst="rect">
            <a:avLst/>
          </a:prstGeom>
        </p:spPr>
      </p:pic>
      <p:sp>
        <p:nvSpPr>
          <p:cNvPr id="18" name="Text 2"/>
          <p:cNvSpPr/>
          <p:nvPr/>
        </p:nvSpPr>
        <p:spPr>
          <a:xfrm>
            <a:off x="1190625" y="2350294"/>
            <a:ext cx="21478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Bordeaux, 18 décembre 2013</a:t>
            </a:r>
            <a:endParaRPr lang="en-US" sz="1000" dirty="0"/>
          </a:p>
        </p:txBody>
      </p:sp>
      <p:sp>
        <p:nvSpPr>
          <p:cNvPr id="19" name="Text 3"/>
          <p:cNvSpPr/>
          <p:nvPr/>
        </p:nvSpPr>
        <p:spPr>
          <a:xfrm>
            <a:off x="695325" y="2700338"/>
            <a:ext cx="5219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collecte d’e-mails par un robot sur internet et à l’insu des intéressés constitue une collecte déloyale.</a:t>
            </a:r>
            <a:endParaRPr lang="en-US" sz="900" dirty="0"/>
          </a:p>
        </p:txBody>
      </p:sp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2352675"/>
            <a:ext cx="114300" cy="161925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6772275" y="2350294"/>
            <a:ext cx="33528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n° 2016-007 du 26 janvier 2016, Facebook</a:t>
            </a:r>
            <a:endParaRPr lang="en-US" sz="1000" dirty="0"/>
          </a:p>
        </p:txBody>
      </p:sp>
      <p:sp>
        <p:nvSpPr>
          <p:cNvPr id="22" name="Text 5"/>
          <p:cNvSpPr/>
          <p:nvPr/>
        </p:nvSpPr>
        <p:spPr>
          <a:xfrm>
            <a:off x="6276975" y="2700338"/>
            <a:ext cx="5219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collecte de données relatives à la navigation des internautes, à leur insu, sur des sites tiers alors même qu’ils ne disposent pas de compte sur le site (via le bouton « J’aime » par exemple) constitue une collecte déloyale.</a:t>
            </a:r>
            <a:endParaRPr lang="en-US" sz="900" dirty="0"/>
          </a:p>
        </p:txBody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4143375"/>
            <a:ext cx="190500" cy="161925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1190625" y="4138613"/>
            <a:ext cx="79629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cars</a:t>
            </a:r>
            <a:endParaRPr lang="en-US" sz="1000" dirty="0"/>
          </a:p>
        </p:txBody>
      </p:sp>
      <p:sp>
        <p:nvSpPr>
          <p:cNvPr id="25" name="Text 7"/>
          <p:cNvSpPr/>
          <p:nvPr/>
        </p:nvSpPr>
        <p:spPr>
          <a:xfrm>
            <a:off x="695325" y="4488656"/>
            <a:ext cx="52197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collecte de données transmises sur des réseaux Wi-Fi non sécurisés de foyers situés sur le passage des Google cars (condamnations en France, Belgique, Italie, Allemagne et Espagne).</a:t>
            </a:r>
            <a:endParaRPr lang="en-US" sz="900" dirty="0"/>
          </a:p>
        </p:txBody>
      </p:sp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72225" y="4143375"/>
            <a:ext cx="190500" cy="161925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6772275" y="4138613"/>
            <a:ext cx="187547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Paris, 15 septembre 2017</a:t>
            </a:r>
            <a:endParaRPr lang="en-US" sz="1000" dirty="0"/>
          </a:p>
        </p:txBody>
      </p:sp>
      <p:sp>
        <p:nvSpPr>
          <p:cNvPr id="28" name="Text 9"/>
          <p:cNvSpPr/>
          <p:nvPr/>
        </p:nvSpPr>
        <p:spPr>
          <a:xfrm>
            <a:off x="6276975" y="4488656"/>
            <a:ext cx="5219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L’utilisation de scripts ou de robots destinés à aspirer les données afin de savoir si le client d’un site est actif ou non (données accessibles librement et sans protection/volonté de restreindre l’accès) constitue un moyen déloyal de recueillir à l’insu des personnes physiques des adresses électroniques.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571500" y="6096000"/>
            <a:ext cx="29127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000" dirty="0"/>
          </a:p>
        </p:txBody>
      </p:sp>
      <p:sp>
        <p:nvSpPr>
          <p:cNvPr id="30" name="Text 11"/>
          <p:cNvSpPr/>
          <p:nvPr/>
        </p:nvSpPr>
        <p:spPr>
          <a:xfrm>
            <a:off x="11496674" y="6096000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33E8B17-EFC8-B7B1-E59B-DFB99765CFF7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71600"/>
            <a:ext cx="5524500" cy="26479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676400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2962275"/>
            <a:ext cx="4381500" cy="781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086225"/>
            <a:ext cx="5524500" cy="18573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429125"/>
            <a:ext cx="476250" cy="485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3150" y="1400175"/>
            <a:ext cx="5476875" cy="4505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86975" y="1400175"/>
            <a:ext cx="1543050" cy="1552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1628775"/>
            <a:ext cx="5019675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581275"/>
            <a:ext cx="104775" cy="104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3162300"/>
            <a:ext cx="104775" cy="1047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3733800"/>
            <a:ext cx="104775" cy="1047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4314825"/>
            <a:ext cx="104775" cy="1047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4895850"/>
            <a:ext cx="104775" cy="104775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collecter que le nécessaire — pour des finalités claires</a:t>
            </a:r>
            <a:endParaRPr lang="en-US" sz="2900" dirty="0"/>
          </a:p>
        </p:txBody>
      </p:sp>
      <p:pic>
        <p:nvPicPr>
          <p:cNvPr id="20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450" y="1809750"/>
            <a:ext cx="209550" cy="219075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1419225" y="1652588"/>
            <a:ext cx="25774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des finalités</a:t>
            </a:r>
            <a:endParaRPr lang="en-US" sz="1700" dirty="0"/>
          </a:p>
        </p:txBody>
      </p:sp>
      <p:sp>
        <p:nvSpPr>
          <p:cNvPr id="22" name="Text 2"/>
          <p:cNvSpPr/>
          <p:nvPr/>
        </p:nvSpPr>
        <p:spPr>
          <a:xfrm>
            <a:off x="1419225" y="2014538"/>
            <a:ext cx="800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5.1.b</a:t>
            </a:r>
            <a:endParaRPr lang="en-US" sz="900" dirty="0"/>
          </a:p>
        </p:txBody>
      </p:sp>
      <p:sp>
        <p:nvSpPr>
          <p:cNvPr id="23" name="Text 3"/>
          <p:cNvSpPr/>
          <p:nvPr/>
        </p:nvSpPr>
        <p:spPr>
          <a:xfrm>
            <a:off x="1419225" y="2300288"/>
            <a:ext cx="435917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finalités doivent être </a:t>
            </a: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déterminées, explicites et légitimes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0200" y="3152775"/>
            <a:ext cx="171450" cy="171450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1876425" y="3124200"/>
            <a:ext cx="374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Réutilisation incompatible = </a:t>
            </a: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détournement de finalité</a:t>
            </a:r>
            <a:r>
              <a:rPr lang="en-US" sz="11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(risque de sanction)</a:t>
            </a:r>
            <a:endParaRPr lang="en-US" sz="1100" dirty="0"/>
          </a:p>
        </p:txBody>
      </p:sp>
      <p:pic>
        <p:nvPicPr>
          <p:cNvPr id="26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450" y="4562475"/>
            <a:ext cx="209550" cy="219075"/>
          </a:xfrm>
          <a:prstGeom prst="rect">
            <a:avLst/>
          </a:prstGeom>
        </p:spPr>
      </p:pic>
      <p:sp>
        <p:nvSpPr>
          <p:cNvPr id="27" name="Text 5"/>
          <p:cNvSpPr/>
          <p:nvPr/>
        </p:nvSpPr>
        <p:spPr>
          <a:xfrm>
            <a:off x="1419225" y="4407694"/>
            <a:ext cx="29127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Minimisation des données</a:t>
            </a:r>
            <a:endParaRPr lang="en-US" sz="1700" dirty="0"/>
          </a:p>
        </p:txBody>
      </p:sp>
      <p:sp>
        <p:nvSpPr>
          <p:cNvPr id="28" name="Text 6"/>
          <p:cNvSpPr/>
          <p:nvPr/>
        </p:nvSpPr>
        <p:spPr>
          <a:xfrm>
            <a:off x="1419225" y="4769644"/>
            <a:ext cx="800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5.1.c</a:t>
            </a:r>
            <a:endParaRPr lang="en-US" sz="900" dirty="0"/>
          </a:p>
        </p:txBody>
      </p:sp>
      <p:sp>
        <p:nvSpPr>
          <p:cNvPr id="29" name="Text 7"/>
          <p:cNvSpPr/>
          <p:nvPr/>
        </p:nvSpPr>
        <p:spPr>
          <a:xfrm>
            <a:off x="1419225" y="5055394"/>
            <a:ext cx="435917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doivent être </a:t>
            </a: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pertinentes, adéquates et non excessives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 regard des finalités.</a:t>
            </a:r>
            <a:endParaRPr lang="en-US" sz="1200" dirty="0"/>
          </a:p>
        </p:txBody>
      </p:sp>
      <p:pic>
        <p:nvPicPr>
          <p:cNvPr id="30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750" y="1666875"/>
            <a:ext cx="266700" cy="219075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6749951" y="1643063"/>
            <a:ext cx="36776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 de jurisprudence &amp; sanctions</a:t>
            </a:r>
            <a:endParaRPr lang="en-US" sz="1400" dirty="0"/>
          </a:p>
        </p:txBody>
      </p:sp>
      <p:sp>
        <p:nvSpPr>
          <p:cNvPr id="32" name="Text 9"/>
          <p:cNvSpPr/>
          <p:nvPr/>
        </p:nvSpPr>
        <p:spPr>
          <a:xfrm>
            <a:off x="6626126" y="2537222"/>
            <a:ext cx="46291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Géolocalisation (déclarée statistique) utilisée en disciplinaire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626126" y="2811066"/>
            <a:ext cx="462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Lyon, 13/03/2013</a:t>
            </a:r>
            <a:endParaRPr lang="en-US" sz="900" dirty="0"/>
          </a:p>
        </p:txBody>
      </p:sp>
      <p:sp>
        <p:nvSpPr>
          <p:cNvPr id="34" name="Text 11"/>
          <p:cNvSpPr/>
          <p:nvPr/>
        </p:nvSpPr>
        <p:spPr>
          <a:xfrm>
            <a:off x="6626126" y="3115866"/>
            <a:ext cx="40481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E-mails abonnés théâtre utilisés à des fins politiques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6626126" y="3389709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2015-040, TNB</a:t>
            </a:r>
            <a:endParaRPr lang="en-US" sz="900" dirty="0"/>
          </a:p>
        </p:txBody>
      </p:sp>
      <p:sp>
        <p:nvSpPr>
          <p:cNvPr id="36" name="Text 13"/>
          <p:cNvSpPr/>
          <p:nvPr/>
        </p:nvSpPr>
        <p:spPr>
          <a:xfrm>
            <a:off x="6626126" y="3694509"/>
            <a:ext cx="32480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 DLP détourné pour contrôler l’activité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626126" y="3968353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Paris, 12/05/2016</a:t>
            </a:r>
            <a:endParaRPr lang="en-US" sz="900" dirty="0"/>
          </a:p>
        </p:txBody>
      </p:sp>
      <p:sp>
        <p:nvSpPr>
          <p:cNvPr id="38" name="Text 15"/>
          <p:cNvSpPr/>
          <p:nvPr/>
        </p:nvSpPr>
        <p:spPr>
          <a:xfrm>
            <a:off x="6626126" y="4273153"/>
            <a:ext cx="35909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Commentaires non pertinents dans base client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6626126" y="4546997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2016-083, Cdiscount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6626126" y="4851797"/>
            <a:ext cx="27241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Vidéosurveillance disproportionnée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6626126" y="5125641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2014-307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3" name="Text 20"/>
          <p:cNvSpPr/>
          <p:nvPr/>
        </p:nvSpPr>
        <p:spPr>
          <a:xfrm>
            <a:off x="11487150" y="6057900"/>
            <a:ext cx="288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1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118ABF6-C5BA-51C4-FDE1-7363F33280ED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5448300" cy="47720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905000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457700"/>
            <a:ext cx="4762500" cy="1485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5350" y="4457700"/>
            <a:ext cx="933450" cy="933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524000"/>
            <a:ext cx="5448300" cy="47720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905000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3533775"/>
            <a:ext cx="4762500" cy="24098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0" y="3533775"/>
            <a:ext cx="933450" cy="9429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800" y="4181475"/>
            <a:ext cx="76200" cy="857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800" y="4772025"/>
            <a:ext cx="76200" cy="857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800" y="5362575"/>
            <a:ext cx="76200" cy="8572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données exactes — et pas plus longtemps que nécessaire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2019300"/>
            <a:ext cx="247650" cy="25717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495425" y="1881187"/>
            <a:ext cx="12258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Exactitude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1495425" y="2243138"/>
            <a:ext cx="800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5.1.d</a:t>
            </a:r>
            <a:endParaRPr lang="en-US" sz="900" dirty="0"/>
          </a:p>
        </p:txBody>
      </p:sp>
      <p:sp>
        <p:nvSpPr>
          <p:cNvPr id="21" name="Text 3"/>
          <p:cNvSpPr/>
          <p:nvPr/>
        </p:nvSpPr>
        <p:spPr>
          <a:xfrm>
            <a:off x="1495425" y="2643188"/>
            <a:ext cx="41338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Tenir à jour ; rectifier/effacer sans tarder les données inexactes.</a:t>
            </a:r>
            <a:endParaRPr lang="en-US" sz="1200" dirty="0"/>
          </a:p>
        </p:txBody>
      </p:sp>
      <p:pic>
        <p:nvPicPr>
          <p:cNvPr id="22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4900" y="4714875"/>
            <a:ext cx="190500" cy="152400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1362075" y="4695825"/>
            <a:ext cx="6563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</a:t>
            </a:r>
            <a:endParaRPr lang="en-US" sz="900" dirty="0"/>
          </a:p>
        </p:txBody>
      </p:sp>
      <p:sp>
        <p:nvSpPr>
          <p:cNvPr id="24" name="Text 5"/>
          <p:cNvSpPr/>
          <p:nvPr/>
        </p:nvSpPr>
        <p:spPr>
          <a:xfrm>
            <a:off x="1114425" y="5000625"/>
            <a:ext cx="42862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Erreurs d’identité transmises à HADOPI</a:t>
            </a:r>
            <a:endParaRPr lang="en-US" sz="1200" dirty="0"/>
          </a:p>
        </p:txBody>
      </p:sp>
      <p:pic>
        <p:nvPicPr>
          <p:cNvPr id="25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900" y="5334000"/>
            <a:ext cx="4305300" cy="381000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1114425" y="5464969"/>
            <a:ext cx="4286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2016-053, NC Numericable</a:t>
            </a:r>
            <a:endParaRPr lang="en-US" sz="900" dirty="0"/>
          </a:p>
        </p:txBody>
      </p:sp>
      <p:pic>
        <p:nvPicPr>
          <p:cNvPr id="27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6075" y="2019300"/>
            <a:ext cx="190500" cy="257175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7172325" y="1881187"/>
            <a:ext cx="32899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de la conservation</a:t>
            </a:r>
            <a:endParaRPr lang="en-US" sz="1700" dirty="0"/>
          </a:p>
        </p:txBody>
      </p:sp>
      <p:sp>
        <p:nvSpPr>
          <p:cNvPr id="29" name="Text 8"/>
          <p:cNvSpPr/>
          <p:nvPr/>
        </p:nvSpPr>
        <p:spPr>
          <a:xfrm>
            <a:off x="7172325" y="2243138"/>
            <a:ext cx="800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5.1.e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7172325" y="2643188"/>
            <a:ext cx="41338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Définir une durée par finalité.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7172325" y="2997994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Archivage possible si obligation légale, sous conditions.</a:t>
            </a:r>
            <a:endParaRPr lang="en-US" sz="1100" dirty="0"/>
          </a:p>
        </p:txBody>
      </p:sp>
      <p:pic>
        <p:nvPicPr>
          <p:cNvPr id="32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81800" y="3790950"/>
            <a:ext cx="190500" cy="161925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7038975" y="3779044"/>
            <a:ext cx="748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</a:t>
            </a:r>
            <a:endParaRPr lang="en-US" sz="900" dirty="0"/>
          </a:p>
        </p:txBody>
      </p:sp>
      <p:sp>
        <p:nvSpPr>
          <p:cNvPr id="34" name="Text 12"/>
          <p:cNvSpPr/>
          <p:nvPr/>
        </p:nvSpPr>
        <p:spPr>
          <a:xfrm>
            <a:off x="6962775" y="4121944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Dossiers RH conservés &gt;5 ans sans base</a:t>
            </a:r>
            <a:endParaRPr lang="en-US" sz="1100" dirty="0"/>
          </a:p>
        </p:txBody>
      </p:sp>
      <p:sp>
        <p:nvSpPr>
          <p:cNvPr id="35" name="Text 13"/>
          <p:cNvSpPr/>
          <p:nvPr/>
        </p:nvSpPr>
        <p:spPr>
          <a:xfrm>
            <a:off x="6962775" y="4369594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2014-307, Providis Logistique</a:t>
            </a:r>
            <a:endParaRPr lang="en-US" sz="800" dirty="0"/>
          </a:p>
        </p:txBody>
      </p:sp>
      <p:sp>
        <p:nvSpPr>
          <p:cNvPr id="36" name="Text 14"/>
          <p:cNvSpPr/>
          <p:nvPr/>
        </p:nvSpPr>
        <p:spPr>
          <a:xfrm>
            <a:off x="6962775" y="4712494"/>
            <a:ext cx="1990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durée/purge en base</a:t>
            </a:r>
            <a:endParaRPr lang="en-US" sz="1100" dirty="0"/>
          </a:p>
        </p:txBody>
      </p:sp>
      <p:sp>
        <p:nvSpPr>
          <p:cNvPr id="37" name="Text 15"/>
          <p:cNvSpPr/>
          <p:nvPr/>
        </p:nvSpPr>
        <p:spPr>
          <a:xfrm>
            <a:off x="6962775" y="4960144"/>
            <a:ext cx="199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2012-214, FNAC Direct</a:t>
            </a:r>
            <a:endParaRPr lang="en-US" sz="800" dirty="0"/>
          </a:p>
        </p:txBody>
      </p:sp>
      <p:sp>
        <p:nvSpPr>
          <p:cNvPr id="38" name="Text 16"/>
          <p:cNvSpPr/>
          <p:nvPr/>
        </p:nvSpPr>
        <p:spPr>
          <a:xfrm>
            <a:off x="6962775" y="5303044"/>
            <a:ext cx="3086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Durée contraire aux engagements norme 48</a:t>
            </a:r>
            <a:endParaRPr lang="en-US" sz="1100" dirty="0"/>
          </a:p>
        </p:txBody>
      </p:sp>
      <p:sp>
        <p:nvSpPr>
          <p:cNvPr id="39" name="Text 17"/>
          <p:cNvSpPr/>
          <p:nvPr/>
        </p:nvSpPr>
        <p:spPr>
          <a:xfrm>
            <a:off x="6962775" y="5550694"/>
            <a:ext cx="3086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CNIL 2016-204, Brandalley</a:t>
            </a:r>
            <a:endParaRPr lang="en-US" sz="800" dirty="0"/>
          </a:p>
        </p:txBody>
      </p:sp>
      <p:sp>
        <p:nvSpPr>
          <p:cNvPr id="40" name="Text 18"/>
          <p:cNvSpPr/>
          <p:nvPr/>
        </p:nvSpPr>
        <p:spPr>
          <a:xfrm>
            <a:off x="571500" y="6407944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1" name="Text 19"/>
          <p:cNvSpPr/>
          <p:nvPr/>
        </p:nvSpPr>
        <p:spPr>
          <a:xfrm>
            <a:off x="11487150" y="6407943"/>
            <a:ext cx="27875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1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0311DA9-0F53-AAEF-419E-BD0B3FF9B65A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47800"/>
            <a:ext cx="11125200" cy="1009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1743075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514600"/>
            <a:ext cx="7086600" cy="3429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771775"/>
            <a:ext cx="657225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0975" y="2543175"/>
            <a:ext cx="3829050" cy="33623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2781300"/>
            <a:ext cx="3352800" cy="4572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Informer les personnes au moment / après la collecte</a:t>
            </a:r>
            <a:endParaRPr lang="en-US" sz="29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" y="1857375"/>
            <a:ext cx="171450" cy="180975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371600" y="1719263"/>
            <a:ext cx="284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Général (Art. 12)</a:t>
            </a:r>
            <a:endParaRPr lang="en-US" sz="1100" dirty="0"/>
          </a:p>
        </p:txBody>
      </p:sp>
      <p:sp>
        <p:nvSpPr>
          <p:cNvPr id="15" name="Text 2"/>
          <p:cNvSpPr/>
          <p:nvPr/>
        </p:nvSpPr>
        <p:spPr>
          <a:xfrm>
            <a:off x="1371600" y="1947863"/>
            <a:ext cx="259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claire, simple, accessible</a:t>
            </a:r>
            <a:endParaRPr lang="en-US" sz="110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2771775"/>
            <a:ext cx="647700" cy="295275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914400" y="2824163"/>
            <a:ext cx="440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292F3B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Art. 13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1504950" y="2805113"/>
            <a:ext cx="119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 directe</a:t>
            </a:r>
            <a:endParaRPr lang="en-US" sz="1100" dirty="0"/>
          </a:p>
        </p:txBody>
      </p:sp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486150"/>
            <a:ext cx="133350" cy="161925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990600" y="3443288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Identité du responsable ; coordonnées DPO ; finalités + base légale ; intérêts légitimes (si applicable)</a:t>
            </a:r>
            <a:endParaRPr lang="en-US" sz="11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981450"/>
            <a:ext cx="133350" cy="161925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990600" y="3938588"/>
            <a:ext cx="6143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Catégories de données ; destinataires ; transferts internationaux (si applicable) + détails</a:t>
            </a:r>
            <a:endParaRPr lang="en-US" sz="110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4267200"/>
            <a:ext cx="133350" cy="161925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990600" y="4224338"/>
            <a:ext cx="2247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Durée / critères de conservation</a:t>
            </a:r>
            <a:endParaRPr lang="en-US" sz="11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4552950"/>
            <a:ext cx="133350" cy="161925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990600" y="4510088"/>
            <a:ext cx="5048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Droits (accès, rectification, effacement, limitation, portabilité, opposition)</a:t>
            </a:r>
            <a:endParaRPr lang="en-US" sz="110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4838700"/>
            <a:ext cx="133350" cy="16192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990600" y="4795838"/>
            <a:ext cx="4038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Retrait du consentement ; réclamation auprès de l’autorité</a:t>
            </a:r>
            <a:endParaRPr lang="en-US" sz="1100" dirty="0"/>
          </a:p>
        </p:txBody>
      </p:sp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5124450"/>
            <a:ext cx="133350" cy="161925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990600" y="5081588"/>
            <a:ext cx="36099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Caractère obligatoire / contractuel + conséquences</a:t>
            </a:r>
            <a:endParaRPr lang="en-US" sz="1100" dirty="0"/>
          </a:p>
        </p:txBody>
      </p:sp>
      <p:pic>
        <p:nvPicPr>
          <p:cNvPr id="31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5410200"/>
            <a:ext cx="133350" cy="161925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990600" y="5367338"/>
            <a:ext cx="4257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Décisions automatisées / profilage + logique / conséquences</a:t>
            </a:r>
            <a:endParaRPr lang="en-US" sz="110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9100" y="2781300"/>
            <a:ext cx="657225" cy="295275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8162925" y="2833688"/>
            <a:ext cx="4505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Art. 14</a:t>
            </a:r>
            <a:endParaRPr lang="en-US" sz="1000" dirty="0"/>
          </a:p>
        </p:txBody>
      </p:sp>
      <p:sp>
        <p:nvSpPr>
          <p:cNvPr id="35" name="Text 13"/>
          <p:cNvSpPr/>
          <p:nvPr/>
        </p:nvSpPr>
        <p:spPr>
          <a:xfrm>
            <a:off x="8763000" y="2814638"/>
            <a:ext cx="1330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 indirecte</a:t>
            </a:r>
            <a:endParaRPr lang="en-US" sz="1100" dirty="0"/>
          </a:p>
        </p:txBody>
      </p:sp>
      <p:sp>
        <p:nvSpPr>
          <p:cNvPr id="36" name="Text 14"/>
          <p:cNvSpPr/>
          <p:nvPr/>
        </p:nvSpPr>
        <p:spPr>
          <a:xfrm>
            <a:off x="8048625" y="3452813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Informations supplémentaires</a:t>
            </a:r>
            <a:endParaRPr lang="en-US" sz="1100" dirty="0"/>
          </a:p>
        </p:txBody>
      </p:sp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9100" y="3800475"/>
            <a:ext cx="142875" cy="161925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8248650" y="3757613"/>
            <a:ext cx="1819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+ caractère public</a:t>
            </a:r>
            <a:endParaRPr lang="en-US" sz="1100" dirty="0"/>
          </a:p>
        </p:txBody>
      </p:sp>
      <p:sp>
        <p:nvSpPr>
          <p:cNvPr id="39" name="Text 16"/>
          <p:cNvSpPr/>
          <p:nvPr/>
        </p:nvSpPr>
        <p:spPr>
          <a:xfrm>
            <a:off x="8048625" y="4119562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Délais de notification</a:t>
            </a:r>
            <a:endParaRPr lang="en-US" sz="1100" dirty="0"/>
          </a:p>
        </p:txBody>
      </p:sp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9100" y="4467225"/>
            <a:ext cx="152400" cy="161925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8258175" y="4424363"/>
            <a:ext cx="55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1 mois</a:t>
            </a:r>
            <a:endParaRPr lang="en-US" sz="1100" dirty="0"/>
          </a:p>
        </p:txBody>
      </p:sp>
      <p:pic>
        <p:nvPicPr>
          <p:cNvPr id="42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9100" y="4752975"/>
            <a:ext cx="152400" cy="161925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8258175" y="4710113"/>
            <a:ext cx="1819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moment du 1er contact</a:t>
            </a:r>
            <a:endParaRPr lang="en-US" sz="1100" dirty="0"/>
          </a:p>
        </p:txBody>
      </p:sp>
      <p:pic>
        <p:nvPicPr>
          <p:cNvPr id="44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9100" y="5038725"/>
            <a:ext cx="152400" cy="161925"/>
          </a:xfrm>
          <a:prstGeom prst="rect">
            <a:avLst/>
          </a:prstGeom>
        </p:spPr>
      </p:pic>
      <p:sp>
        <p:nvSpPr>
          <p:cNvPr id="45" name="Text 19"/>
          <p:cNvSpPr/>
          <p:nvPr/>
        </p:nvSpPr>
        <p:spPr>
          <a:xfrm>
            <a:off x="8258175" y="4995863"/>
            <a:ext cx="2190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communication à un tiers</a:t>
            </a:r>
            <a:endParaRPr lang="en-US" sz="1100" dirty="0"/>
          </a:p>
        </p:txBody>
      </p:sp>
      <p:sp>
        <p:nvSpPr>
          <p:cNvPr id="46" name="Text 20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7" name="Text 21"/>
          <p:cNvSpPr/>
          <p:nvPr/>
        </p:nvSpPr>
        <p:spPr>
          <a:xfrm>
            <a:off x="11496674" y="60579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100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0A6F62F-CE91-5050-2420-FF3CAAEDF9C1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562225"/>
            <a:ext cx="6324600" cy="647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14625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67075"/>
            <a:ext cx="632460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419475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971925"/>
            <a:ext cx="6324600" cy="647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124325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676775"/>
            <a:ext cx="632460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29175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4675" y="1476375"/>
            <a:ext cx="4819650" cy="44862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75" y="3343275"/>
            <a:ext cx="413385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7575" y="4533900"/>
            <a:ext cx="4133850" cy="381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Droits des personnes &amp; règles opérationnelles</a:t>
            </a:r>
            <a:endParaRPr lang="en-US" sz="2900" dirty="0"/>
          </a:p>
        </p:txBody>
      </p:sp>
      <p:sp>
        <p:nvSpPr>
          <p:cNvPr id="18" name="Text 1"/>
          <p:cNvSpPr/>
          <p:nvPr/>
        </p:nvSpPr>
        <p:spPr>
          <a:xfrm>
            <a:off x="571500" y="2074069"/>
            <a:ext cx="6873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d’ensemble des droits</a:t>
            </a:r>
            <a:endParaRPr lang="en-US" sz="1700" dirty="0"/>
          </a:p>
        </p:txBody>
      </p:sp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2800350"/>
            <a:ext cx="133350" cy="161925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1114425" y="2750344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Accès, opposition, rectification</a:t>
            </a:r>
            <a:endParaRPr lang="en-US" sz="1200" dirty="0"/>
          </a:p>
        </p:txBody>
      </p:sp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505200"/>
            <a:ext cx="171450" cy="16192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1114425" y="3455194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Effacement, limitation, portabilité</a:t>
            </a:r>
            <a:endParaRPr lang="en-US" sz="12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4210050"/>
            <a:ext cx="190500" cy="16192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1114425" y="4160044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 aux décisions automatisées / profilage</a:t>
            </a:r>
            <a:endParaRPr lang="en-US" sz="1200" dirty="0"/>
          </a:p>
        </p:txBody>
      </p:sp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914900"/>
            <a:ext cx="190500" cy="161925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1114425" y="4864894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 de réclamation (art. 77)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620000" y="1883569"/>
            <a:ext cx="2692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de réponse (SLA)</a:t>
            </a:r>
            <a:endParaRPr lang="en-US" sz="1700" dirty="0"/>
          </a:p>
        </p:txBody>
      </p:sp>
      <p:pic>
        <p:nvPicPr>
          <p:cNvPr id="28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7575" y="1895475"/>
            <a:ext cx="247650" cy="257175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7277100" y="2407444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 de réponse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277100" y="2712244"/>
            <a:ext cx="411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mois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prolongeable de 2 mois avec justification (art. 12.3)</a:t>
            </a:r>
            <a:endParaRPr lang="en-US" sz="1100" dirty="0"/>
          </a:p>
        </p:txBody>
      </p:sp>
      <p:sp>
        <p:nvSpPr>
          <p:cNvPr id="31" name="Text 9"/>
          <p:cNvSpPr/>
          <p:nvPr/>
        </p:nvSpPr>
        <p:spPr>
          <a:xfrm>
            <a:off x="7277100" y="3598069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de suite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277100" y="3902869"/>
            <a:ext cx="411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Informer des motifs + possibilité de réclamation </a:t>
            </a: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(≤ 1 mois)</a:t>
            </a:r>
            <a:endParaRPr lang="en-US" sz="1100" dirty="0"/>
          </a:p>
        </p:txBody>
      </p:sp>
      <p:sp>
        <p:nvSpPr>
          <p:cNvPr id="33" name="Text 11"/>
          <p:cNvSpPr/>
          <p:nvPr/>
        </p:nvSpPr>
        <p:spPr>
          <a:xfrm>
            <a:off x="7277100" y="4788694"/>
            <a:ext cx="45262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Gratuité (art. 12.5)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7277100" y="5093494"/>
            <a:ext cx="4114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de gratuité ; exceptions si demandes manifestement infondées ou excessives</a:t>
            </a:r>
            <a:endParaRPr lang="en-US" sz="1100" dirty="0"/>
          </a:p>
        </p:txBody>
      </p:sp>
      <p:sp>
        <p:nvSpPr>
          <p:cNvPr id="35" name="Text 13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6" name="Text 14"/>
          <p:cNvSpPr/>
          <p:nvPr/>
        </p:nvSpPr>
        <p:spPr>
          <a:xfrm>
            <a:off x="11487150" y="6057900"/>
            <a:ext cx="257175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1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489F598-9876-D861-B4C4-E8A2A82AAFCB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762125"/>
            <a:ext cx="6457950" cy="1333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057400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90875"/>
            <a:ext cx="6457950" cy="10953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3486150"/>
            <a:ext cx="476250" cy="4857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381500"/>
            <a:ext cx="6457950" cy="13239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4676775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4725" y="2152650"/>
            <a:ext cx="4305300" cy="1600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24725" y="3952875"/>
            <a:ext cx="4305300" cy="13525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 : ce qui doit être fourni</a:t>
            </a:r>
            <a:endParaRPr lang="en-US" sz="2900" dirty="0"/>
          </a:p>
        </p:txBody>
      </p:sp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550" y="2190750"/>
            <a:ext cx="190500" cy="219075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485900" y="2037159"/>
            <a:ext cx="576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 des données</a:t>
            </a:r>
            <a:endParaRPr lang="en-US" sz="1400" dirty="0"/>
          </a:p>
        </p:txBody>
      </p:sp>
      <p:sp>
        <p:nvSpPr>
          <p:cNvPr id="17" name="Text 2"/>
          <p:cNvSpPr/>
          <p:nvPr/>
        </p:nvSpPr>
        <p:spPr>
          <a:xfrm>
            <a:off x="1485900" y="2341959"/>
            <a:ext cx="5238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 personne justifiant de son identité peut obtenir une copie de ses données</a:t>
            </a:r>
            <a:endParaRPr lang="en-US" sz="1200" dirty="0"/>
          </a:p>
        </p:txBody>
      </p:sp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550" y="3619500"/>
            <a:ext cx="190500" cy="219075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1485900" y="3461147"/>
            <a:ext cx="425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Origine</a:t>
            </a:r>
            <a:endParaRPr lang="en-US" sz="1400" dirty="0"/>
          </a:p>
        </p:txBody>
      </p:sp>
      <p:sp>
        <p:nvSpPr>
          <p:cNvPr id="20" name="Text 4"/>
          <p:cNvSpPr/>
          <p:nvPr/>
        </p:nvSpPr>
        <p:spPr>
          <a:xfrm>
            <a:off x="1485900" y="3765947"/>
            <a:ext cx="38671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 aux informations sur l’origine (si disponible)</a:t>
            </a:r>
            <a:endParaRPr lang="en-US" sz="1200" dirty="0"/>
          </a:p>
        </p:txBody>
      </p:sp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025" y="4810125"/>
            <a:ext cx="209550" cy="219075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1485900" y="4649391"/>
            <a:ext cx="576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Logique du traitement</a:t>
            </a:r>
            <a:endParaRPr lang="en-US" sz="1400" dirty="0"/>
          </a:p>
        </p:txBody>
      </p:sp>
      <p:sp>
        <p:nvSpPr>
          <p:cNvPr id="23" name="Text 6"/>
          <p:cNvSpPr/>
          <p:nvPr/>
        </p:nvSpPr>
        <p:spPr>
          <a:xfrm>
            <a:off x="1485900" y="4954191"/>
            <a:ext cx="5238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Informations permettant de comprendre/contester la logique en cas de décision à effet juridique</a:t>
            </a:r>
            <a:endParaRPr lang="en-US" sz="120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62850" y="2447925"/>
            <a:ext cx="209550" cy="180975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7877175" y="2408634"/>
            <a:ext cx="16449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de réponse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572375" y="2789634"/>
            <a:ext cx="381000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demande électronique : réponse sous forme électronique d’usage courant (sauf demande אחרת)</a:t>
            </a:r>
            <a:endParaRPr lang="en-US" sz="120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2850" y="4248150"/>
            <a:ext cx="190500" cy="18097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7858125" y="4201716"/>
            <a:ext cx="1183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7572375" y="4582716"/>
            <a:ext cx="3810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Articulation avec l’obligation de transparence (art. 12.3)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1" name="Text 12"/>
          <p:cNvSpPr/>
          <p:nvPr/>
        </p:nvSpPr>
        <p:spPr>
          <a:xfrm>
            <a:off x="11487150" y="6057900"/>
            <a:ext cx="316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1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E55738B-09E5-BA28-F2B9-059DB8569897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76400"/>
            <a:ext cx="5410200" cy="4257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14500"/>
            <a:ext cx="53340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943100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571875"/>
            <a:ext cx="95250" cy="1047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495800"/>
            <a:ext cx="95250" cy="104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676400"/>
            <a:ext cx="5410200" cy="42576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1714500"/>
            <a:ext cx="53340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943100"/>
            <a:ext cx="476250" cy="4857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3038475"/>
            <a:ext cx="95250" cy="104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3886200"/>
            <a:ext cx="95250" cy="1047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4714875"/>
            <a:ext cx="4724400" cy="8667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 : motifs légitimes vs prospection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2076450"/>
            <a:ext cx="266700" cy="21907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1419225" y="2033588"/>
            <a:ext cx="18964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Motifs Légitimes</a:t>
            </a:r>
            <a:endParaRPr lang="en-US" sz="1700" dirty="0"/>
          </a:p>
        </p:txBody>
      </p:sp>
      <p:sp>
        <p:nvSpPr>
          <p:cNvPr id="20" name="Text 2"/>
          <p:cNvSpPr/>
          <p:nvPr/>
        </p:nvSpPr>
        <p:spPr>
          <a:xfrm>
            <a:off x="1114425" y="3490913"/>
            <a:ext cx="4476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 pour motifs légitimes </a:t>
            </a:r>
            <a:r>
              <a:rPr lang="en-US" sz="12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(sauf obligation légale)</a:t>
            </a:r>
            <a:endParaRPr lang="en-US" sz="1400" dirty="0"/>
          </a:p>
        </p:txBody>
      </p:sp>
      <p:sp>
        <p:nvSpPr>
          <p:cNvPr id="21" name="Text 3"/>
          <p:cNvSpPr/>
          <p:nvPr/>
        </p:nvSpPr>
        <p:spPr>
          <a:xfrm>
            <a:off x="1114425" y="4414838"/>
            <a:ext cx="4476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informe sans délai les autres responsables destinataires</a:t>
            </a:r>
            <a:endParaRPr lang="en-US" sz="1400" dirty="0"/>
          </a:p>
        </p:txBody>
      </p:sp>
      <p:pic>
        <p:nvPicPr>
          <p:cNvPr id="22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076450"/>
            <a:ext cx="209550" cy="219075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7134225" y="2033588"/>
            <a:ext cx="1362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Prospection</a:t>
            </a:r>
            <a:endParaRPr lang="en-US" sz="1700" dirty="0"/>
          </a:p>
        </p:txBody>
      </p:sp>
      <p:sp>
        <p:nvSpPr>
          <p:cNvPr id="24" name="Text 5"/>
          <p:cNvSpPr/>
          <p:nvPr/>
        </p:nvSpPr>
        <p:spPr>
          <a:xfrm>
            <a:off x="6829425" y="2957513"/>
            <a:ext cx="4476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 </a:t>
            </a: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inconditionnelle</a:t>
            </a: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à la prospection (notamment commerciale)</a:t>
            </a:r>
            <a:endParaRPr lang="en-US" sz="1400" dirty="0"/>
          </a:p>
        </p:txBody>
      </p:sp>
      <p:sp>
        <p:nvSpPr>
          <p:cNvPr id="25" name="Text 6"/>
          <p:cNvSpPr/>
          <p:nvPr/>
        </p:nvSpPr>
        <p:spPr>
          <a:xfrm>
            <a:off x="6829425" y="3805237"/>
            <a:ext cx="4476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Possibilité d’exprimer l’opposition avant validation définitive des réponses</a:t>
            </a:r>
            <a:endParaRPr lang="en-US" sz="1400" dirty="0"/>
          </a:p>
        </p:txBody>
      </p:sp>
      <p:sp>
        <p:nvSpPr>
          <p:cNvPr id="26" name="Text 7"/>
          <p:cNvSpPr/>
          <p:nvPr/>
        </p:nvSpPr>
        <p:spPr>
          <a:xfrm>
            <a:off x="6791325" y="4881563"/>
            <a:ext cx="4362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Implication opérationnelle : opt-out effectif et propagé</a:t>
            </a:r>
            <a:endParaRPr lang="en-US" sz="12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1800" y="4914900"/>
            <a:ext cx="190500" cy="20002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571500" y="6119813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29" name="Text 9"/>
          <p:cNvSpPr/>
          <p:nvPr/>
        </p:nvSpPr>
        <p:spPr>
          <a:xfrm>
            <a:off x="11430000" y="6119813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100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2708B4E-F731-ED99-5847-85A5708A0B98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334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95400"/>
            <a:ext cx="11125200" cy="87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524000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152650"/>
            <a:ext cx="11125200" cy="2686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333625"/>
            <a:ext cx="400050" cy="409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275" y="3581400"/>
            <a:ext cx="48006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790825"/>
            <a:ext cx="5038725" cy="13620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829175"/>
            <a:ext cx="11125200" cy="11144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5048250"/>
            <a:ext cx="400050" cy="4000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Corriger, supprimer ou limiter le traitement</a:t>
            </a:r>
            <a:endParaRPr lang="en-US" sz="2900" dirty="0"/>
          </a:p>
        </p:txBody>
      </p:sp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6775" y="1638300"/>
            <a:ext cx="171450" cy="180975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295400" y="1490663"/>
            <a:ext cx="1118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Rectification (art. 16)</a:t>
            </a:r>
            <a:endParaRPr lang="en-US" sz="1100" dirty="0"/>
          </a:p>
        </p:txBody>
      </p:sp>
      <p:sp>
        <p:nvSpPr>
          <p:cNvPr id="17" name="Text 2"/>
          <p:cNvSpPr/>
          <p:nvPr/>
        </p:nvSpPr>
        <p:spPr>
          <a:xfrm>
            <a:off x="1295400" y="1757363"/>
            <a:ext cx="10172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Corriger les données inexactes, incomplètes ou périmées ; informer les destinataires de toute rectification effectuée.</a:t>
            </a:r>
            <a:endParaRPr lang="en-US" sz="1100" dirty="0"/>
          </a:p>
        </p:txBody>
      </p:sp>
      <p:pic>
        <p:nvPicPr>
          <p:cNvPr id="18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2447925"/>
            <a:ext cx="152400" cy="180975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1295400" y="2424113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Effacement (art. 17)</a:t>
            </a:r>
            <a:endParaRPr lang="en-US" sz="1100" dirty="0"/>
          </a:p>
        </p:txBody>
      </p:sp>
      <p:sp>
        <p:nvSpPr>
          <p:cNvPr id="20" name="Text 4"/>
          <p:cNvSpPr/>
          <p:nvPr/>
        </p:nvSpPr>
        <p:spPr>
          <a:xfrm>
            <a:off x="1447800" y="2805113"/>
            <a:ext cx="4776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 d'application</a:t>
            </a:r>
            <a:endParaRPr lang="en-US" sz="1100" dirty="0"/>
          </a:p>
        </p:txBody>
      </p:sp>
      <p:sp>
        <p:nvSpPr>
          <p:cNvPr id="21" name="Text 5"/>
          <p:cNvSpPr/>
          <p:nvPr/>
        </p:nvSpPr>
        <p:spPr>
          <a:xfrm>
            <a:off x="1600200" y="3109913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inutiles, retrait du consentement</a:t>
            </a:r>
            <a:endParaRPr lang="en-US" sz="900" dirty="0"/>
          </a:p>
        </p:txBody>
      </p:sp>
      <p:sp>
        <p:nvSpPr>
          <p:cNvPr id="22" name="Text 6"/>
          <p:cNvSpPr/>
          <p:nvPr/>
        </p:nvSpPr>
        <p:spPr>
          <a:xfrm>
            <a:off x="1600200" y="3331369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Opposition, illicéité, obligation légale, enfant</a:t>
            </a:r>
            <a:endParaRPr lang="en-US" sz="900" dirty="0"/>
          </a:p>
        </p:txBody>
      </p:sp>
      <p:sp>
        <p:nvSpPr>
          <p:cNvPr id="23" name="Text 7"/>
          <p:cNvSpPr/>
          <p:nvPr/>
        </p:nvSpPr>
        <p:spPr>
          <a:xfrm>
            <a:off x="1533525" y="3676650"/>
            <a:ext cx="46053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« Droit à l’oubli » : si données rendues publiques, mesures raisonnables envers les tiers.</a:t>
            </a:r>
            <a:endParaRPr lang="en-US" sz="900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95700"/>
            <a:ext cx="171450" cy="152400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6691313" y="2805113"/>
            <a:ext cx="4776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Limites à l’effacement</a:t>
            </a:r>
            <a:endParaRPr lang="en-US" sz="1100" dirty="0"/>
          </a:p>
        </p:txBody>
      </p:sp>
      <p:sp>
        <p:nvSpPr>
          <p:cNvPr id="26" name="Text 9"/>
          <p:cNvSpPr/>
          <p:nvPr/>
        </p:nvSpPr>
        <p:spPr>
          <a:xfrm>
            <a:off x="6843713" y="3109913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Liberté d’expression</a:t>
            </a:r>
            <a:endParaRPr lang="en-US" sz="900" dirty="0"/>
          </a:p>
        </p:txBody>
      </p:sp>
      <p:sp>
        <p:nvSpPr>
          <p:cNvPr id="27" name="Text 10"/>
          <p:cNvSpPr/>
          <p:nvPr/>
        </p:nvSpPr>
        <p:spPr>
          <a:xfrm>
            <a:off x="6843713" y="3331369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légale, intérêt public, santé publique</a:t>
            </a:r>
            <a:endParaRPr lang="en-US" sz="900" dirty="0"/>
          </a:p>
        </p:txBody>
      </p:sp>
      <p:sp>
        <p:nvSpPr>
          <p:cNvPr id="28" name="Text 11"/>
          <p:cNvSpPr/>
          <p:nvPr/>
        </p:nvSpPr>
        <p:spPr>
          <a:xfrm>
            <a:off x="6843713" y="3552825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Archivage, recherche, statistiques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6843713" y="3774281"/>
            <a:ext cx="4624388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en justice</a:t>
            </a:r>
            <a:endParaRPr lang="en-US" sz="9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775" y="5162550"/>
            <a:ext cx="171450" cy="171450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1295400" y="5019675"/>
            <a:ext cx="111899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(art. 18)</a:t>
            </a:r>
            <a:endParaRPr lang="en-US" sz="1100" dirty="0"/>
          </a:p>
        </p:txBody>
      </p:sp>
      <p:sp>
        <p:nvSpPr>
          <p:cNvPr id="32" name="Text 14"/>
          <p:cNvSpPr/>
          <p:nvPr/>
        </p:nvSpPr>
        <p:spPr>
          <a:xfrm>
            <a:off x="1447800" y="5324475"/>
            <a:ext cx="481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Exactitude contestée</a:t>
            </a:r>
            <a:endParaRPr lang="en-US" sz="1100" dirty="0"/>
          </a:p>
        </p:txBody>
      </p:sp>
      <p:sp>
        <p:nvSpPr>
          <p:cNvPr id="33" name="Text 15"/>
          <p:cNvSpPr/>
          <p:nvPr/>
        </p:nvSpPr>
        <p:spPr>
          <a:xfrm>
            <a:off x="1447800" y="5534025"/>
            <a:ext cx="481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 illicite</a:t>
            </a:r>
            <a:endParaRPr lang="en-US" sz="1100" dirty="0"/>
          </a:p>
        </p:txBody>
      </p:sp>
      <p:sp>
        <p:nvSpPr>
          <p:cNvPr id="34" name="Text 16"/>
          <p:cNvSpPr/>
          <p:nvPr/>
        </p:nvSpPr>
        <p:spPr>
          <a:xfrm>
            <a:off x="6648450" y="5324475"/>
            <a:ext cx="481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encore nécessaires à des droits</a:t>
            </a:r>
            <a:endParaRPr lang="en-US" sz="1100" dirty="0"/>
          </a:p>
        </p:txBody>
      </p:sp>
      <p:sp>
        <p:nvSpPr>
          <p:cNvPr id="35" name="Text 17"/>
          <p:cNvSpPr/>
          <p:nvPr/>
        </p:nvSpPr>
        <p:spPr>
          <a:xfrm>
            <a:off x="6648450" y="5534025"/>
            <a:ext cx="4819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Opposition en cours d’examen</a:t>
            </a:r>
            <a:endParaRPr lang="en-US" sz="1100" dirty="0"/>
          </a:p>
        </p:txBody>
      </p:sp>
      <p:sp>
        <p:nvSpPr>
          <p:cNvPr id="36" name="Text 18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7" name="Text 19"/>
          <p:cNvSpPr/>
          <p:nvPr/>
        </p:nvSpPr>
        <p:spPr>
          <a:xfrm>
            <a:off x="11487150" y="6057900"/>
            <a:ext cx="344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1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BF9D0EF-041B-C5A9-524A-144EE29F011F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590675"/>
            <a:ext cx="476250" cy="4857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283845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4076700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5076825"/>
            <a:ext cx="6038850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400" y="1524000"/>
            <a:ext cx="4648200" cy="441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0" y="1562100"/>
            <a:ext cx="4572000" cy="866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7100" y="1790700"/>
            <a:ext cx="400050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0" y="2400300"/>
            <a:ext cx="4572000" cy="34956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53300" y="3914775"/>
            <a:ext cx="39624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3350" y="5229225"/>
            <a:ext cx="2047875" cy="31432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Portabilité : fournir les données dans un format réutilisable</a:t>
            </a:r>
            <a:endParaRPr lang="en-US" sz="2900" dirty="0"/>
          </a:p>
        </p:txBody>
      </p:sp>
      <p:pic>
        <p:nvPicPr>
          <p:cNvPr id="1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1724025"/>
            <a:ext cx="247650" cy="219075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1181100" y="1566863"/>
            <a:ext cx="59512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Structuré</a:t>
            </a:r>
            <a:endParaRPr lang="en-US" sz="1700" dirty="0"/>
          </a:p>
        </p:txBody>
      </p:sp>
      <p:sp>
        <p:nvSpPr>
          <p:cNvPr id="19" name="Text 2"/>
          <p:cNvSpPr/>
          <p:nvPr/>
        </p:nvSpPr>
        <p:spPr>
          <a:xfrm>
            <a:off x="1181100" y="1947863"/>
            <a:ext cx="54102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Recevoir ses données dans un format structuré, couramment utilisé et lisible par machine.</a:t>
            </a:r>
            <a:endParaRPr lang="en-US" sz="1200" dirty="0"/>
          </a:p>
        </p:txBody>
      </p:sp>
      <p:pic>
        <p:nvPicPr>
          <p:cNvPr id="2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2971800"/>
            <a:ext cx="247650" cy="209550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1181100" y="2809875"/>
            <a:ext cx="59512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Transmission</a:t>
            </a:r>
            <a:endParaRPr lang="en-US" sz="1700" dirty="0"/>
          </a:p>
        </p:txBody>
      </p:sp>
      <p:sp>
        <p:nvSpPr>
          <p:cNvPr id="22" name="Text 4"/>
          <p:cNvSpPr/>
          <p:nvPr/>
        </p:nvSpPr>
        <p:spPr>
          <a:xfrm>
            <a:off x="1181100" y="3190875"/>
            <a:ext cx="54102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Transmettre à un autre responsable ; ou transfert direct si techniquement possible.</a:t>
            </a:r>
            <a:endParaRPr lang="en-US" sz="1200" dirty="0"/>
          </a:p>
        </p:txBody>
      </p:sp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4210050"/>
            <a:ext cx="247650" cy="219075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1181100" y="4052888"/>
            <a:ext cx="55949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Gratuité</a:t>
            </a:r>
            <a:endParaRPr lang="en-US" sz="1700" dirty="0"/>
          </a:p>
        </p:txBody>
      </p:sp>
      <p:sp>
        <p:nvSpPr>
          <p:cNvPr id="25" name="Text 6"/>
          <p:cNvSpPr/>
          <p:nvPr/>
        </p:nvSpPr>
        <p:spPr>
          <a:xfrm>
            <a:off x="1181100" y="4433888"/>
            <a:ext cx="50863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L'exercice de ce droit s'effectue à titre gratuit (référence art. 12.5).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571500" y="5255419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Lignes directrices G29 (05/04/2017) : données « fournies par » + données générées par l’activité.</a:t>
            </a:r>
            <a:endParaRPr lang="en-US" sz="11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5276850"/>
            <a:ext cx="171450" cy="180975"/>
          </a:xfrm>
          <a:prstGeom prst="rect">
            <a:avLst/>
          </a:prstGeom>
        </p:spPr>
      </p:pic>
      <p:pic>
        <p:nvPicPr>
          <p:cNvPr id="28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91400" y="1895475"/>
            <a:ext cx="171450" cy="200025"/>
          </a:xfrm>
          <a:prstGeom prst="rect">
            <a:avLst/>
          </a:prstGeom>
        </p:spPr>
      </p:pic>
      <p:sp>
        <p:nvSpPr>
          <p:cNvPr id="29" name="Text 8"/>
          <p:cNvSpPr/>
          <p:nvPr/>
        </p:nvSpPr>
        <p:spPr>
          <a:xfrm>
            <a:off x="7820025" y="1843088"/>
            <a:ext cx="22212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Critères d'Éligibilité</a:t>
            </a:r>
            <a:endParaRPr lang="en-US" sz="1700" dirty="0"/>
          </a:p>
        </p:txBody>
      </p:sp>
      <p:pic>
        <p:nvPicPr>
          <p:cNvPr id="30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3300" y="2790825"/>
            <a:ext cx="257175" cy="219075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7715250" y="2769394"/>
            <a:ext cx="24203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Traitements Automatisés</a:t>
            </a:r>
            <a:endParaRPr lang="en-US" sz="1400" dirty="0"/>
          </a:p>
        </p:txBody>
      </p:sp>
      <p:pic>
        <p:nvPicPr>
          <p:cNvPr id="3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48550" y="3133725"/>
            <a:ext cx="3867150" cy="504825"/>
          </a:xfrm>
          <a:prstGeom prst="rect">
            <a:avLst/>
          </a:prstGeom>
        </p:spPr>
      </p:pic>
      <p:sp>
        <p:nvSpPr>
          <p:cNvPr id="33" name="Text 10"/>
          <p:cNvSpPr/>
          <p:nvPr/>
        </p:nvSpPr>
        <p:spPr>
          <a:xfrm>
            <a:off x="7762875" y="3150394"/>
            <a:ext cx="3543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Uniquement pour les traitements automatisés (exclut les dossiers « papier »).</a:t>
            </a:r>
            <a:endParaRPr lang="en-US" sz="1200" dirty="0"/>
          </a:p>
        </p:txBody>
      </p:sp>
      <p:pic>
        <p:nvPicPr>
          <p:cNvPr id="34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53300" y="4267200"/>
            <a:ext cx="161925" cy="219075"/>
          </a:xfrm>
          <a:prstGeom prst="rect">
            <a:avLst/>
          </a:prstGeom>
        </p:spPr>
      </p:pic>
      <p:sp>
        <p:nvSpPr>
          <p:cNvPr id="35" name="Text 11"/>
          <p:cNvSpPr/>
          <p:nvPr/>
        </p:nvSpPr>
        <p:spPr>
          <a:xfrm>
            <a:off x="7620000" y="4241006"/>
            <a:ext cx="2221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Légale Spécifique</a:t>
            </a:r>
            <a:endParaRPr lang="en-US" sz="1400" dirty="0"/>
          </a:p>
        </p:txBody>
      </p:sp>
      <p:pic>
        <p:nvPicPr>
          <p:cNvPr id="36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48550" y="4610100"/>
            <a:ext cx="3867150" cy="495300"/>
          </a:xfrm>
          <a:prstGeom prst="rect">
            <a:avLst/>
          </a:prstGeom>
        </p:spPr>
      </p:pic>
      <p:sp>
        <p:nvSpPr>
          <p:cNvPr id="37" name="Text 12"/>
          <p:cNvSpPr/>
          <p:nvPr/>
        </p:nvSpPr>
        <p:spPr>
          <a:xfrm>
            <a:off x="7762875" y="4622006"/>
            <a:ext cx="35433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Uniquement si la base légale est le </a:t>
            </a: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consentement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ou le </a:t>
            </a: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762875" y="5245894"/>
            <a:ext cx="3543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0007"/>
                </a:solidFill>
                <a:highlight>
                  <a:srgbClr val="FEF2F2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 Pas l’intérêt légitime seul </a:t>
            </a:r>
            <a:endParaRPr lang="en-US" sz="900" dirty="0"/>
          </a:p>
        </p:txBody>
      </p:sp>
      <p:pic>
        <p:nvPicPr>
          <p:cNvPr id="3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77175" y="5305425"/>
            <a:ext cx="123825" cy="16192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1" name="Text 15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1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4850922-C54F-0DEB-9027-77D0F8A2AB83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11125200" cy="1657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76375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2143125"/>
            <a:ext cx="10191750" cy="6953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009900"/>
            <a:ext cx="5543550" cy="2933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3152775"/>
            <a:ext cx="52578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4933950"/>
            <a:ext cx="5257800" cy="857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050" y="3009900"/>
            <a:ext cx="5543550" cy="2933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7925" y="3152775"/>
            <a:ext cx="52578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3638550"/>
            <a:ext cx="5257800" cy="6572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175" y="3733800"/>
            <a:ext cx="45720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4381500"/>
            <a:ext cx="5257800" cy="6572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3175" y="4476750"/>
            <a:ext cx="45720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7925" y="5124450"/>
            <a:ext cx="5257800" cy="6572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175" y="5219700"/>
            <a:ext cx="457200" cy="47625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Encadrement des décisions entièrement automatisées</a:t>
            </a:r>
            <a:endParaRPr lang="en-US" sz="2900" dirty="0"/>
          </a:p>
        </p:txBody>
      </p:sp>
      <p:pic>
        <p:nvPicPr>
          <p:cNvPr id="21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" y="1609725"/>
            <a:ext cx="209550" cy="21907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1295400" y="1490663"/>
            <a:ext cx="11231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Principe Fondamental</a:t>
            </a:r>
            <a:endParaRPr lang="en-US" sz="1400" dirty="0"/>
          </a:p>
        </p:txBody>
      </p:sp>
      <p:sp>
        <p:nvSpPr>
          <p:cNvPr id="23" name="Text 2"/>
          <p:cNvSpPr/>
          <p:nvPr/>
        </p:nvSpPr>
        <p:spPr>
          <a:xfrm>
            <a:off x="1295400" y="1833563"/>
            <a:ext cx="10210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Droit de ne pas être soumis à une décision exclusivement automatisée à effet juridique/similaire.</a:t>
            </a:r>
            <a:endParaRPr lang="en-US" sz="1100" dirty="0"/>
          </a:p>
        </p:txBody>
      </p:sp>
      <p:sp>
        <p:nvSpPr>
          <p:cNvPr id="24" name="Text 3"/>
          <p:cNvSpPr/>
          <p:nvPr/>
        </p:nvSpPr>
        <p:spPr>
          <a:xfrm>
            <a:off x="1457325" y="2281238"/>
            <a:ext cx="109175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Profilage :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évaluation/prédiction automatisée (travail, situation économique, santé, préférences/intérêts, fiabilité/comportement, localisation/déplacements).</a:t>
            </a:r>
            <a:endParaRPr lang="en-US" sz="1100" dirty="0"/>
          </a:p>
        </p:txBody>
      </p:sp>
      <p:pic>
        <p:nvPicPr>
          <p:cNvPr id="25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3190875"/>
            <a:ext cx="209550" cy="219075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990600" y="3167063"/>
            <a:ext cx="10372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Exceptions</a:t>
            </a:r>
            <a:endParaRPr lang="en-US" sz="1400" dirty="0"/>
          </a:p>
        </p:txBody>
      </p:sp>
      <p:pic>
        <p:nvPicPr>
          <p:cNvPr id="27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3657600"/>
            <a:ext cx="171450" cy="180975"/>
          </a:xfrm>
          <a:prstGeom prst="rect">
            <a:avLst/>
          </a:prstGeom>
        </p:spPr>
      </p:pic>
      <p:sp>
        <p:nvSpPr>
          <p:cNvPr id="28" name="Text 5"/>
          <p:cNvSpPr/>
          <p:nvPr/>
        </p:nvSpPr>
        <p:spPr>
          <a:xfrm>
            <a:off x="952500" y="3633788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Nécessaire au contrat</a:t>
            </a:r>
            <a:endParaRPr lang="en-US" sz="1100" dirty="0"/>
          </a:p>
        </p:txBody>
      </p:sp>
      <p:pic>
        <p:nvPicPr>
          <p:cNvPr id="29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3962400"/>
            <a:ext cx="171450" cy="180975"/>
          </a:xfrm>
          <a:prstGeom prst="rect">
            <a:avLst/>
          </a:prstGeom>
        </p:spPr>
      </p:pic>
      <p:sp>
        <p:nvSpPr>
          <p:cNvPr id="30" name="Text 6"/>
          <p:cNvSpPr/>
          <p:nvPr/>
        </p:nvSpPr>
        <p:spPr>
          <a:xfrm>
            <a:off x="952500" y="3938588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Autorisée par le droit UE/État membre</a:t>
            </a:r>
            <a:endParaRPr lang="en-US" sz="1100" dirty="0"/>
          </a:p>
        </p:txBody>
      </p:sp>
      <p:pic>
        <p:nvPicPr>
          <p:cNvPr id="31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4267200"/>
            <a:ext cx="171450" cy="180975"/>
          </a:xfrm>
          <a:prstGeom prst="rect">
            <a:avLst/>
          </a:prstGeom>
        </p:spPr>
      </p:pic>
      <p:sp>
        <p:nvSpPr>
          <p:cNvPr id="32" name="Text 7"/>
          <p:cNvSpPr/>
          <p:nvPr/>
        </p:nvSpPr>
        <p:spPr>
          <a:xfrm>
            <a:off x="952500" y="4243388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Fondée sur consentement explicite</a:t>
            </a:r>
            <a:endParaRPr lang="en-US" sz="1100" dirty="0"/>
          </a:p>
        </p:txBody>
      </p:sp>
      <p:sp>
        <p:nvSpPr>
          <p:cNvPr id="33" name="Text 8"/>
          <p:cNvSpPr/>
          <p:nvPr/>
        </p:nvSpPr>
        <p:spPr>
          <a:xfrm>
            <a:off x="809625" y="5069681"/>
            <a:ext cx="4991100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07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sensibles :</a:t>
            </a:r>
            <a:endParaRPr lang="en-US" sz="900" dirty="0"/>
          </a:p>
        </p:txBody>
      </p:sp>
      <p:pic>
        <p:nvPicPr>
          <p:cNvPr id="34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5086350"/>
            <a:ext cx="152400" cy="161925"/>
          </a:xfrm>
          <a:prstGeom prst="rect">
            <a:avLst/>
          </a:prstGeom>
        </p:spPr>
      </p:pic>
      <p:pic>
        <p:nvPicPr>
          <p:cNvPr id="35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57925" y="3190875"/>
            <a:ext cx="209550" cy="219075"/>
          </a:xfrm>
          <a:prstGeom prst="rect">
            <a:avLst/>
          </a:prstGeom>
        </p:spPr>
      </p:pic>
      <p:sp>
        <p:nvSpPr>
          <p:cNvPr id="36" name="Text 9"/>
          <p:cNvSpPr/>
          <p:nvPr/>
        </p:nvSpPr>
        <p:spPr>
          <a:xfrm>
            <a:off x="6572250" y="3167063"/>
            <a:ext cx="963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Garanties</a:t>
            </a:r>
            <a:endParaRPr lang="en-US" sz="1400" dirty="0"/>
          </a:p>
        </p:txBody>
      </p:sp>
      <p:pic>
        <p:nvPicPr>
          <p:cNvPr id="3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5575" y="3876675"/>
            <a:ext cx="152400" cy="180975"/>
          </a:xfrm>
          <a:prstGeom prst="rect">
            <a:avLst/>
          </a:prstGeom>
        </p:spPr>
      </p:pic>
      <p:sp>
        <p:nvSpPr>
          <p:cNvPr id="38" name="Text 10"/>
          <p:cNvSpPr/>
          <p:nvPr/>
        </p:nvSpPr>
        <p:spPr>
          <a:xfrm>
            <a:off x="6886575" y="3850481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humaine</a:t>
            </a:r>
            <a:endParaRPr lang="en-US" sz="1100" dirty="0"/>
          </a:p>
        </p:txBody>
      </p:sp>
      <p:pic>
        <p:nvPicPr>
          <p:cNvPr id="39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6050" y="4619625"/>
            <a:ext cx="171450" cy="180975"/>
          </a:xfrm>
          <a:prstGeom prst="rect">
            <a:avLst/>
          </a:prstGeom>
        </p:spPr>
      </p:pic>
      <p:sp>
        <p:nvSpPr>
          <p:cNvPr id="40" name="Text 11"/>
          <p:cNvSpPr/>
          <p:nvPr/>
        </p:nvSpPr>
        <p:spPr>
          <a:xfrm>
            <a:off x="6886575" y="4593431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Exprimer son point de vue</a:t>
            </a:r>
            <a:endParaRPr lang="en-US" sz="1100" dirty="0"/>
          </a:p>
        </p:txBody>
      </p:sp>
      <p:pic>
        <p:nvPicPr>
          <p:cNvPr id="41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5362575"/>
            <a:ext cx="209550" cy="180975"/>
          </a:xfrm>
          <a:prstGeom prst="rect">
            <a:avLst/>
          </a:prstGeom>
        </p:spPr>
      </p:pic>
      <p:sp>
        <p:nvSpPr>
          <p:cNvPr id="42" name="Text 12"/>
          <p:cNvSpPr/>
          <p:nvPr/>
        </p:nvSpPr>
        <p:spPr>
          <a:xfrm>
            <a:off x="6886575" y="5336381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Contester la décision</a:t>
            </a:r>
            <a:endParaRPr lang="en-US" sz="1100" dirty="0"/>
          </a:p>
        </p:txBody>
      </p:sp>
      <p:sp>
        <p:nvSpPr>
          <p:cNvPr id="43" name="Text 13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4" name="Text 14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10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516FEB4D-9F21-E98A-96E7-F45CEB560A6B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47800"/>
            <a:ext cx="5543550" cy="2209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190750"/>
            <a:ext cx="76200" cy="85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505075"/>
            <a:ext cx="76200" cy="85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048000"/>
            <a:ext cx="76200" cy="85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714750"/>
            <a:ext cx="5543550" cy="2552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050" y="1447800"/>
            <a:ext cx="5543550" cy="3467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2171700"/>
            <a:ext cx="400050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3048000"/>
            <a:ext cx="400050" cy="409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3924300"/>
            <a:ext cx="400050" cy="4095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5050" y="4972050"/>
            <a:ext cx="5543550" cy="1295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Désignation du DPO et rôle</a:t>
            </a:r>
            <a:endParaRPr lang="en-US" sz="2900" dirty="0"/>
          </a:p>
        </p:txBody>
      </p:sp>
      <p:sp>
        <p:nvSpPr>
          <p:cNvPr id="17" name="Text 1"/>
          <p:cNvSpPr/>
          <p:nvPr/>
        </p:nvSpPr>
        <p:spPr>
          <a:xfrm>
            <a:off x="1038225" y="1662113"/>
            <a:ext cx="43691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Désignation obligatoire (art. 37–38) si :</a:t>
            </a:r>
            <a:endParaRPr lang="en-US" sz="1700" dirty="0"/>
          </a:p>
        </p:txBody>
      </p:sp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1695450"/>
            <a:ext cx="209550" cy="219075"/>
          </a:xfrm>
          <a:prstGeom prst="rect">
            <a:avLst/>
          </a:prstGeom>
        </p:spPr>
      </p:pic>
      <p:sp>
        <p:nvSpPr>
          <p:cNvPr id="19" name="Text 2"/>
          <p:cNvSpPr/>
          <p:nvPr/>
        </p:nvSpPr>
        <p:spPr>
          <a:xfrm>
            <a:off x="904875" y="2109788"/>
            <a:ext cx="22193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Autorité ou organisme public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904875" y="2421731"/>
            <a:ext cx="49720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Activités de base = suivi régulier et systématique à grande échelle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04875" y="2969419"/>
            <a:ext cx="49720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Activités de base = traitement à grande échelle de données sensibles ou pénales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047750" y="3926681"/>
            <a:ext cx="186499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 &amp; Règles</a:t>
            </a:r>
            <a:endParaRPr lang="en-US" sz="1400" dirty="0"/>
          </a:p>
        </p:txBody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3943350"/>
            <a:ext cx="257175" cy="219075"/>
          </a:xfrm>
          <a:prstGeom prst="rect">
            <a:avLst/>
          </a:prstGeom>
        </p:spPr>
      </p:pic>
      <p:pic>
        <p:nvPicPr>
          <p:cNvPr id="24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362450"/>
            <a:ext cx="133350" cy="161925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962025" y="4336256"/>
            <a:ext cx="491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Compétence juridique/RGPD ; interne ou prestation ; DPO de groupe possible si joignable</a:t>
            </a:r>
            <a:endParaRPr lang="en-US" sz="1100" dirty="0"/>
          </a:p>
        </p:txBody>
      </p:sp>
      <p:pic>
        <p:nvPicPr>
          <p:cNvPr id="26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895850"/>
            <a:ext cx="133350" cy="161925"/>
          </a:xfrm>
          <a:prstGeom prst="rect">
            <a:avLst/>
          </a:prstGeom>
        </p:spPr>
      </p:pic>
      <p:sp>
        <p:nvSpPr>
          <p:cNvPr id="27" name="Text 7"/>
          <p:cNvSpPr/>
          <p:nvPr/>
        </p:nvSpPr>
        <p:spPr>
          <a:xfrm>
            <a:off x="962025" y="4869656"/>
            <a:ext cx="49149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Règles : coordonnées publiées ; associé à toutes les questions ; ressources ; confidentialité ; pas d’instructions ; report au plus haut niveau ; éviter conflits d’intérêts</a:t>
            </a:r>
            <a:endParaRPr lang="en-US" sz="1100" dirty="0"/>
          </a:p>
        </p:txBody>
      </p:sp>
      <p:sp>
        <p:nvSpPr>
          <p:cNvPr id="28" name="Text 8"/>
          <p:cNvSpPr/>
          <p:nvPr/>
        </p:nvSpPr>
        <p:spPr>
          <a:xfrm>
            <a:off x="6619875" y="1662113"/>
            <a:ext cx="1906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Missions (art. 39)</a:t>
            </a:r>
            <a:endParaRPr lang="en-US" sz="1700" dirty="0"/>
          </a:p>
        </p:txBody>
      </p:sp>
      <p:pic>
        <p:nvPicPr>
          <p:cNvPr id="29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550" y="1695450"/>
            <a:ext cx="209550" cy="219075"/>
          </a:xfrm>
          <a:prstGeom prst="rect">
            <a:avLst/>
          </a:prstGeom>
        </p:spPr>
      </p:pic>
      <p:pic>
        <p:nvPicPr>
          <p:cNvPr id="30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266950"/>
            <a:ext cx="209550" cy="219075"/>
          </a:xfrm>
          <a:prstGeom prst="rect">
            <a:avLst/>
          </a:prstGeom>
        </p:spPr>
      </p:pic>
      <p:sp>
        <p:nvSpPr>
          <p:cNvPr id="31" name="Text 9"/>
          <p:cNvSpPr/>
          <p:nvPr/>
        </p:nvSpPr>
        <p:spPr>
          <a:xfrm>
            <a:off x="6810375" y="2185988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Informer / Conseiller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6810375" y="2490788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traitement, les sous-traitants et les employés sur leurs obligations.</a:t>
            </a:r>
            <a:endParaRPr lang="en-US" sz="1100" dirty="0"/>
          </a:p>
        </p:txBody>
      </p:sp>
      <p:pic>
        <p:nvPicPr>
          <p:cNvPr id="33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143250"/>
            <a:ext cx="209550" cy="219075"/>
          </a:xfrm>
          <a:prstGeom prst="rect">
            <a:avLst/>
          </a:prstGeom>
        </p:spPr>
      </p:pic>
      <p:sp>
        <p:nvSpPr>
          <p:cNvPr id="34" name="Text 11"/>
          <p:cNvSpPr/>
          <p:nvPr/>
        </p:nvSpPr>
        <p:spPr>
          <a:xfrm>
            <a:off x="6810375" y="3062288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Contrôler (formation/audits)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6810375" y="3367088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Surveiller le respect du RGPD et des politiques internes de protection des données.</a:t>
            </a:r>
            <a:endParaRPr lang="en-US" sz="1100" dirty="0"/>
          </a:p>
        </p:txBody>
      </p:sp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72225" y="4019550"/>
            <a:ext cx="266700" cy="219075"/>
          </a:xfrm>
          <a:prstGeom prst="rect">
            <a:avLst/>
          </a:prstGeom>
        </p:spPr>
      </p:pic>
      <p:sp>
        <p:nvSpPr>
          <p:cNvPr id="37" name="Text 13"/>
          <p:cNvSpPr/>
          <p:nvPr/>
        </p:nvSpPr>
        <p:spPr>
          <a:xfrm>
            <a:off x="6810375" y="3938588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Coopérer &amp; point de contact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6810375" y="4243388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Agir comme point de contact pour l'autorité de contrôle et coopérer avec elle.</a:t>
            </a:r>
            <a:endParaRPr lang="en-US" sz="1100" dirty="0"/>
          </a:p>
        </p:txBody>
      </p:sp>
      <p:sp>
        <p:nvSpPr>
          <p:cNvPr id="39" name="Text 15"/>
          <p:cNvSpPr/>
          <p:nvPr/>
        </p:nvSpPr>
        <p:spPr>
          <a:xfrm>
            <a:off x="6553200" y="5186363"/>
            <a:ext cx="1257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Responsabilité</a:t>
            </a:r>
            <a:endParaRPr lang="en-US" sz="1200" dirty="0"/>
          </a:p>
        </p:txBody>
      </p:sp>
      <p:pic>
        <p:nvPicPr>
          <p:cNvPr id="40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96025" y="5200650"/>
            <a:ext cx="190500" cy="200025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6305550" y="5510213"/>
            <a:ext cx="51625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DPO ne se substitue pas à la responsabilité du responsable de traitement.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571500" y="638175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3" name="Text 18"/>
          <p:cNvSpPr/>
          <p:nvPr/>
        </p:nvSpPr>
        <p:spPr>
          <a:xfrm>
            <a:off x="11439525" y="6381750"/>
            <a:ext cx="1990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1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CA66D32-5CC5-5DA0-F5B7-40A1DFA01323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09700"/>
            <a:ext cx="5543550" cy="4533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133600"/>
            <a:ext cx="5010150" cy="809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295900"/>
            <a:ext cx="5010150" cy="3714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050" y="1409700"/>
            <a:ext cx="5543550" cy="3200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2133600"/>
            <a:ext cx="40005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3086100"/>
            <a:ext cx="400050" cy="409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5050" y="4638675"/>
            <a:ext cx="5543550" cy="130492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Mettre en place la gouvernance RGPD</a:t>
            </a:r>
            <a:endParaRPr lang="en-US" sz="2900" dirty="0"/>
          </a:p>
        </p:txBody>
      </p:sp>
      <p:sp>
        <p:nvSpPr>
          <p:cNvPr id="14" name="Text 1"/>
          <p:cNvSpPr/>
          <p:nvPr/>
        </p:nvSpPr>
        <p:spPr>
          <a:xfrm>
            <a:off x="1143000" y="1700213"/>
            <a:ext cx="497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 des activités de traitement (art. 30)</a:t>
            </a:r>
            <a:endParaRPr lang="en-US" sz="17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1733550"/>
            <a:ext cx="238125" cy="219075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1000125" y="2300288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Obligatoire si :</a:t>
            </a:r>
            <a:endParaRPr lang="en-US" sz="1100" dirty="0"/>
          </a:p>
        </p:txBody>
      </p:sp>
      <p:sp>
        <p:nvSpPr>
          <p:cNvPr id="17" name="Text 3"/>
          <p:cNvSpPr/>
          <p:nvPr/>
        </p:nvSpPr>
        <p:spPr>
          <a:xfrm>
            <a:off x="1000125" y="2566988"/>
            <a:ext cx="464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&gt;250 salariés </a:t>
            </a: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Risque </a:t>
            </a: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Non-occasionnel </a:t>
            </a: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Sensible </a:t>
            </a: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Pénal</a:t>
            </a:r>
            <a:endParaRPr lang="en-US" sz="1100" dirty="0"/>
          </a:p>
        </p:txBody>
      </p:sp>
      <p:sp>
        <p:nvSpPr>
          <p:cNvPr id="18" name="Text 4"/>
          <p:cNvSpPr/>
          <p:nvPr/>
        </p:nvSpPr>
        <p:spPr>
          <a:xfrm>
            <a:off x="809625" y="3081338"/>
            <a:ext cx="5490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Contenu requis :</a:t>
            </a:r>
            <a:endParaRPr lang="en-US" sz="1200" dirty="0"/>
          </a:p>
        </p:txBody>
      </p:sp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495675"/>
            <a:ext cx="209550" cy="161925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1114425" y="3462338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(dont DPO)</a:t>
            </a:r>
            <a:endParaRPr lang="en-US" sz="11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838575"/>
            <a:ext cx="209550" cy="161925"/>
          </a:xfrm>
          <a:prstGeom prst="rect">
            <a:avLst/>
          </a:prstGeom>
        </p:spPr>
      </p:pic>
      <p:sp>
        <p:nvSpPr>
          <p:cNvPr id="22" name="Text 6"/>
          <p:cNvSpPr/>
          <p:nvPr/>
        </p:nvSpPr>
        <p:spPr>
          <a:xfrm>
            <a:off x="1114425" y="3805237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Finalités &amp; Catégories</a:t>
            </a:r>
            <a:endParaRPr lang="en-US" sz="1100" dirty="0"/>
          </a:p>
        </p:txBody>
      </p:sp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4181475"/>
            <a:ext cx="209550" cy="161925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1114425" y="4148137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Destinataires &amp; Transferts</a:t>
            </a:r>
            <a:endParaRPr lang="en-US" sz="11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" y="4524375"/>
            <a:ext cx="209550" cy="161925"/>
          </a:xfrm>
          <a:prstGeom prst="rect">
            <a:avLst/>
          </a:prstGeom>
        </p:spPr>
      </p:pic>
      <p:sp>
        <p:nvSpPr>
          <p:cNvPr id="26" name="Text 8"/>
          <p:cNvSpPr/>
          <p:nvPr/>
        </p:nvSpPr>
        <p:spPr>
          <a:xfrm>
            <a:off x="1114425" y="4491038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Délais d’effacement</a:t>
            </a:r>
            <a:endParaRPr lang="en-US" sz="1100" dirty="0"/>
          </a:p>
        </p:txBody>
      </p:sp>
      <p:pic>
        <p:nvPicPr>
          <p:cNvPr id="27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867275"/>
            <a:ext cx="209550" cy="161925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1114425" y="4833938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Mesures de sécurité (générales)</a:t>
            </a:r>
            <a:endParaRPr lang="en-US" sz="1100" dirty="0"/>
          </a:p>
        </p:txBody>
      </p:sp>
      <p:pic>
        <p:nvPicPr>
          <p:cNvPr id="2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5486400"/>
            <a:ext cx="152400" cy="152400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1019175" y="5467350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à disposition de l’autorité sur demande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6696075" y="1700213"/>
            <a:ext cx="43481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by design &amp; by default (art. 25)</a:t>
            </a:r>
            <a:endParaRPr lang="en-US" sz="1700" dirty="0"/>
          </a:p>
        </p:txBody>
      </p:sp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1750" y="1733550"/>
            <a:ext cx="209550" cy="219075"/>
          </a:xfrm>
          <a:prstGeom prst="rect">
            <a:avLst/>
          </a:prstGeom>
        </p:spPr>
      </p:pic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05575" y="2257425"/>
            <a:ext cx="152400" cy="161925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6886575" y="2147888"/>
            <a:ext cx="4945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Dès la conception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6886575" y="2452688"/>
            <a:ext cx="4495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Intégrer la protection des données dès la phase de conception des produits et services. Appliquer le principe de minimisation.</a:t>
            </a:r>
            <a:endParaRPr lang="en-US" sz="1100" dirty="0"/>
          </a:p>
        </p:txBody>
      </p:sp>
      <p:pic>
        <p:nvPicPr>
          <p:cNvPr id="36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05575" y="3209925"/>
            <a:ext cx="152400" cy="161925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6886575" y="3100388"/>
            <a:ext cx="4945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défaut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6886575" y="3405188"/>
            <a:ext cx="4495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Restreindre par défaut l'accès, la quantité de données collectées et leur durée de conservation au strict nécessaire.</a:t>
            </a:r>
            <a:endParaRPr lang="en-US" sz="1100" dirty="0"/>
          </a:p>
        </p:txBody>
      </p:sp>
      <p:sp>
        <p:nvSpPr>
          <p:cNvPr id="39" name="Text 16"/>
          <p:cNvSpPr/>
          <p:nvPr/>
        </p:nvSpPr>
        <p:spPr>
          <a:xfrm>
            <a:off x="6629400" y="4924425"/>
            <a:ext cx="25565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Démonstration de conformité</a:t>
            </a:r>
            <a:endParaRPr lang="en-US" sz="1200" dirty="0"/>
          </a:p>
        </p:txBody>
      </p:sp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72225" y="4943475"/>
            <a:ext cx="190500" cy="190500"/>
          </a:xfrm>
          <a:prstGeom prst="rect">
            <a:avLst/>
          </a:prstGeom>
        </p:spPr>
      </p:pic>
      <p:sp>
        <p:nvSpPr>
          <p:cNvPr id="41" name="Text 17"/>
          <p:cNvSpPr/>
          <p:nvPr/>
        </p:nvSpPr>
        <p:spPr>
          <a:xfrm>
            <a:off x="6381750" y="5248275"/>
            <a:ext cx="5010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de conduite / certification : appui à la démonstration de conformité (réf. art. 42).</a:t>
            </a:r>
            <a:endParaRPr lang="en-US" sz="1100" dirty="0"/>
          </a:p>
        </p:txBody>
      </p:sp>
      <p:sp>
        <p:nvSpPr>
          <p:cNvPr id="42" name="Text 18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3" name="Text 19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1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2B8B90E8-807F-82D9-DDD0-53FC81076F96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71600"/>
            <a:ext cx="6896100" cy="2019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076450"/>
            <a:ext cx="76200" cy="85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83845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457575"/>
            <a:ext cx="6896100" cy="24860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162425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70535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5029200"/>
            <a:ext cx="76200" cy="85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1900" y="1371600"/>
            <a:ext cx="4076700" cy="1809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0" y="2876550"/>
            <a:ext cx="4000500" cy="2571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1900" y="3238500"/>
            <a:ext cx="2000250" cy="2000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8350" y="3238500"/>
            <a:ext cx="2000250" cy="20002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AIPD (PIA) : exigences &amp; méthode CNIL</a:t>
            </a:r>
            <a:endParaRPr lang="en-US" sz="2900" dirty="0"/>
          </a:p>
        </p:txBody>
      </p:sp>
      <p:sp>
        <p:nvSpPr>
          <p:cNvPr id="18" name="Text 1"/>
          <p:cNvSpPr/>
          <p:nvPr/>
        </p:nvSpPr>
        <p:spPr>
          <a:xfrm>
            <a:off x="942975" y="1585913"/>
            <a:ext cx="2305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 est-elle requise ?</a:t>
            </a:r>
            <a:endParaRPr lang="en-US" sz="1400" dirty="0"/>
          </a:p>
        </p:txBody>
      </p:sp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1628775"/>
            <a:ext cx="152400" cy="161925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904875" y="1995487"/>
            <a:ext cx="63246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Traitements à risque élevé (art. 35.1)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évaluation/scoring incluant profilage avec effets juridiques, traitement à grande échelle de données sensibles/pénales, surveillance systématique de zones publiques.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904875" y="2752725"/>
            <a:ext cx="632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G29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AIPD si exigée par l’autorité OU si ≥2 critères de risque (parmi la liste de 10 critères).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942975" y="3667125"/>
            <a:ext cx="23155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Contenu &amp; Gouvernance</a:t>
            </a:r>
            <a:endParaRPr lang="en-US" sz="1400" dirty="0"/>
          </a:p>
        </p:txBody>
      </p:sp>
      <p:pic>
        <p:nvPicPr>
          <p:cNvPr id="23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3714750"/>
            <a:ext cx="152400" cy="152400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904875" y="4076700"/>
            <a:ext cx="632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Contenu (art. 35.7)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description systématique et finalités, analyse de nécessité et proportionnalité, évaluation des risques, mesures d’atténuation.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904875" y="4619625"/>
            <a:ext cx="5038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Rôle du DPO (art. 35.2)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doit être consulté pour avis et conseil.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04875" y="4948238"/>
            <a:ext cx="510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(art. 35.11) :</a:t>
            </a: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revue nécessaire en cas d'évolution du risque.</a:t>
            </a:r>
            <a:endParaRPr lang="en-US" sz="12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0" y="1409700"/>
            <a:ext cx="4000500" cy="174307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7743825" y="2928938"/>
            <a:ext cx="3752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 PIA de la CNIL (Open Source)</a:t>
            </a:r>
            <a:endParaRPr lang="en-US" sz="800" dirty="0"/>
          </a:p>
        </p:txBody>
      </p:sp>
      <p:sp>
        <p:nvSpPr>
          <p:cNvPr id="29" name="Text 9"/>
          <p:cNvSpPr/>
          <p:nvPr/>
        </p:nvSpPr>
        <p:spPr>
          <a:xfrm>
            <a:off x="7620000" y="5376863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Guides et méthodes de la CNIL pour l'AIPD</a:t>
            </a:r>
            <a:endParaRPr lang="en-US" sz="900" dirty="0"/>
          </a:p>
        </p:txBody>
      </p:sp>
      <p:sp>
        <p:nvSpPr>
          <p:cNvPr id="30" name="Text 10"/>
          <p:cNvSpPr/>
          <p:nvPr/>
        </p:nvSpPr>
        <p:spPr>
          <a:xfrm>
            <a:off x="571500" y="6057900"/>
            <a:ext cx="3310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1" name="Text 11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1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4D3B37-1121-A8D1-9255-C74F0D84E389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47800"/>
            <a:ext cx="3609975" cy="449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0" y="1447800"/>
            <a:ext cx="3619500" cy="449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625" y="1447800"/>
            <a:ext cx="3609975" cy="449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3276600"/>
            <a:ext cx="85725" cy="85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3629025"/>
            <a:ext cx="85725" cy="857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3981450"/>
            <a:ext cx="85725" cy="8572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Étapes clés &amp; mobilisation client</a:t>
            </a:r>
            <a:endParaRPr lang="en-US" sz="29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1514475"/>
            <a:ext cx="781050" cy="676275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3349526" y="1604963"/>
            <a:ext cx="66008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15" name="Text 2"/>
          <p:cNvSpPr/>
          <p:nvPr/>
        </p:nvSpPr>
        <p:spPr>
          <a:xfrm>
            <a:off x="876300" y="1833563"/>
            <a:ext cx="32129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Lancement</a:t>
            </a:r>
            <a:endParaRPr lang="en-US" sz="170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2409825"/>
            <a:ext cx="152400" cy="161925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1123950" y="2366963"/>
            <a:ext cx="267325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Réunion de lancement avec le comité projet (juridique, risques &amp; conformité, sécurité, SI)</a:t>
            </a:r>
            <a:endParaRPr lang="en-US" sz="12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3267075"/>
            <a:ext cx="152400" cy="161925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1123950" y="3226594"/>
            <a:ext cx="2673251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Collecter/analyser les documents existants (organisation, formalités CNIL, politiques/procédures SSI)</a:t>
            </a:r>
            <a:endParaRPr lang="en-US" sz="1200" dirty="0"/>
          </a:p>
        </p:txBody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775" y="4362450"/>
            <a:ext cx="152400" cy="161925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1123950" y="4321969"/>
            <a:ext cx="267325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Identifier les interlocuteurs ; planifier entretiens et ateliers</a:t>
            </a:r>
            <a:endParaRPr lang="en-US" sz="120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1350" y="1514475"/>
            <a:ext cx="885825" cy="67627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7004000" y="1604963"/>
            <a:ext cx="7753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24" name="Text 7"/>
          <p:cNvSpPr/>
          <p:nvPr/>
        </p:nvSpPr>
        <p:spPr>
          <a:xfrm>
            <a:off x="4635401" y="1833563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Inventaire</a:t>
            </a:r>
            <a:endParaRPr lang="en-US" sz="17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5125" y="1743075"/>
            <a:ext cx="857250" cy="857250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9625" y="2857500"/>
            <a:ext cx="161925" cy="161925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4883051" y="2814638"/>
            <a:ext cx="26734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Identifier et inventorier les traitements avec les métiers :</a:t>
            </a:r>
            <a:endParaRPr lang="en-US" sz="120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4425" y="3429000"/>
            <a:ext cx="457200" cy="304800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5054501" y="3476625"/>
            <a:ext cx="200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900" dirty="0"/>
          </a:p>
        </p:txBody>
      </p:sp>
      <p:pic>
        <p:nvPicPr>
          <p:cNvPr id="3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29250" y="3429000"/>
            <a:ext cx="1438275" cy="304800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5559326" y="3476625"/>
            <a:ext cx="1181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généraux</a:t>
            </a:r>
            <a:endParaRPr lang="en-US" sz="900" dirty="0"/>
          </a:p>
        </p:txBody>
      </p:sp>
      <p:pic>
        <p:nvPicPr>
          <p:cNvPr id="32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24425" y="3790950"/>
            <a:ext cx="1638300" cy="304800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5054501" y="3838575"/>
            <a:ext cx="1381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Marketing/Commerce</a:t>
            </a:r>
            <a:endParaRPr lang="en-US" sz="900" dirty="0"/>
          </a:p>
        </p:txBody>
      </p:sp>
      <p:pic>
        <p:nvPicPr>
          <p:cNvPr id="34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350" y="3790950"/>
            <a:ext cx="714375" cy="304800"/>
          </a:xfrm>
          <a:prstGeom prst="rect">
            <a:avLst/>
          </a:prstGeom>
        </p:spPr>
      </p:pic>
      <p:sp>
        <p:nvSpPr>
          <p:cNvPr id="35" name="Text 12"/>
          <p:cNvSpPr/>
          <p:nvPr/>
        </p:nvSpPr>
        <p:spPr>
          <a:xfrm>
            <a:off x="6740426" y="3838575"/>
            <a:ext cx="457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Achats</a:t>
            </a:r>
            <a:endParaRPr lang="en-US" sz="900" dirty="0"/>
          </a:p>
        </p:txBody>
      </p:sp>
      <p:pic>
        <p:nvPicPr>
          <p:cNvPr id="36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24425" y="4152900"/>
            <a:ext cx="400050" cy="304800"/>
          </a:xfrm>
          <a:prstGeom prst="rect">
            <a:avLst/>
          </a:prstGeom>
        </p:spPr>
      </p:pic>
      <p:sp>
        <p:nvSpPr>
          <p:cNvPr id="37" name="Text 13"/>
          <p:cNvSpPr/>
          <p:nvPr/>
        </p:nvSpPr>
        <p:spPr>
          <a:xfrm>
            <a:off x="5054501" y="4200525"/>
            <a:ext cx="1428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900" dirty="0"/>
          </a:p>
        </p:txBody>
      </p:sp>
      <p:pic>
        <p:nvPicPr>
          <p:cNvPr id="38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72100" y="4152900"/>
            <a:ext cx="1466850" cy="304800"/>
          </a:xfrm>
          <a:prstGeom prst="rect">
            <a:avLst/>
          </a:prstGeom>
        </p:spPr>
      </p:pic>
      <p:sp>
        <p:nvSpPr>
          <p:cNvPr id="39" name="Text 14"/>
          <p:cNvSpPr/>
          <p:nvPr/>
        </p:nvSpPr>
        <p:spPr>
          <a:xfrm>
            <a:off x="5502176" y="4200525"/>
            <a:ext cx="12096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highlight>
                  <a:srgbClr val="F3F5F7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Production/Métiers</a:t>
            </a:r>
            <a:endParaRPr lang="en-US" sz="900" dirty="0"/>
          </a:p>
        </p:txBody>
      </p:sp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53725" y="1514475"/>
            <a:ext cx="876300" cy="676275"/>
          </a:xfrm>
          <a:prstGeom prst="rect">
            <a:avLst/>
          </a:prstGeom>
        </p:spPr>
      </p:pic>
      <p:sp>
        <p:nvSpPr>
          <p:cNvPr id="41" name="Text 15"/>
          <p:cNvSpPr/>
          <p:nvPr/>
        </p:nvSpPr>
        <p:spPr>
          <a:xfrm>
            <a:off x="10763250" y="1604963"/>
            <a:ext cx="7753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42" name="Text 16"/>
          <p:cNvSpPr/>
          <p:nvPr/>
        </p:nvSpPr>
        <p:spPr>
          <a:xfrm>
            <a:off x="8394650" y="1833563"/>
            <a:ext cx="13432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700" dirty="0"/>
          </a:p>
        </p:txBody>
      </p:sp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77500" y="1743075"/>
            <a:ext cx="847725" cy="857250"/>
          </a:xfrm>
          <a:prstGeom prst="rect">
            <a:avLst/>
          </a:prstGeom>
        </p:spPr>
      </p:pic>
      <p:pic>
        <p:nvPicPr>
          <p:cNvPr id="44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0" y="2857500"/>
            <a:ext cx="180975" cy="161925"/>
          </a:xfrm>
          <a:prstGeom prst="rect">
            <a:avLst/>
          </a:prstGeom>
        </p:spPr>
      </p:pic>
      <p:sp>
        <p:nvSpPr>
          <p:cNvPr id="45" name="Text 17"/>
          <p:cNvSpPr/>
          <p:nvPr/>
        </p:nvSpPr>
        <p:spPr>
          <a:xfrm>
            <a:off x="8661350" y="2814638"/>
            <a:ext cx="17240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Élaborer la roadmap :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8832800" y="3202781"/>
            <a:ext cx="19240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Décrire/prioriser actions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8832800" y="3552825"/>
            <a:ext cx="15430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Planning &amp; porteurs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8832800" y="3902869"/>
            <a:ext cx="77152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9" name="Text 21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0" name="Text 22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1100" dirty="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3D39D7B-85B6-25A0-D8ED-1874AA9401DD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47800"/>
            <a:ext cx="3333750" cy="1619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25" y="1447800"/>
            <a:ext cx="3333750" cy="1619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50" y="1447800"/>
            <a:ext cx="3333750" cy="1619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38500"/>
            <a:ext cx="11125200" cy="2705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638550"/>
            <a:ext cx="76200" cy="3333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629150"/>
            <a:ext cx="95250" cy="104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6975" y="4629150"/>
            <a:ext cx="95250" cy="1047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933950"/>
            <a:ext cx="95250" cy="1047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6975" y="4933950"/>
            <a:ext cx="95250" cy="1047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238750"/>
            <a:ext cx="95250" cy="1047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6975" y="5238750"/>
            <a:ext cx="95250" cy="1047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Approche projet de conformité</a:t>
            </a:r>
            <a:endParaRPr lang="en-US" sz="2900" dirty="0"/>
          </a:p>
        </p:txBody>
      </p:sp>
      <p:pic>
        <p:nvPicPr>
          <p:cNvPr id="18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800350"/>
            <a:ext cx="419100" cy="466725"/>
          </a:xfrm>
          <a:prstGeom prst="rect">
            <a:avLst/>
          </a:prstGeom>
        </p:spPr>
      </p:pic>
      <p:sp>
        <p:nvSpPr>
          <p:cNvPr id="19" name="Text 1"/>
          <p:cNvSpPr/>
          <p:nvPr/>
        </p:nvSpPr>
        <p:spPr>
          <a:xfrm>
            <a:off x="2047875" y="2862263"/>
            <a:ext cx="335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5000" y="1762125"/>
            <a:ext cx="590550" cy="600075"/>
          </a:xfrm>
          <a:prstGeom prst="rect">
            <a:avLst/>
          </a:prstGeom>
        </p:spPr>
      </p:pic>
      <p:sp>
        <p:nvSpPr>
          <p:cNvPr id="21" name="Text 2"/>
          <p:cNvSpPr/>
          <p:nvPr/>
        </p:nvSpPr>
        <p:spPr>
          <a:xfrm>
            <a:off x="1770906" y="2500313"/>
            <a:ext cx="9446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Cadrage</a:t>
            </a:r>
            <a:endParaRPr lang="en-US" sz="1200" dirty="0"/>
          </a:p>
        </p:txBody>
      </p:sp>
      <p:pic>
        <p:nvPicPr>
          <p:cNvPr id="22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8125" y="2095500"/>
            <a:ext cx="200025" cy="314325"/>
          </a:xfrm>
          <a:prstGeom prst="rect">
            <a:avLst/>
          </a:prstGeom>
        </p:spPr>
      </p:pic>
      <p:pic>
        <p:nvPicPr>
          <p:cNvPr id="23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6450" y="2800350"/>
            <a:ext cx="419100" cy="466725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5943600" y="2862263"/>
            <a:ext cx="335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pic>
        <p:nvPicPr>
          <p:cNvPr id="25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00725" y="1762125"/>
            <a:ext cx="590550" cy="600075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5142905" y="2500313"/>
            <a:ext cx="2096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conformité</a:t>
            </a:r>
            <a:endParaRPr lang="en-US" sz="1200" dirty="0"/>
          </a:p>
        </p:txBody>
      </p:sp>
      <p:pic>
        <p:nvPicPr>
          <p:cNvPr id="27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3850" y="2095500"/>
            <a:ext cx="200025" cy="314325"/>
          </a:xfrm>
          <a:prstGeom prst="rect">
            <a:avLst/>
          </a:prstGeom>
        </p:spPr>
      </p:pic>
      <p:pic>
        <p:nvPicPr>
          <p:cNvPr id="28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2175" y="2800350"/>
            <a:ext cx="419100" cy="466725"/>
          </a:xfrm>
          <a:prstGeom prst="rect">
            <a:avLst/>
          </a:prstGeom>
        </p:spPr>
      </p:pic>
      <p:sp>
        <p:nvSpPr>
          <p:cNvPr id="29" name="Text 5"/>
          <p:cNvSpPr/>
          <p:nvPr/>
        </p:nvSpPr>
        <p:spPr>
          <a:xfrm>
            <a:off x="9839325" y="2862263"/>
            <a:ext cx="335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pic>
        <p:nvPicPr>
          <p:cNvPr id="30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96450" y="1762125"/>
            <a:ext cx="590550" cy="600075"/>
          </a:xfrm>
          <a:prstGeom prst="rect">
            <a:avLst/>
          </a:prstGeom>
        </p:spPr>
      </p:pic>
      <p:sp>
        <p:nvSpPr>
          <p:cNvPr id="31" name="Text 6"/>
          <p:cNvSpPr/>
          <p:nvPr/>
        </p:nvSpPr>
        <p:spPr>
          <a:xfrm>
            <a:off x="8815834" y="2500313"/>
            <a:ext cx="2586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Maintien en conformité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019175" y="3652838"/>
            <a:ext cx="817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L’accountability implique un système interne de management « privacy »</a:t>
            </a:r>
            <a:endParaRPr lang="en-US" sz="1700" dirty="0"/>
          </a:p>
        </p:txBody>
      </p:sp>
      <p:pic>
        <p:nvPicPr>
          <p:cNvPr id="33" name="Image 23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9886950" y="3505200"/>
            <a:ext cx="590550" cy="600075"/>
          </a:xfrm>
          <a:prstGeom prst="rect">
            <a:avLst/>
          </a:prstGeom>
        </p:spPr>
      </p:pic>
      <p:pic>
        <p:nvPicPr>
          <p:cNvPr id="34" name="Image 24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10610850" y="3543300"/>
            <a:ext cx="781050" cy="504825"/>
          </a:xfrm>
          <a:prstGeom prst="rect">
            <a:avLst/>
          </a:prstGeom>
        </p:spPr>
      </p:pic>
      <p:sp>
        <p:nvSpPr>
          <p:cNvPr id="35" name="Text 8"/>
          <p:cNvSpPr/>
          <p:nvPr/>
        </p:nvSpPr>
        <p:spPr>
          <a:xfrm>
            <a:off x="1000125" y="4588669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Maintenir une organisation interne liée à la protection des données</a:t>
            </a:r>
            <a:endParaRPr lang="en-US" sz="1100" dirty="0"/>
          </a:p>
        </p:txBody>
      </p:sp>
      <p:sp>
        <p:nvSpPr>
          <p:cNvPr id="36" name="Text 9"/>
          <p:cNvSpPr/>
          <p:nvPr/>
        </p:nvSpPr>
        <p:spPr>
          <a:xfrm>
            <a:off x="6477000" y="4588669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Maintenir un inventaire des traitements</a:t>
            </a:r>
            <a:endParaRPr lang="en-US" sz="1100" dirty="0"/>
          </a:p>
        </p:txBody>
      </p:sp>
      <p:sp>
        <p:nvSpPr>
          <p:cNvPr id="37" name="Text 10"/>
          <p:cNvSpPr/>
          <p:nvPr/>
        </p:nvSpPr>
        <p:spPr>
          <a:xfrm>
            <a:off x="1000125" y="4893469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Vérifier la conformité des traitements</a:t>
            </a:r>
            <a:endParaRPr lang="en-US" sz="1100" dirty="0"/>
          </a:p>
        </p:txBody>
      </p:sp>
      <p:sp>
        <p:nvSpPr>
          <p:cNvPr id="38" name="Text 11"/>
          <p:cNvSpPr/>
          <p:nvPr/>
        </p:nvSpPr>
        <p:spPr>
          <a:xfrm>
            <a:off x="6477000" y="4893469"/>
            <a:ext cx="405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Maintenir les documents support / preuves de conformité</a:t>
            </a:r>
            <a:endParaRPr lang="en-US" sz="1100" dirty="0"/>
          </a:p>
        </p:txBody>
      </p:sp>
      <p:sp>
        <p:nvSpPr>
          <p:cNvPr id="39" name="Text 12"/>
          <p:cNvSpPr/>
          <p:nvPr/>
        </p:nvSpPr>
        <p:spPr>
          <a:xfrm>
            <a:off x="1000125" y="5198269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Communiquer, sensibiliser, former</a:t>
            </a:r>
            <a:endParaRPr lang="en-US" sz="1100" dirty="0"/>
          </a:p>
        </p:txBody>
      </p:sp>
      <p:sp>
        <p:nvSpPr>
          <p:cNvPr id="40" name="Text 13"/>
          <p:cNvSpPr/>
          <p:nvPr/>
        </p:nvSpPr>
        <p:spPr>
          <a:xfrm>
            <a:off x="6477000" y="5198269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Gérer réclamations, risques tiers, risques SSI et violations</a:t>
            </a:r>
            <a:endParaRPr lang="en-US" sz="1100" dirty="0"/>
          </a:p>
        </p:txBody>
      </p:sp>
      <p:sp>
        <p:nvSpPr>
          <p:cNvPr id="41" name="Text 14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42" name="Text 15"/>
          <p:cNvSpPr/>
          <p:nvPr/>
        </p:nvSpPr>
        <p:spPr>
          <a:xfrm>
            <a:off x="11487150" y="6057900"/>
            <a:ext cx="30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100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BF5C9CBC-EA7C-61E3-F5B9-4393F62F24EC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5524500" cy="18002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047875"/>
            <a:ext cx="76200" cy="85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314575"/>
            <a:ext cx="76200" cy="85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581275"/>
            <a:ext cx="76200" cy="857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0" y="1333500"/>
            <a:ext cx="5524500" cy="18002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2047875"/>
            <a:ext cx="76200" cy="857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2314575"/>
            <a:ext cx="76200" cy="857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2581275"/>
            <a:ext cx="76200" cy="857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90875"/>
            <a:ext cx="5524500" cy="18002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905250"/>
            <a:ext cx="76200" cy="857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171950"/>
            <a:ext cx="76200" cy="857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100" y="3190875"/>
            <a:ext cx="5524500" cy="18002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3905250"/>
            <a:ext cx="76200" cy="857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4171950"/>
            <a:ext cx="76200" cy="857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4438650"/>
            <a:ext cx="76200" cy="857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5000625"/>
            <a:ext cx="111633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5238750"/>
            <a:ext cx="476250" cy="4762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Inventaire : zones de traitement typiques</a:t>
            </a:r>
            <a:endParaRPr lang="en-US" sz="2900" dirty="0"/>
          </a:p>
        </p:txBody>
      </p:sp>
      <p:sp>
        <p:nvSpPr>
          <p:cNvPr id="24" name="Text 1"/>
          <p:cNvSpPr/>
          <p:nvPr/>
        </p:nvSpPr>
        <p:spPr>
          <a:xfrm>
            <a:off x="723900" y="1566863"/>
            <a:ext cx="303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</a:t>
            </a:r>
            <a:endParaRPr lang="en-US" sz="1400" dirty="0"/>
          </a:p>
        </p:txBody>
      </p:sp>
      <p:pic>
        <p:nvPicPr>
          <p:cNvPr id="25" name="Image 21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tretch>
            <a:fillRect/>
          </a:stretch>
        </p:blipFill>
        <p:spPr>
          <a:xfrm>
            <a:off x="5172075" y="1552575"/>
            <a:ext cx="323850" cy="333375"/>
          </a:xfrm>
          <a:prstGeom prst="rect">
            <a:avLst/>
          </a:prstGeom>
        </p:spPr>
      </p:pic>
      <p:pic>
        <p:nvPicPr>
          <p:cNvPr id="26" name="Image 22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tretch>
            <a:fillRect/>
          </a:stretch>
        </p:blipFill>
        <p:spPr>
          <a:xfrm>
            <a:off x="5553075" y="1552575"/>
            <a:ext cx="323850" cy="333375"/>
          </a:xfrm>
          <a:prstGeom prst="rect">
            <a:avLst/>
          </a:prstGeom>
        </p:spPr>
      </p:pic>
      <p:sp>
        <p:nvSpPr>
          <p:cNvPr id="27" name="Text 2"/>
          <p:cNvSpPr/>
          <p:nvPr/>
        </p:nvSpPr>
        <p:spPr>
          <a:xfrm>
            <a:off x="876300" y="1985963"/>
            <a:ext cx="2819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du personnel, paie, recrutement</a:t>
            </a:r>
            <a:endParaRPr lang="en-US" sz="1100" dirty="0"/>
          </a:p>
        </p:txBody>
      </p:sp>
      <p:sp>
        <p:nvSpPr>
          <p:cNvPr id="28" name="Text 3"/>
          <p:cNvSpPr/>
          <p:nvPr/>
        </p:nvSpPr>
        <p:spPr>
          <a:xfrm>
            <a:off x="876300" y="2252663"/>
            <a:ext cx="2619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Contentieux, alertes professionnelles</a:t>
            </a:r>
            <a:endParaRPr lang="en-US" sz="1100" dirty="0"/>
          </a:p>
        </p:txBody>
      </p:sp>
      <p:sp>
        <p:nvSpPr>
          <p:cNvPr id="29" name="Text 4"/>
          <p:cNvSpPr/>
          <p:nvPr/>
        </p:nvSpPr>
        <p:spPr>
          <a:xfrm>
            <a:off x="876300" y="2519363"/>
            <a:ext cx="2009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Activités sociales/culturelles</a:t>
            </a:r>
            <a:endParaRPr lang="en-US" sz="1100" dirty="0"/>
          </a:p>
        </p:txBody>
      </p:sp>
      <p:sp>
        <p:nvSpPr>
          <p:cNvPr id="30" name="Text 5"/>
          <p:cNvSpPr/>
          <p:nvPr/>
        </p:nvSpPr>
        <p:spPr>
          <a:xfrm>
            <a:off x="6324600" y="156686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</a:t>
            </a:r>
            <a:endParaRPr lang="en-US" sz="1400" dirty="0"/>
          </a:p>
        </p:txBody>
      </p:sp>
      <p:pic>
        <p:nvPicPr>
          <p:cNvPr id="31" name="Image 23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11001375" y="1552575"/>
            <a:ext cx="209550" cy="333375"/>
          </a:xfrm>
          <a:prstGeom prst="rect">
            <a:avLst/>
          </a:prstGeom>
        </p:spPr>
      </p:pic>
      <p:pic>
        <p:nvPicPr>
          <p:cNvPr id="32" name="Image 24" descr="preencoded.png"/>
          <p:cNvPicPr>
            <a:picLocks noChangeAspect="1"/>
          </p:cNvPicPr>
          <p:nvPr/>
        </p:nvPicPr>
        <p:blipFill>
          <a:blip r:embed="rId14">
            <a:alphaModFix amt="80000"/>
          </a:blip>
          <a:stretch>
            <a:fillRect/>
          </a:stretch>
        </p:blipFill>
        <p:spPr>
          <a:xfrm>
            <a:off x="11268075" y="1552575"/>
            <a:ext cx="209550" cy="333375"/>
          </a:xfrm>
          <a:prstGeom prst="rect">
            <a:avLst/>
          </a:prstGeom>
        </p:spPr>
      </p:pic>
      <p:sp>
        <p:nvSpPr>
          <p:cNvPr id="33" name="Text 6"/>
          <p:cNvSpPr/>
          <p:nvPr/>
        </p:nvSpPr>
        <p:spPr>
          <a:xfrm>
            <a:off x="6477000" y="1985963"/>
            <a:ext cx="2800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Cyber-surveillance (proxy, messagerie)</a:t>
            </a:r>
            <a:endParaRPr lang="en-US" sz="1100" dirty="0"/>
          </a:p>
        </p:txBody>
      </p:sp>
      <p:sp>
        <p:nvSpPr>
          <p:cNvPr id="34" name="Text 7"/>
          <p:cNvSpPr/>
          <p:nvPr/>
        </p:nvSpPr>
        <p:spPr>
          <a:xfrm>
            <a:off x="6477000" y="2252663"/>
            <a:ext cx="1171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de sécurité</a:t>
            </a:r>
            <a:endParaRPr lang="en-US" sz="1100" dirty="0"/>
          </a:p>
        </p:txBody>
      </p:sp>
      <p:sp>
        <p:nvSpPr>
          <p:cNvPr id="35" name="Text 8"/>
          <p:cNvSpPr/>
          <p:nvPr/>
        </p:nvSpPr>
        <p:spPr>
          <a:xfrm>
            <a:off x="6477000" y="2519363"/>
            <a:ext cx="78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Téléphonie</a:t>
            </a:r>
            <a:endParaRPr lang="en-US" sz="1100" dirty="0"/>
          </a:p>
        </p:txBody>
      </p:sp>
      <p:sp>
        <p:nvSpPr>
          <p:cNvPr id="36" name="Text 9"/>
          <p:cNvSpPr/>
          <p:nvPr/>
        </p:nvSpPr>
        <p:spPr>
          <a:xfrm>
            <a:off x="723900" y="3426619"/>
            <a:ext cx="2268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généraux</a:t>
            </a:r>
            <a:endParaRPr lang="en-US" sz="1400" dirty="0"/>
          </a:p>
        </p:txBody>
      </p:sp>
      <p:pic>
        <p:nvPicPr>
          <p:cNvPr id="37" name="Image 25" descr="preencoded.png"/>
          <p:cNvPicPr>
            <a:picLocks noChangeAspect="1"/>
          </p:cNvPicPr>
          <p:nvPr/>
        </p:nvPicPr>
        <p:blipFill>
          <a:blip r:embed="rId15">
            <a:alphaModFix amt="80000"/>
          </a:blip>
          <a:stretch>
            <a:fillRect/>
          </a:stretch>
        </p:blipFill>
        <p:spPr>
          <a:xfrm>
            <a:off x="5248275" y="3409950"/>
            <a:ext cx="285750" cy="333375"/>
          </a:xfrm>
          <a:prstGeom prst="rect">
            <a:avLst/>
          </a:prstGeom>
        </p:spPr>
      </p:pic>
      <p:pic>
        <p:nvPicPr>
          <p:cNvPr id="38" name="Image 26" descr="preencoded.png"/>
          <p:cNvPicPr>
            <a:picLocks noChangeAspect="1"/>
          </p:cNvPicPr>
          <p:nvPr/>
        </p:nvPicPr>
        <p:blipFill>
          <a:blip r:embed="rId16">
            <a:alphaModFix amt="80000"/>
          </a:blip>
          <a:stretch>
            <a:fillRect/>
          </a:stretch>
        </p:blipFill>
        <p:spPr>
          <a:xfrm>
            <a:off x="5591175" y="3409950"/>
            <a:ext cx="285750" cy="333375"/>
          </a:xfrm>
          <a:prstGeom prst="rect">
            <a:avLst/>
          </a:prstGeom>
        </p:spPr>
      </p:pic>
      <p:sp>
        <p:nvSpPr>
          <p:cNvPr id="39" name="Text 10"/>
          <p:cNvSpPr/>
          <p:nvPr/>
        </p:nvSpPr>
        <p:spPr>
          <a:xfrm>
            <a:off x="876300" y="3845719"/>
            <a:ext cx="120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 d’accès</a:t>
            </a:r>
            <a:endParaRPr lang="en-US" sz="1100" dirty="0"/>
          </a:p>
        </p:txBody>
      </p:sp>
      <p:sp>
        <p:nvSpPr>
          <p:cNvPr id="40" name="Text 11"/>
          <p:cNvSpPr/>
          <p:nvPr/>
        </p:nvSpPr>
        <p:spPr>
          <a:xfrm>
            <a:off x="876300" y="4112419"/>
            <a:ext cx="1266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Vidéosurveillance</a:t>
            </a:r>
            <a:endParaRPr lang="en-US" sz="1100" dirty="0"/>
          </a:p>
        </p:txBody>
      </p:sp>
      <p:sp>
        <p:nvSpPr>
          <p:cNvPr id="41" name="Text 12"/>
          <p:cNvSpPr/>
          <p:nvPr/>
        </p:nvSpPr>
        <p:spPr>
          <a:xfrm>
            <a:off x="6324600" y="3426619"/>
            <a:ext cx="24464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/ Métier</a:t>
            </a:r>
            <a:endParaRPr lang="en-US" sz="1400" dirty="0"/>
          </a:p>
        </p:txBody>
      </p:sp>
      <p:pic>
        <p:nvPicPr>
          <p:cNvPr id="42" name="Image 27" descr="preencoded.png"/>
          <p:cNvPicPr>
            <a:picLocks noChangeAspect="1"/>
          </p:cNvPicPr>
          <p:nvPr/>
        </p:nvPicPr>
        <p:blipFill>
          <a:blip r:embed="rId17">
            <a:alphaModFix amt="80000"/>
          </a:blip>
          <a:stretch>
            <a:fillRect/>
          </a:stretch>
        </p:blipFill>
        <p:spPr>
          <a:xfrm>
            <a:off x="10772775" y="3409950"/>
            <a:ext cx="323850" cy="333375"/>
          </a:xfrm>
          <a:prstGeom prst="rect">
            <a:avLst/>
          </a:prstGeom>
        </p:spPr>
      </p:pic>
      <p:pic>
        <p:nvPicPr>
          <p:cNvPr id="43" name="Image 28" descr="preencoded.png"/>
          <p:cNvPicPr>
            <a:picLocks noChangeAspect="1"/>
          </p:cNvPicPr>
          <p:nvPr/>
        </p:nvPicPr>
        <p:blipFill>
          <a:blip r:embed="rId18">
            <a:alphaModFix amt="80000"/>
          </a:blip>
          <a:stretch>
            <a:fillRect/>
          </a:stretch>
        </p:blipFill>
        <p:spPr>
          <a:xfrm>
            <a:off x="11153775" y="3409950"/>
            <a:ext cx="323850" cy="333375"/>
          </a:xfrm>
          <a:prstGeom prst="rect">
            <a:avLst/>
          </a:prstGeom>
        </p:spPr>
      </p:pic>
      <p:sp>
        <p:nvSpPr>
          <p:cNvPr id="44" name="Text 13"/>
          <p:cNvSpPr/>
          <p:nvPr/>
        </p:nvSpPr>
        <p:spPr>
          <a:xfrm>
            <a:off x="6477000" y="3845719"/>
            <a:ext cx="3076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Horaires, géolocalisation véhicules/salariés</a:t>
            </a:r>
            <a:endParaRPr lang="en-US" sz="1100" dirty="0"/>
          </a:p>
        </p:txBody>
      </p:sp>
      <p:sp>
        <p:nvSpPr>
          <p:cNvPr id="45" name="Text 14"/>
          <p:cNvSpPr/>
          <p:nvPr/>
        </p:nvSpPr>
        <p:spPr>
          <a:xfrm>
            <a:off x="6477000" y="4112419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Écoute/enregistrement appels</a:t>
            </a:r>
            <a:endParaRPr lang="en-US" sz="1100" dirty="0"/>
          </a:p>
        </p:txBody>
      </p:sp>
      <p:sp>
        <p:nvSpPr>
          <p:cNvPr id="46" name="Text 15"/>
          <p:cNvSpPr/>
          <p:nvPr/>
        </p:nvSpPr>
        <p:spPr>
          <a:xfrm>
            <a:off x="6477000" y="4379119"/>
            <a:ext cx="1295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Traçabilité actions</a:t>
            </a:r>
            <a:endParaRPr lang="en-US" sz="1100" dirty="0"/>
          </a:p>
        </p:txBody>
      </p:sp>
      <p:pic>
        <p:nvPicPr>
          <p:cNvPr id="47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" y="5372100"/>
            <a:ext cx="266700" cy="209550"/>
          </a:xfrm>
          <a:prstGeom prst="rect">
            <a:avLst/>
          </a:prstGeom>
        </p:spPr>
      </p:pic>
      <p:sp>
        <p:nvSpPr>
          <p:cNvPr id="48" name="Text 16"/>
          <p:cNvSpPr/>
          <p:nvPr/>
        </p:nvSpPr>
        <p:spPr>
          <a:xfrm>
            <a:off x="1333500" y="5210175"/>
            <a:ext cx="48091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Ateliers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1333500" y="5476875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adapter à la taille, l’organisation et le contexte du client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1" name="Text 19"/>
          <p:cNvSpPr/>
          <p:nvPr/>
        </p:nvSpPr>
        <p:spPr>
          <a:xfrm>
            <a:off x="11449050" y="6057900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1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37E8A3C-0854-1B6B-5AAD-BE5F71FA16FF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6629400" cy="3524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571750"/>
            <a:ext cx="95250" cy="1047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71850"/>
            <a:ext cx="95250" cy="104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962400"/>
            <a:ext cx="95250" cy="1047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305300"/>
            <a:ext cx="95250" cy="1047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648200"/>
            <a:ext cx="95250" cy="1047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9975" y="1552575"/>
            <a:ext cx="4210050" cy="11906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400" y="2838450"/>
            <a:ext cx="4267200" cy="2019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1400" y="4991100"/>
            <a:ext cx="1314450" cy="1333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7775" y="4991100"/>
            <a:ext cx="1314450" cy="1333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4150" y="4991100"/>
            <a:ext cx="1314450" cy="1333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Transferts : garanties juridiques (art. 44–46)</a:t>
            </a:r>
            <a:endParaRPr lang="en-US" sz="2900" dirty="0"/>
          </a:p>
        </p:txBody>
      </p:sp>
      <p:sp>
        <p:nvSpPr>
          <p:cNvPr id="18" name="Text 1"/>
          <p:cNvSpPr/>
          <p:nvPr/>
        </p:nvSpPr>
        <p:spPr>
          <a:xfrm>
            <a:off x="771525" y="1766888"/>
            <a:ext cx="6768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Garanties pour les transferts hors UE/EEE</a:t>
            </a:r>
            <a:endParaRPr lang="en-US" sz="1400" dirty="0"/>
          </a:p>
        </p:txBody>
      </p:sp>
      <p:sp>
        <p:nvSpPr>
          <p:cNvPr id="19" name="Text 2"/>
          <p:cNvSpPr/>
          <p:nvPr/>
        </p:nvSpPr>
        <p:spPr>
          <a:xfrm>
            <a:off x="771525" y="2147888"/>
            <a:ext cx="615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transferts sont possibles uniquement avec les garanties prévues par le RGPD :</a:t>
            </a:r>
            <a:endParaRPr lang="en-US" sz="1100" dirty="0"/>
          </a:p>
        </p:txBody>
      </p:sp>
      <p:sp>
        <p:nvSpPr>
          <p:cNvPr id="20" name="Text 3"/>
          <p:cNvSpPr/>
          <p:nvPr/>
        </p:nvSpPr>
        <p:spPr>
          <a:xfrm>
            <a:off x="962025" y="2490788"/>
            <a:ext cx="596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d’adéquation</a:t>
            </a:r>
            <a:endParaRPr lang="en-US" sz="1100" dirty="0"/>
          </a:p>
        </p:txBody>
      </p:sp>
      <p:sp>
        <p:nvSpPr>
          <p:cNvPr id="21" name="Text 4"/>
          <p:cNvSpPr/>
          <p:nvPr/>
        </p:nvSpPr>
        <p:spPr>
          <a:xfrm>
            <a:off x="962025" y="2757488"/>
            <a:ext cx="5962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 listés : Andorre, Argentine, Canada, Guernesey, Île de Man, Féroé, Israël, Jersey, Nouvelle-Zélande, Suisse, Uruguay.</a:t>
            </a:r>
            <a:endParaRPr lang="en-US" sz="1100" dirty="0"/>
          </a:p>
        </p:txBody>
      </p:sp>
      <p:sp>
        <p:nvSpPr>
          <p:cNvPr id="22" name="Text 5"/>
          <p:cNvSpPr/>
          <p:nvPr/>
        </p:nvSpPr>
        <p:spPr>
          <a:xfrm>
            <a:off x="962025" y="3290888"/>
            <a:ext cx="459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Shield</a:t>
            </a:r>
            <a:endParaRPr lang="en-US" sz="1100" dirty="0"/>
          </a:p>
        </p:txBody>
      </p:sp>
      <p:sp>
        <p:nvSpPr>
          <p:cNvPr id="23" name="Text 6"/>
          <p:cNvSpPr/>
          <p:nvPr/>
        </p:nvSpPr>
        <p:spPr>
          <a:xfrm>
            <a:off x="962025" y="3557588"/>
            <a:ext cx="459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 que décrit dans le document : 12/07/2016 ; entrée 01/08/2016.</a:t>
            </a:r>
            <a:endParaRPr lang="en-US" sz="1100" dirty="0"/>
          </a:p>
        </p:txBody>
      </p:sp>
      <p:sp>
        <p:nvSpPr>
          <p:cNvPr id="24" name="Text 7"/>
          <p:cNvSpPr/>
          <p:nvPr/>
        </p:nvSpPr>
        <p:spPr>
          <a:xfrm>
            <a:off x="962025" y="3881438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Clauses Contractuelles Types (SCC)</a:t>
            </a:r>
            <a:endParaRPr lang="en-US" sz="1100" dirty="0"/>
          </a:p>
        </p:txBody>
      </p:sp>
      <p:sp>
        <p:nvSpPr>
          <p:cNvPr id="25" name="Text 8"/>
          <p:cNvSpPr/>
          <p:nvPr/>
        </p:nvSpPr>
        <p:spPr>
          <a:xfrm>
            <a:off x="962025" y="4224338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Binding Corporate Rules (BCR)</a:t>
            </a:r>
            <a:endParaRPr lang="en-US" sz="1100" dirty="0"/>
          </a:p>
        </p:txBody>
      </p:sp>
      <p:sp>
        <p:nvSpPr>
          <p:cNvPr id="26" name="Text 9"/>
          <p:cNvSpPr/>
          <p:nvPr/>
        </p:nvSpPr>
        <p:spPr>
          <a:xfrm>
            <a:off x="962025" y="4567238"/>
            <a:ext cx="509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de conduite/certification approuvé</a:t>
            </a:r>
            <a:r>
              <a:rPr lang="en-US" sz="1100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engagements contraignants</a:t>
            </a:r>
            <a:endParaRPr lang="en-US" sz="1100" dirty="0"/>
          </a:p>
        </p:txBody>
      </p:sp>
      <p:sp>
        <p:nvSpPr>
          <p:cNvPr id="27" name="Text 10"/>
          <p:cNvSpPr/>
          <p:nvPr/>
        </p:nvSpPr>
        <p:spPr>
          <a:xfrm>
            <a:off x="7705725" y="1776413"/>
            <a:ext cx="18440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Notion de transfert</a:t>
            </a:r>
            <a:endParaRPr lang="en-US" sz="1400" dirty="0"/>
          </a:p>
        </p:txBody>
      </p:sp>
      <p:sp>
        <p:nvSpPr>
          <p:cNvPr id="28" name="Text 11"/>
          <p:cNvSpPr/>
          <p:nvPr/>
        </p:nvSpPr>
        <p:spPr>
          <a:xfrm>
            <a:off x="7629525" y="2109788"/>
            <a:ext cx="3790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Inclut accès à distance, copie, déplacement via réseau/support.</a:t>
            </a:r>
            <a:endParaRPr lang="en-US" sz="1100" dirty="0"/>
          </a:p>
        </p:txBody>
      </p:sp>
      <p:sp>
        <p:nvSpPr>
          <p:cNvPr id="29" name="Text 12"/>
          <p:cNvSpPr/>
          <p:nvPr/>
        </p:nvSpPr>
        <p:spPr>
          <a:xfrm>
            <a:off x="7629525" y="3081338"/>
            <a:ext cx="4170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Dérogations (art. 49)</a:t>
            </a:r>
            <a:endParaRPr lang="en-US" sz="1400" dirty="0"/>
          </a:p>
        </p:txBody>
      </p:sp>
      <p:sp>
        <p:nvSpPr>
          <p:cNvPr id="30" name="Text 13"/>
          <p:cNvSpPr/>
          <p:nvPr/>
        </p:nvSpPr>
        <p:spPr>
          <a:xfrm>
            <a:off x="7743825" y="3462338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Consentement explicite</a:t>
            </a:r>
            <a:endParaRPr lang="en-US" sz="1100" dirty="0"/>
          </a:p>
        </p:txBody>
      </p:sp>
      <p:sp>
        <p:nvSpPr>
          <p:cNvPr id="31" name="Text 14"/>
          <p:cNvSpPr/>
          <p:nvPr/>
        </p:nvSpPr>
        <p:spPr>
          <a:xfrm>
            <a:off x="7743825" y="3805237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Nécessité (intérêts vitaux / intérêt public / droits en justice / registre public)</a:t>
            </a:r>
            <a:endParaRPr lang="en-US" sz="1100" dirty="0"/>
          </a:p>
        </p:txBody>
      </p:sp>
      <p:sp>
        <p:nvSpPr>
          <p:cNvPr id="32" name="Text 15"/>
          <p:cNvSpPr/>
          <p:nvPr/>
        </p:nvSpPr>
        <p:spPr>
          <a:xfrm>
            <a:off x="7743825" y="4376738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Exécution d’un contrat</a:t>
            </a:r>
            <a:endParaRPr lang="en-US" sz="11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2850" y="5162550"/>
            <a:ext cx="971550" cy="98107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9225" y="5162550"/>
            <a:ext cx="971550" cy="98107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5600" y="5162550"/>
            <a:ext cx="971550" cy="981075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571500" y="6434138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37" name="Text 17"/>
          <p:cNvSpPr/>
          <p:nvPr/>
        </p:nvSpPr>
        <p:spPr>
          <a:xfrm>
            <a:off x="11449050" y="6434138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1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F436ABD-B606-39F9-0798-D5533B3D03FA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1362075"/>
            <a:ext cx="11068050" cy="5238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943100"/>
            <a:ext cx="3886200" cy="400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81200"/>
            <a:ext cx="3810000" cy="1047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333750"/>
            <a:ext cx="247650" cy="2571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676650"/>
            <a:ext cx="247650" cy="2571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019550"/>
            <a:ext cx="247650" cy="2571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362450"/>
            <a:ext cx="247650" cy="2571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705350"/>
            <a:ext cx="247650" cy="2571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324100"/>
            <a:ext cx="3524250" cy="9429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4350" y="2324100"/>
            <a:ext cx="3524250" cy="9429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286125"/>
            <a:ext cx="3524250" cy="7334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350" y="3286125"/>
            <a:ext cx="3524250" cy="7334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038600"/>
            <a:ext cx="3524250" cy="9429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4350" y="4038600"/>
            <a:ext cx="3524250" cy="94297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5000625"/>
            <a:ext cx="3524250" cy="9429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4350" y="5000625"/>
            <a:ext cx="3524250" cy="94297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Piloter les sous-traitants par le contrat</a:t>
            </a:r>
            <a:endParaRPr lang="en-US" sz="2900" dirty="0"/>
          </a:p>
        </p:txBody>
      </p:sp>
      <p:sp>
        <p:nvSpPr>
          <p:cNvPr id="23" name="Text 1"/>
          <p:cNvSpPr/>
          <p:nvPr/>
        </p:nvSpPr>
        <p:spPr>
          <a:xfrm>
            <a:off x="1076325" y="1500188"/>
            <a:ext cx="59512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Choisir des sous-traitants présentant des garanties suffisantes</a:t>
            </a:r>
            <a:endParaRPr lang="en-US" sz="1400" dirty="0"/>
          </a:p>
        </p:txBody>
      </p:sp>
      <p:pic>
        <p:nvPicPr>
          <p:cNvPr id="24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1514475"/>
            <a:ext cx="257175" cy="219075"/>
          </a:xfrm>
          <a:prstGeom prst="rect">
            <a:avLst/>
          </a:prstGeom>
        </p:spPr>
      </p:pic>
      <p:sp>
        <p:nvSpPr>
          <p:cNvPr id="25" name="Text 2"/>
          <p:cNvSpPr/>
          <p:nvPr/>
        </p:nvSpPr>
        <p:spPr>
          <a:xfrm>
            <a:off x="1066800" y="2233613"/>
            <a:ext cx="18230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contrat précise :</a:t>
            </a:r>
            <a:endParaRPr lang="en-US" sz="1400" dirty="0"/>
          </a:p>
        </p:txBody>
      </p:sp>
      <p:pic>
        <p:nvPicPr>
          <p:cNvPr id="26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2247900"/>
            <a:ext cx="161925" cy="219075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3381375"/>
            <a:ext cx="133350" cy="161925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1152525" y="3350419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 et durée</a:t>
            </a:r>
            <a:endParaRPr lang="en-US" sz="1100" dirty="0"/>
          </a:p>
        </p:txBody>
      </p:sp>
      <p:pic>
        <p:nvPicPr>
          <p:cNvPr id="29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3724275"/>
            <a:ext cx="133350" cy="161925"/>
          </a:xfrm>
          <a:prstGeom prst="rect">
            <a:avLst/>
          </a:prstGeom>
        </p:spPr>
      </p:pic>
      <p:sp>
        <p:nvSpPr>
          <p:cNvPr id="30" name="Text 4"/>
          <p:cNvSpPr/>
          <p:nvPr/>
        </p:nvSpPr>
        <p:spPr>
          <a:xfrm>
            <a:off x="1152525" y="3693319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Nature et finalité</a:t>
            </a:r>
            <a:endParaRPr lang="en-US" sz="1100" dirty="0"/>
          </a:p>
        </p:txBody>
      </p:sp>
      <p:pic>
        <p:nvPicPr>
          <p:cNvPr id="31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4067175"/>
            <a:ext cx="133350" cy="161925"/>
          </a:xfrm>
          <a:prstGeom prst="rect">
            <a:avLst/>
          </a:prstGeom>
        </p:spPr>
      </p:pic>
      <p:sp>
        <p:nvSpPr>
          <p:cNvPr id="32" name="Text 5"/>
          <p:cNvSpPr/>
          <p:nvPr/>
        </p:nvSpPr>
        <p:spPr>
          <a:xfrm>
            <a:off x="1152525" y="4036219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de données</a:t>
            </a:r>
            <a:endParaRPr lang="en-US" sz="1100" dirty="0"/>
          </a:p>
        </p:txBody>
      </p:sp>
      <p:pic>
        <p:nvPicPr>
          <p:cNvPr id="33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4410075"/>
            <a:ext cx="133350" cy="161925"/>
          </a:xfrm>
          <a:prstGeom prst="rect">
            <a:avLst/>
          </a:prstGeom>
        </p:spPr>
      </p:pic>
      <p:sp>
        <p:nvSpPr>
          <p:cNvPr id="34" name="Text 6"/>
          <p:cNvSpPr/>
          <p:nvPr/>
        </p:nvSpPr>
        <p:spPr>
          <a:xfrm>
            <a:off x="1152525" y="4379119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Catégories de personnes</a:t>
            </a:r>
            <a:endParaRPr lang="en-US" sz="1100" dirty="0"/>
          </a:p>
        </p:txBody>
      </p:sp>
      <p:pic>
        <p:nvPicPr>
          <p:cNvPr id="35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4752975"/>
            <a:ext cx="133350" cy="161925"/>
          </a:xfrm>
          <a:prstGeom prst="rect">
            <a:avLst/>
          </a:prstGeom>
        </p:spPr>
      </p:pic>
      <p:sp>
        <p:nvSpPr>
          <p:cNvPr id="36" name="Text 7"/>
          <p:cNvSpPr/>
          <p:nvPr/>
        </p:nvSpPr>
        <p:spPr>
          <a:xfrm>
            <a:off x="1152525" y="4741069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Obligations et droits du responsable</a:t>
            </a:r>
            <a:endParaRPr lang="en-US" sz="1100" dirty="0"/>
          </a:p>
        </p:txBody>
      </p:sp>
      <p:pic>
        <p:nvPicPr>
          <p:cNvPr id="37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00575" y="1971675"/>
            <a:ext cx="7029450" cy="295275"/>
          </a:xfrm>
          <a:prstGeom prst="rect">
            <a:avLst/>
          </a:prstGeom>
        </p:spPr>
      </p:pic>
      <p:sp>
        <p:nvSpPr>
          <p:cNvPr id="38" name="Text 8"/>
          <p:cNvSpPr/>
          <p:nvPr/>
        </p:nvSpPr>
        <p:spPr>
          <a:xfrm>
            <a:off x="4686300" y="1985963"/>
            <a:ext cx="7627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Obligations clés du sous-traitant</a:t>
            </a:r>
            <a:endParaRPr lang="en-US" sz="1400" dirty="0"/>
          </a:p>
        </p:txBody>
      </p:sp>
      <p:pic>
        <p:nvPicPr>
          <p:cNvPr id="39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4400" y="2533650"/>
            <a:ext cx="133350" cy="161925"/>
          </a:xfrm>
          <a:prstGeom prst="rect">
            <a:avLst/>
          </a:prstGeom>
        </p:spPr>
      </p:pic>
      <p:sp>
        <p:nvSpPr>
          <p:cNvPr id="40" name="Text 9"/>
          <p:cNvSpPr/>
          <p:nvPr/>
        </p:nvSpPr>
        <p:spPr>
          <a:xfrm>
            <a:off x="4962525" y="2490788"/>
            <a:ext cx="2257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Agir sur instruction documentée</a:t>
            </a:r>
            <a:endParaRPr lang="en-US" sz="1100" dirty="0"/>
          </a:p>
        </p:txBody>
      </p:sp>
      <p:pic>
        <p:nvPicPr>
          <p:cNvPr id="4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2533650"/>
            <a:ext cx="133350" cy="161925"/>
          </a:xfrm>
          <a:prstGeom prst="rect">
            <a:avLst/>
          </a:prstGeom>
        </p:spPr>
      </p:pic>
      <p:sp>
        <p:nvSpPr>
          <p:cNvPr id="42" name="Text 10"/>
          <p:cNvSpPr/>
          <p:nvPr/>
        </p:nvSpPr>
        <p:spPr>
          <a:xfrm>
            <a:off x="8524875" y="2490788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Autorisation écrite préalable pour sous-traitants ultérieurs</a:t>
            </a:r>
            <a:endParaRPr lang="en-US" sz="1100" dirty="0"/>
          </a:p>
        </p:txBody>
      </p:sp>
      <p:pic>
        <p:nvPicPr>
          <p:cNvPr id="43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4400" y="3495675"/>
            <a:ext cx="133350" cy="161925"/>
          </a:xfrm>
          <a:prstGeom prst="rect">
            <a:avLst/>
          </a:prstGeom>
        </p:spPr>
      </p:pic>
      <p:sp>
        <p:nvSpPr>
          <p:cNvPr id="44" name="Text 11"/>
          <p:cNvSpPr/>
          <p:nvPr/>
        </p:nvSpPr>
        <p:spPr>
          <a:xfrm>
            <a:off x="4962525" y="3454003"/>
            <a:ext cx="272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Fournir les infos nécessaires aux audits</a:t>
            </a:r>
            <a:endParaRPr lang="en-US" sz="1100" dirty="0"/>
          </a:p>
        </p:txBody>
      </p:sp>
      <p:pic>
        <p:nvPicPr>
          <p:cNvPr id="45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3495675"/>
            <a:ext cx="133350" cy="161925"/>
          </a:xfrm>
          <a:prstGeom prst="rect">
            <a:avLst/>
          </a:prstGeom>
        </p:spPr>
      </p:pic>
      <p:sp>
        <p:nvSpPr>
          <p:cNvPr id="46" name="Text 12"/>
          <p:cNvSpPr/>
          <p:nvPr/>
        </p:nvSpPr>
        <p:spPr>
          <a:xfrm>
            <a:off x="8524875" y="3454003"/>
            <a:ext cx="2800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Garantir la confidentialité des employés</a:t>
            </a:r>
            <a:endParaRPr lang="en-US" sz="1100" dirty="0"/>
          </a:p>
        </p:txBody>
      </p:sp>
      <p:pic>
        <p:nvPicPr>
          <p:cNvPr id="47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4400" y="4248150"/>
            <a:ext cx="133350" cy="161925"/>
          </a:xfrm>
          <a:prstGeom prst="rect">
            <a:avLst/>
          </a:prstGeom>
        </p:spPr>
      </p:pic>
      <p:sp>
        <p:nvSpPr>
          <p:cNvPr id="48" name="Text 13"/>
          <p:cNvSpPr/>
          <p:nvPr/>
        </p:nvSpPr>
        <p:spPr>
          <a:xfrm>
            <a:off x="4962525" y="4207669"/>
            <a:ext cx="2562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Notifier les violations sans délai indu</a:t>
            </a:r>
            <a:endParaRPr lang="en-US" sz="1100" dirty="0"/>
          </a:p>
        </p:txBody>
      </p:sp>
      <p:pic>
        <p:nvPicPr>
          <p:cNvPr id="49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4248150"/>
            <a:ext cx="133350" cy="161925"/>
          </a:xfrm>
          <a:prstGeom prst="rect">
            <a:avLst/>
          </a:prstGeom>
        </p:spPr>
      </p:pic>
      <p:sp>
        <p:nvSpPr>
          <p:cNvPr id="50" name="Text 14"/>
          <p:cNvSpPr/>
          <p:nvPr/>
        </p:nvSpPr>
        <p:spPr>
          <a:xfrm>
            <a:off x="8524875" y="4207669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Mettre en œuvre les mesures de sécurité appropriées</a:t>
            </a:r>
            <a:endParaRPr lang="en-US" sz="1100" dirty="0"/>
          </a:p>
        </p:txBody>
      </p:sp>
      <p:pic>
        <p:nvPicPr>
          <p:cNvPr id="51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24400" y="5210175"/>
            <a:ext cx="133350" cy="161925"/>
          </a:xfrm>
          <a:prstGeom prst="rect">
            <a:avLst/>
          </a:prstGeom>
        </p:spPr>
      </p:pic>
      <p:sp>
        <p:nvSpPr>
          <p:cNvPr id="52" name="Text 15"/>
          <p:cNvSpPr/>
          <p:nvPr/>
        </p:nvSpPr>
        <p:spPr>
          <a:xfrm>
            <a:off x="4962525" y="5170884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 de prestation : supprimer/renvoyer les données</a:t>
            </a:r>
            <a:endParaRPr lang="en-US" sz="1100" dirty="0"/>
          </a:p>
        </p:txBody>
      </p:sp>
      <p:pic>
        <p:nvPicPr>
          <p:cNvPr id="53" name="Image 3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0" y="5210175"/>
            <a:ext cx="133350" cy="161925"/>
          </a:xfrm>
          <a:prstGeom prst="rect">
            <a:avLst/>
          </a:prstGeom>
        </p:spPr>
      </p:pic>
      <p:sp>
        <p:nvSpPr>
          <p:cNvPr id="54" name="Text 16"/>
          <p:cNvSpPr/>
          <p:nvPr/>
        </p:nvSpPr>
        <p:spPr>
          <a:xfrm>
            <a:off x="8524875" y="5170884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Assistance (droits, violations, AIPD) &amp; alerte si instruction illicite</a:t>
            </a:r>
            <a:endParaRPr lang="en-US" sz="1100" dirty="0"/>
          </a:p>
        </p:txBody>
      </p:sp>
      <p:sp>
        <p:nvSpPr>
          <p:cNvPr id="55" name="Text 17"/>
          <p:cNvSpPr/>
          <p:nvPr/>
        </p:nvSpPr>
        <p:spPr>
          <a:xfrm>
            <a:off x="571500" y="6057900"/>
            <a:ext cx="326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6" name="Text 18"/>
          <p:cNvSpPr/>
          <p:nvPr/>
        </p:nvSpPr>
        <p:spPr>
          <a:xfrm>
            <a:off x="11430000" y="605790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1100" dirty="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827993C-032A-C3C2-1297-9751B76DAB1F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2096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447800"/>
            <a:ext cx="7162800" cy="4686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714500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314700"/>
            <a:ext cx="3248025" cy="15335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475" y="3314700"/>
            <a:ext cx="3248025" cy="15335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048250"/>
            <a:ext cx="6629400" cy="809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1447800"/>
            <a:ext cx="3886200" cy="1619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3505200"/>
            <a:ext cx="388620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2900" y="3695700"/>
            <a:ext cx="400050" cy="4095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324350"/>
            <a:ext cx="38862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2900" y="4514850"/>
            <a:ext cx="400050" cy="40957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5143500"/>
            <a:ext cx="388620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62900" y="5334000"/>
            <a:ext cx="400050" cy="4095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Mesures de sécurité : approche par les risques</a:t>
            </a:r>
            <a:endParaRPr lang="en-US" sz="2900" dirty="0"/>
          </a:p>
        </p:txBody>
      </p:sp>
      <p:pic>
        <p:nvPicPr>
          <p:cNvPr id="19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" y="1809750"/>
            <a:ext cx="209550" cy="219075"/>
          </a:xfrm>
          <a:prstGeom prst="rect">
            <a:avLst/>
          </a:prstGeom>
        </p:spPr>
      </p:pic>
      <p:sp>
        <p:nvSpPr>
          <p:cNvPr id="20" name="Text 1"/>
          <p:cNvSpPr/>
          <p:nvPr/>
        </p:nvSpPr>
        <p:spPr>
          <a:xfrm>
            <a:off x="1304925" y="1766888"/>
            <a:ext cx="34680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Obligation de sécurité (Art. 32)</a:t>
            </a:r>
            <a:endParaRPr lang="en-US" sz="1700" dirty="0"/>
          </a:p>
        </p:txBody>
      </p:sp>
      <p:sp>
        <p:nvSpPr>
          <p:cNvPr id="21" name="Text 2"/>
          <p:cNvSpPr/>
          <p:nvPr/>
        </p:nvSpPr>
        <p:spPr>
          <a:xfrm>
            <a:off x="809625" y="2262188"/>
            <a:ext cx="66103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responsable de traitement et le sous-traitant doivent mettre en œuvre les mesures techniques et organisationnelles appropriées pour garantir un niveau de sécurité adapté au risque.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971550" y="3488531"/>
            <a:ext cx="3195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Objectifs clés</a:t>
            </a:r>
            <a:endParaRPr lang="en-US" sz="1100" dirty="0"/>
          </a:p>
        </p:txBody>
      </p:sp>
      <p:sp>
        <p:nvSpPr>
          <p:cNvPr id="23" name="Text 4"/>
          <p:cNvSpPr/>
          <p:nvPr/>
        </p:nvSpPr>
        <p:spPr>
          <a:xfrm>
            <a:off x="1152525" y="3802856"/>
            <a:ext cx="866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Confidentialité</a:t>
            </a:r>
            <a:endParaRPr lang="en-US" sz="900" dirty="0"/>
          </a:p>
        </p:txBody>
      </p:sp>
      <p:pic>
        <p:nvPicPr>
          <p:cNvPr id="24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" y="3819525"/>
            <a:ext cx="123825" cy="142875"/>
          </a:xfrm>
          <a:prstGeom prst="rect">
            <a:avLst/>
          </a:prstGeom>
        </p:spPr>
      </p:pic>
      <p:sp>
        <p:nvSpPr>
          <p:cNvPr id="25" name="Text 5"/>
          <p:cNvSpPr/>
          <p:nvPr/>
        </p:nvSpPr>
        <p:spPr>
          <a:xfrm>
            <a:off x="1152525" y="4031456"/>
            <a:ext cx="4953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Intégrité</a:t>
            </a:r>
            <a:endParaRPr lang="en-US" sz="900" dirty="0"/>
          </a:p>
        </p:txBody>
      </p:sp>
      <p:pic>
        <p:nvPicPr>
          <p:cNvPr id="26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" y="4048125"/>
            <a:ext cx="123825" cy="142875"/>
          </a:xfrm>
          <a:prstGeom prst="rect">
            <a:avLst/>
          </a:prstGeom>
        </p:spPr>
      </p:pic>
      <p:sp>
        <p:nvSpPr>
          <p:cNvPr id="27" name="Text 6"/>
          <p:cNvSpPr/>
          <p:nvPr/>
        </p:nvSpPr>
        <p:spPr>
          <a:xfrm>
            <a:off x="1152525" y="4260056"/>
            <a:ext cx="7239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Disponibilité</a:t>
            </a:r>
            <a:endParaRPr lang="en-US" sz="900" dirty="0"/>
          </a:p>
        </p:txBody>
      </p:sp>
      <p:pic>
        <p:nvPicPr>
          <p:cNvPr id="28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" y="4276725"/>
            <a:ext cx="123825" cy="142875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1152525" y="4488656"/>
            <a:ext cx="619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Résilience</a:t>
            </a:r>
            <a:endParaRPr lang="en-US" sz="900" dirty="0"/>
          </a:p>
        </p:txBody>
      </p:sp>
      <p:pic>
        <p:nvPicPr>
          <p:cNvPr id="30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" y="4505325"/>
            <a:ext cx="123825" cy="142875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4352925" y="3488531"/>
            <a:ext cx="3195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Critères d'analyse</a:t>
            </a:r>
            <a:endParaRPr lang="en-US" sz="1100" dirty="0"/>
          </a:p>
        </p:txBody>
      </p:sp>
      <p:sp>
        <p:nvSpPr>
          <p:cNvPr id="32" name="Text 9"/>
          <p:cNvSpPr/>
          <p:nvPr/>
        </p:nvSpPr>
        <p:spPr>
          <a:xfrm>
            <a:off x="4572000" y="3802856"/>
            <a:ext cx="666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État de l’art</a:t>
            </a:r>
            <a:endParaRPr lang="en-US" sz="900" dirty="0"/>
          </a:p>
        </p:txBody>
      </p:sp>
      <p:pic>
        <p:nvPicPr>
          <p:cNvPr id="3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3400" y="3819525"/>
            <a:ext cx="161925" cy="142875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4543425" y="4031456"/>
            <a:ext cx="1504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Coûts de mise en œuvre</a:t>
            </a:r>
            <a:endParaRPr lang="en-US" sz="900" dirty="0"/>
          </a:p>
        </p:txBody>
      </p:sp>
      <p:pic>
        <p:nvPicPr>
          <p:cNvPr id="35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4048125"/>
            <a:ext cx="133350" cy="142875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4543425" y="4260056"/>
            <a:ext cx="1504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Vraisemblance du risque</a:t>
            </a:r>
            <a:endParaRPr lang="en-US" sz="900" dirty="0"/>
          </a:p>
        </p:txBody>
      </p:sp>
      <p:pic>
        <p:nvPicPr>
          <p:cNvPr id="37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3400" y="4276725"/>
            <a:ext cx="133350" cy="142875"/>
          </a:xfrm>
          <a:prstGeom prst="rect">
            <a:avLst/>
          </a:prstGeom>
        </p:spPr>
      </p:pic>
      <p:sp>
        <p:nvSpPr>
          <p:cNvPr id="38" name="Text 12"/>
          <p:cNvSpPr/>
          <p:nvPr/>
        </p:nvSpPr>
        <p:spPr>
          <a:xfrm>
            <a:off x="4543425" y="4488656"/>
            <a:ext cx="10382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Gravité du risque</a:t>
            </a:r>
            <a:endParaRPr lang="en-US" sz="900" dirty="0"/>
          </a:p>
        </p:txBody>
      </p:sp>
      <p:pic>
        <p:nvPicPr>
          <p:cNvPr id="39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3400" y="4505325"/>
            <a:ext cx="133350" cy="142875"/>
          </a:xfrm>
          <a:prstGeom prst="rect">
            <a:avLst/>
          </a:prstGeom>
        </p:spPr>
      </p:pic>
      <p:pic>
        <p:nvPicPr>
          <p:cNvPr id="40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2025" y="5248275"/>
            <a:ext cx="190500" cy="180975"/>
          </a:xfrm>
          <a:prstGeom prst="rect">
            <a:avLst/>
          </a:prstGeom>
        </p:spPr>
      </p:pic>
      <p:sp>
        <p:nvSpPr>
          <p:cNvPr id="41" name="Text 13"/>
          <p:cNvSpPr/>
          <p:nvPr/>
        </p:nvSpPr>
        <p:spPr>
          <a:xfrm>
            <a:off x="1257300" y="5222081"/>
            <a:ext cx="6000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Références CNIL :</a:t>
            </a: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guides et recommandations, dont la recommandation sur les mots de passe (CNIL 2017-012).</a:t>
            </a:r>
            <a:endParaRPr lang="en-US" sz="1100" dirty="0"/>
          </a:p>
        </p:txBody>
      </p:sp>
      <p:pic>
        <p:nvPicPr>
          <p:cNvPr id="42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9725" y="1762125"/>
            <a:ext cx="971550" cy="981075"/>
          </a:xfrm>
          <a:prstGeom prst="rect">
            <a:avLst/>
          </a:prstGeom>
        </p:spPr>
      </p:pic>
      <p:sp>
        <p:nvSpPr>
          <p:cNvPr id="43" name="Text 14"/>
          <p:cNvSpPr/>
          <p:nvPr/>
        </p:nvSpPr>
        <p:spPr>
          <a:xfrm>
            <a:off x="7848600" y="3167063"/>
            <a:ext cx="414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Catégories de mesures</a:t>
            </a:r>
            <a:endParaRPr lang="en-US" sz="1100" dirty="0"/>
          </a:p>
        </p:txBody>
      </p:sp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67675" y="3810000"/>
            <a:ext cx="190500" cy="180975"/>
          </a:xfrm>
          <a:prstGeom prst="rect">
            <a:avLst/>
          </a:prstGeom>
        </p:spPr>
      </p:pic>
      <p:sp>
        <p:nvSpPr>
          <p:cNvPr id="45" name="Text 15"/>
          <p:cNvSpPr/>
          <p:nvPr/>
        </p:nvSpPr>
        <p:spPr>
          <a:xfrm>
            <a:off x="8505825" y="3709988"/>
            <a:ext cx="135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Chiffrement &amp;
pseudonymisation</a:t>
            </a:r>
            <a:endParaRPr lang="en-US" sz="1100" dirty="0"/>
          </a:p>
        </p:txBody>
      </p:sp>
      <p:pic>
        <p:nvPicPr>
          <p:cNvPr id="46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77200" y="4629150"/>
            <a:ext cx="171450" cy="180975"/>
          </a:xfrm>
          <a:prstGeom prst="rect">
            <a:avLst/>
          </a:prstGeom>
        </p:spPr>
      </p:pic>
      <p:sp>
        <p:nvSpPr>
          <p:cNvPr id="47" name="Text 16"/>
          <p:cNvSpPr/>
          <p:nvPr/>
        </p:nvSpPr>
        <p:spPr>
          <a:xfrm>
            <a:off x="8505825" y="4624388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Restauration de la disponibilité/accès</a:t>
            </a:r>
            <a:endParaRPr lang="en-US" sz="1100" dirty="0"/>
          </a:p>
        </p:txBody>
      </p:sp>
      <p:pic>
        <p:nvPicPr>
          <p:cNvPr id="48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96250" y="5448300"/>
            <a:ext cx="133350" cy="180975"/>
          </a:xfrm>
          <a:prstGeom prst="rect">
            <a:avLst/>
          </a:prstGeom>
        </p:spPr>
      </p:pic>
      <p:sp>
        <p:nvSpPr>
          <p:cNvPr id="49" name="Text 17"/>
          <p:cNvSpPr/>
          <p:nvPr/>
        </p:nvSpPr>
        <p:spPr>
          <a:xfrm>
            <a:off x="8505825" y="5443538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&amp; évaluations réguliers</a:t>
            </a:r>
            <a:endParaRPr lang="en-US" sz="1100" dirty="0"/>
          </a:p>
        </p:txBody>
      </p:sp>
      <p:sp>
        <p:nvSpPr>
          <p:cNvPr id="50" name="Text 18"/>
          <p:cNvSpPr/>
          <p:nvPr/>
        </p:nvSpPr>
        <p:spPr>
          <a:xfrm>
            <a:off x="571500" y="6241256"/>
            <a:ext cx="3310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1" name="Text 19"/>
          <p:cNvSpPr/>
          <p:nvPr/>
        </p:nvSpPr>
        <p:spPr>
          <a:xfrm>
            <a:off x="11458575" y="6241256"/>
            <a:ext cx="178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1100" dirty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43F992C-F8CE-3116-6F62-E67031748898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00825"/>
            <a:ext cx="12192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171575"/>
            <a:ext cx="781050" cy="666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7581900" cy="4705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85900"/>
            <a:ext cx="400050" cy="409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3009900"/>
            <a:ext cx="38100" cy="409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2628900"/>
            <a:ext cx="6858000" cy="7334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3848100"/>
            <a:ext cx="38100" cy="409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3467100"/>
            <a:ext cx="6858000" cy="7334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4686300"/>
            <a:ext cx="38100" cy="409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4305300"/>
            <a:ext cx="6858000" cy="7334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181600"/>
            <a:ext cx="323850" cy="3333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5143500"/>
            <a:ext cx="6858000" cy="7334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333500"/>
            <a:ext cx="3505200" cy="1333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3067050"/>
            <a:ext cx="35052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0" y="3219450"/>
            <a:ext cx="400050" cy="40957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3810000"/>
            <a:ext cx="350520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5800" y="3962400"/>
            <a:ext cx="400050" cy="4095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4552950"/>
            <a:ext cx="3505200" cy="723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4705350"/>
            <a:ext cx="400050" cy="40957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571500"/>
            <a:ext cx="121539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&amp; communication en cas de violation (art. 33–34)</a:t>
            </a:r>
            <a:endParaRPr lang="en-US" sz="2900" dirty="0"/>
          </a:p>
        </p:txBody>
      </p:sp>
      <p:pic>
        <p:nvPicPr>
          <p:cNvPr id="24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" y="1581150"/>
            <a:ext cx="209550" cy="219075"/>
          </a:xfrm>
          <a:prstGeom prst="rect">
            <a:avLst/>
          </a:prstGeom>
        </p:spPr>
      </p:pic>
      <p:sp>
        <p:nvSpPr>
          <p:cNvPr id="25" name="Text 1"/>
          <p:cNvSpPr/>
          <p:nvPr/>
        </p:nvSpPr>
        <p:spPr>
          <a:xfrm>
            <a:off x="1190625" y="1557338"/>
            <a:ext cx="33004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Processus de gestion des violations</a:t>
            </a:r>
            <a:endParaRPr lang="en-US" sz="1400" dirty="0"/>
          </a:p>
        </p:txBody>
      </p:sp>
      <p:sp>
        <p:nvSpPr>
          <p:cNvPr id="26" name="Text 2"/>
          <p:cNvSpPr/>
          <p:nvPr/>
        </p:nvSpPr>
        <p:spPr>
          <a:xfrm>
            <a:off x="695325" y="2033588"/>
            <a:ext cx="7258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violation de sécurité entraînant destruction, perte, altération, divulgation ou accès non autorisé (Art. 4).</a:t>
            </a:r>
            <a:endParaRPr lang="en-US" sz="1100" dirty="0"/>
          </a:p>
        </p:txBody>
      </p:sp>
      <p:pic>
        <p:nvPicPr>
          <p:cNvPr id="27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2667000"/>
            <a:ext cx="323850" cy="333375"/>
          </a:xfrm>
          <a:prstGeom prst="rect">
            <a:avLst/>
          </a:prstGeom>
        </p:spPr>
      </p:pic>
      <p:sp>
        <p:nvSpPr>
          <p:cNvPr id="28" name="Text 3"/>
          <p:cNvSpPr/>
          <p:nvPr/>
        </p:nvSpPr>
        <p:spPr>
          <a:xfrm>
            <a:off x="695325" y="268128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4"/>
          <p:cNvSpPr/>
          <p:nvPr/>
        </p:nvSpPr>
        <p:spPr>
          <a:xfrm>
            <a:off x="1238250" y="2767013"/>
            <a:ext cx="725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Détection &amp; Qualification</a:t>
            </a:r>
            <a:endParaRPr lang="en-US" sz="1100" dirty="0"/>
          </a:p>
        </p:txBody>
      </p:sp>
      <p:sp>
        <p:nvSpPr>
          <p:cNvPr id="30" name="Text 5"/>
          <p:cNvSpPr/>
          <p:nvPr/>
        </p:nvSpPr>
        <p:spPr>
          <a:xfrm>
            <a:off x="1238250" y="3033713"/>
            <a:ext cx="659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sous-traitant notifie le responsable sans délai indu (Art. 33.2).</a:t>
            </a:r>
            <a:endParaRPr lang="en-US" sz="900" dirty="0"/>
          </a:p>
        </p:txBody>
      </p:sp>
      <p:pic>
        <p:nvPicPr>
          <p:cNvPr id="31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3505200"/>
            <a:ext cx="323850" cy="333375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695325" y="351948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7"/>
          <p:cNvSpPr/>
          <p:nvPr/>
        </p:nvSpPr>
        <p:spPr>
          <a:xfrm>
            <a:off x="1238250" y="3605213"/>
            <a:ext cx="725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à l'Autorité (≤ 72h)</a:t>
            </a:r>
            <a:endParaRPr lang="en-US" sz="1100" dirty="0"/>
          </a:p>
        </p:txBody>
      </p:sp>
      <p:sp>
        <p:nvSpPr>
          <p:cNvPr id="34" name="Text 8"/>
          <p:cNvSpPr/>
          <p:nvPr/>
        </p:nvSpPr>
        <p:spPr>
          <a:xfrm>
            <a:off x="1238250" y="3871913"/>
            <a:ext cx="659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sans délai indu (Art. 33.1). Contenu : nature, DPO, conséquences, mesures.</a:t>
            </a:r>
            <a:endParaRPr lang="en-US" sz="900" dirty="0"/>
          </a:p>
        </p:txBody>
      </p:sp>
      <p:pic>
        <p:nvPicPr>
          <p:cNvPr id="35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343400"/>
            <a:ext cx="323850" cy="333375"/>
          </a:xfrm>
          <a:prstGeom prst="rect">
            <a:avLst/>
          </a:prstGeom>
        </p:spPr>
      </p:pic>
      <p:sp>
        <p:nvSpPr>
          <p:cNvPr id="36" name="Text 9"/>
          <p:cNvSpPr/>
          <p:nvPr/>
        </p:nvSpPr>
        <p:spPr>
          <a:xfrm>
            <a:off x="695325" y="435768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475AF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10"/>
          <p:cNvSpPr/>
          <p:nvPr/>
        </p:nvSpPr>
        <p:spPr>
          <a:xfrm>
            <a:off x="1238250" y="4443413"/>
            <a:ext cx="725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aux personnes</a:t>
            </a:r>
            <a:endParaRPr lang="en-US" sz="1100" dirty="0"/>
          </a:p>
        </p:txBody>
      </p:sp>
      <p:sp>
        <p:nvSpPr>
          <p:cNvPr id="38" name="Text 11"/>
          <p:cNvSpPr/>
          <p:nvPr/>
        </p:nvSpPr>
        <p:spPr>
          <a:xfrm>
            <a:off x="1238250" y="4710113"/>
            <a:ext cx="659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risque élevé, en termes clairs et simples (Art. 34).</a:t>
            </a:r>
            <a:endParaRPr lang="en-US" sz="900" dirty="0"/>
          </a:p>
        </p:txBody>
      </p:sp>
      <p:pic>
        <p:nvPicPr>
          <p:cNvPr id="39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5267325"/>
            <a:ext cx="133350" cy="161925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1238250" y="5281613"/>
            <a:ext cx="725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41" name="Text 13"/>
          <p:cNvSpPr/>
          <p:nvPr/>
        </p:nvSpPr>
        <p:spPr>
          <a:xfrm>
            <a:off x="1238250" y="5548313"/>
            <a:ext cx="659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 des violations : faits, effets, mesures correctives (Art. 33.5).</a:t>
            </a:r>
            <a:endParaRPr lang="en-US" sz="900" dirty="0"/>
          </a:p>
        </p:txBody>
      </p:sp>
      <p:pic>
        <p:nvPicPr>
          <p:cNvPr id="42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5800" y="1524000"/>
            <a:ext cx="171450" cy="180975"/>
          </a:xfrm>
          <a:prstGeom prst="rect">
            <a:avLst/>
          </a:prstGeom>
        </p:spPr>
      </p:pic>
      <p:sp>
        <p:nvSpPr>
          <p:cNvPr id="43" name="Text 14"/>
          <p:cNvSpPr/>
          <p:nvPr/>
        </p:nvSpPr>
        <p:spPr>
          <a:xfrm>
            <a:off x="8582025" y="1500188"/>
            <a:ext cx="1948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 à la notification</a:t>
            </a:r>
            <a:endParaRPr lang="en-US" sz="1100" dirty="0"/>
          </a:p>
        </p:txBody>
      </p:sp>
      <p:sp>
        <p:nvSpPr>
          <p:cNvPr id="44" name="Text 15"/>
          <p:cNvSpPr/>
          <p:nvPr/>
        </p:nvSpPr>
        <p:spPr>
          <a:xfrm>
            <a:off x="8315325" y="1843088"/>
            <a:ext cx="318135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notification à l'autorité n'est pas requise si la violation n'est pas susceptible d'engendrer un risque pour les droits et libertés des personnes.</a:t>
            </a:r>
            <a:endParaRPr lang="en-US" sz="900" dirty="0"/>
          </a:p>
        </p:txBody>
      </p:sp>
      <p:sp>
        <p:nvSpPr>
          <p:cNvPr id="45" name="Text 16"/>
          <p:cNvSpPr/>
          <p:nvPr/>
        </p:nvSpPr>
        <p:spPr>
          <a:xfrm>
            <a:off x="8229600" y="2731294"/>
            <a:ext cx="3729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Exemples de cas réels</a:t>
            </a:r>
            <a:endParaRPr lang="en-US" sz="1100" dirty="0"/>
          </a:p>
        </p:txBody>
      </p:sp>
      <p:pic>
        <p:nvPicPr>
          <p:cNvPr id="46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01050" y="3333750"/>
            <a:ext cx="209550" cy="180975"/>
          </a:xfrm>
          <a:prstGeom prst="rect">
            <a:avLst/>
          </a:prstGeom>
        </p:spPr>
      </p:pic>
      <p:sp>
        <p:nvSpPr>
          <p:cNvPr id="47" name="Text 17"/>
          <p:cNvSpPr/>
          <p:nvPr/>
        </p:nvSpPr>
        <p:spPr>
          <a:xfrm>
            <a:off x="8810625" y="3255169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Orange (2014)</a:t>
            </a:r>
            <a:endParaRPr lang="en-US" sz="900" dirty="0"/>
          </a:p>
        </p:txBody>
      </p:sp>
      <p:sp>
        <p:nvSpPr>
          <p:cNvPr id="48" name="Text 18"/>
          <p:cNvSpPr/>
          <p:nvPr/>
        </p:nvSpPr>
        <p:spPr>
          <a:xfrm>
            <a:off x="8810625" y="3445669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Faille de sécurité massive</a:t>
            </a:r>
            <a:endParaRPr lang="en-US" sz="800" dirty="0"/>
          </a:p>
        </p:txBody>
      </p:sp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10575" y="4076700"/>
            <a:ext cx="190500" cy="180975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8810625" y="3998119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Cdiscount (2016)</a:t>
            </a:r>
            <a:endParaRPr lang="en-US" sz="900" dirty="0"/>
          </a:p>
        </p:txBody>
      </p:sp>
      <p:sp>
        <p:nvSpPr>
          <p:cNvPr id="51" name="Text 20"/>
          <p:cNvSpPr/>
          <p:nvPr/>
        </p:nvSpPr>
        <p:spPr>
          <a:xfrm>
            <a:off x="8810625" y="4188619"/>
            <a:ext cx="1857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bancaires non sécurisées</a:t>
            </a:r>
            <a:endParaRPr lang="en-US" sz="800" dirty="0"/>
          </a:p>
        </p:txBody>
      </p:sp>
      <p:pic>
        <p:nvPicPr>
          <p:cNvPr id="52" name="Image 2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20100" y="4819650"/>
            <a:ext cx="171450" cy="180975"/>
          </a:xfrm>
          <a:prstGeom prst="rect">
            <a:avLst/>
          </a:prstGeom>
        </p:spPr>
      </p:pic>
      <p:sp>
        <p:nvSpPr>
          <p:cNvPr id="53" name="Text 21"/>
          <p:cNvSpPr/>
          <p:nvPr/>
        </p:nvSpPr>
        <p:spPr>
          <a:xfrm>
            <a:off x="8810625" y="4741069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Hertz (2017)</a:t>
            </a:r>
            <a:endParaRPr lang="en-US" sz="900" dirty="0"/>
          </a:p>
        </p:txBody>
      </p:sp>
      <p:sp>
        <p:nvSpPr>
          <p:cNvPr id="54" name="Text 22"/>
          <p:cNvSpPr/>
          <p:nvPr/>
        </p:nvSpPr>
        <p:spPr>
          <a:xfrm>
            <a:off x="8810625" y="4931569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Fuite de données clients</a:t>
            </a:r>
            <a:endParaRPr lang="en-US" sz="800" dirty="0"/>
          </a:p>
        </p:txBody>
      </p:sp>
      <p:sp>
        <p:nvSpPr>
          <p:cNvPr id="55" name="Text 23"/>
          <p:cNvSpPr/>
          <p:nvPr/>
        </p:nvSpPr>
        <p:spPr>
          <a:xfrm>
            <a:off x="571500" y="6148388"/>
            <a:ext cx="3310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RGPD - Guide DPO &amp; Conformité</a:t>
            </a:r>
            <a:endParaRPr lang="en-US" sz="1100" dirty="0"/>
          </a:p>
        </p:txBody>
      </p:sp>
      <p:sp>
        <p:nvSpPr>
          <p:cNvPr id="56" name="Text 24"/>
          <p:cNvSpPr/>
          <p:nvPr/>
        </p:nvSpPr>
        <p:spPr>
          <a:xfrm>
            <a:off x="11449050" y="6148388"/>
            <a:ext cx="188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A1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1100" dirty="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387FCC80-24EE-FE08-22B1-A193CA14D987}"/>
              </a:ext>
            </a:extLst>
          </p:cNvPr>
          <p:cNvSpPr txBox="1"/>
          <p:nvPr/>
        </p:nvSpPr>
        <p:spPr>
          <a:xfrm>
            <a:off x="11534775" y="114594"/>
            <a:ext cx="480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75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1019175"/>
            <a:ext cx="933450" cy="933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275" y="3952875"/>
            <a:ext cx="1543050" cy="1543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524875" y="2047875"/>
            <a:ext cx="628650" cy="628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8475" y="536257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3975" y="6276975"/>
            <a:ext cx="1924050" cy="57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933950" y="2588419"/>
            <a:ext cx="255651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92F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</a:t>
            </a:r>
            <a:endParaRPr lang="en-US" sz="6400" dirty="0"/>
          </a:p>
        </p:txBody>
      </p:sp>
      <p:sp>
        <p:nvSpPr>
          <p:cNvPr id="10" name="Text 1"/>
          <p:cNvSpPr/>
          <p:nvPr/>
        </p:nvSpPr>
        <p:spPr>
          <a:xfrm>
            <a:off x="2605088" y="3960019"/>
            <a:ext cx="6981825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conformité RGPD est continue : soyez en mesure de démontrer l’accountability.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3" ma:contentTypeDescription="Crée un document." ma:contentTypeScope="" ma:versionID="2580c466297af9b39aa395048ed8253c">
  <xsd:schema xmlns:xsd="http://www.w3.org/2001/XMLSchema" xmlns:xs="http://www.w3.org/2001/XMLSchema" xmlns:p="http://schemas.microsoft.com/office/2006/metadata/properties" xmlns:ns2="fb67cf06-de83-4dde-bdc8-c9d2555ecf99" targetNamespace="http://schemas.microsoft.com/office/2006/metadata/properties" ma:root="true" ma:fieldsID="089b2179185e17dd52a7f2ba7bc1773c" ns2:_="">
    <xsd:import namespace="fb67cf06-de83-4dde-bdc8-c9d2555ecf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3BCEB0-92A9-4AB2-8ADA-0AC257DBDF74}"/>
</file>

<file path=customXml/itemProps2.xml><?xml version="1.0" encoding="utf-8"?>
<ds:datastoreItem xmlns:ds="http://schemas.openxmlformats.org/officeDocument/2006/customXml" ds:itemID="{D3712322-66F6-42DF-82D8-AD0C8620F71D}"/>
</file>

<file path=customXml/itemProps3.xml><?xml version="1.0" encoding="utf-8"?>
<ds:datastoreItem xmlns:ds="http://schemas.openxmlformats.org/officeDocument/2006/customXml" ds:itemID="{C4541A47-4929-4910-92BF-E6FFB5BACC18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3398</Words>
  <Application>Microsoft Office PowerPoint</Application>
  <PresentationFormat>Grand écran</PresentationFormat>
  <Paragraphs>614</Paragraphs>
  <Slides>34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7" baseType="lpstr">
      <vt:lpstr>Arial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DECABOOTER HOLLEMAN Antoine</cp:lastModifiedBy>
  <cp:revision>3</cp:revision>
  <dcterms:created xsi:type="dcterms:W3CDTF">2026-03-30T07:13:37Z</dcterms:created>
  <dcterms:modified xsi:type="dcterms:W3CDTF">2026-03-30T07:28:07Z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0x0101001558AE1F1B4EAE41AA5D45FA89F23B30</vt:lpwstr>
  </property>
</Properties>
</file>